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97e0f78-ec24-b98f-3503-8b05d258b276}">
          <p14:sldIdLst>
            <p14:sldId id="256"/>
            <p14:sldId id="257"/>
            <p14:sldId id="258"/>
          </p14:sldIdLst>
        </p14:section>
        <p14:section name="My SWOT" id="{9814ea63-b814-25c8-a684-24bb0440fcab}">
          <p14:sldIdLst>
            <p14:sldId id="259"/>
            <p14:sldId id="260"/>
            <p14:sldId id="261"/>
            <p14:sldId id="262"/>
            <p14:sldId id="263"/>
          </p14:sldIdLst>
        </p14:section>
        <p14:section name="Strategy and Action" id="{9d58b454-6485-6345-a889-6b3b2e70fcfd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purpose: an honest look at my strengths, weaknesses, opportunities and threats, ending in a concrete 90-day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strengths and weaknesses are internal, things I control. Opportunities and threats are external, things I respond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reasons, ending in the most important one: the analysis only matters if it becomes an action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summary. The next slides explain each box, then turn it into strategy and a 90-day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real example for each, e.g. the Reflica app and research benchmark for 'Builder' and 'Research mindset'.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during my project I explored brain-computer interfaces, quantum computing and 3D holograms before refocusing on the thesis. Curiosity is a strength; focus is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Eligibility for NET-JRF and GATE depends on the rules for each cycle; check before planning around them. The thesis is the lever that makes the others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Ratings are my own judgement. The two High threats are the ones my action plan targets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TOWS matrix: it turns the SWOT into actions. W + T is the most important box for me, so it is highlighted.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plan targets the two High threats directly: one priority and a weekly review. Success is measured by finished tasks, not plans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one priority for the next 90 days,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Personal SWOT Analysis  ·  Sundram Awasthi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731520" y="1417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PERSONAL DEVELOPMENT PRESENTATION</a:t>
            </a:r>
            <a:endParaRPr lang="en-US" sz="1300" dirty="0"/>
          </a:p>
        </p:txBody>
      </p:sp>
      <p:sp>
        <p:nvSpPr>
          <p:cNvPr id="3" name="text-2"/>
          <p:cNvSpPr txBox="1"/>
          <p:nvPr/>
        </p:nvSpPr>
        <p:spPr>
          <a:xfrm>
            <a:off x="731520" y="182880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Personal SWOT Analysis</a:t>
            </a:r>
            <a:endParaRPr lang="en-US" sz="4800" dirty="0"/>
          </a:p>
        </p:txBody>
      </p:sp>
      <p:sp>
        <p:nvSpPr>
          <p:cNvPr id="4" name="text-3"/>
          <p:cNvSpPr txBox="1"/>
          <p:nvPr/>
        </p:nvSpPr>
        <p:spPr>
          <a:xfrm>
            <a:off x="731520" y="3657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Understanding myself. Recognizing opportunities. Turning self-awareness into action.</a:t>
            </a:r>
            <a:endParaRPr lang="en-US" sz="1800" dirty="0"/>
          </a:p>
        </p:txBody>
      </p:sp>
      <p:sp>
        <p:nvSpPr>
          <p:cNvPr id="5" name="text-4"/>
          <p:cNvSpPr txBox="1"/>
          <p:nvPr/>
        </p:nvSpPr>
        <p:spPr>
          <a:xfrm>
            <a:off x="731520" y="49834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Sundram Awasthi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M.Tech CSE (2026–28)  ·  GLA University</a:t>
            </a:r>
            <a:endParaRPr lang="en-US" sz="1500" dirty="0"/>
          </a:p>
        </p:txBody>
      </p:sp>
      <p:sp>
        <p:nvSpPr>
          <p:cNvPr id="6" name="tile-5"/>
          <p:cNvSpPr/>
          <p:nvPr/>
        </p:nvSpPr>
        <p:spPr>
          <a:xfrm>
            <a:off x="7452360" y="1325880"/>
            <a:ext cx="2011680" cy="2011680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7452360" y="1554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6600" dirty="0"/>
          </a:p>
        </p:txBody>
      </p:sp>
      <p:sp>
        <p:nvSpPr>
          <p:cNvPr id="8" name="text-7"/>
          <p:cNvSpPr txBox="1"/>
          <p:nvPr/>
        </p:nvSpPr>
        <p:spPr>
          <a:xfrm>
            <a:off x="745236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STRENGTHS</a:t>
            </a:r>
            <a:endParaRPr lang="en-US" sz="1200" dirty="0"/>
          </a:p>
        </p:txBody>
      </p:sp>
      <p:sp>
        <p:nvSpPr>
          <p:cNvPr id="9" name="tile-8"/>
          <p:cNvSpPr/>
          <p:nvPr/>
        </p:nvSpPr>
        <p:spPr>
          <a:xfrm>
            <a:off x="9646920" y="1325880"/>
            <a:ext cx="2011680" cy="2011680"/>
          </a:xfrm>
          <a:prstGeom prst="roundRect">
            <a:avLst>
              <a:gd name="adj" fmla="val 6818"/>
            </a:avLst>
          </a:prstGeom>
          <a:solidFill>
            <a:schemeClr val="accent2"/>
          </a:solidFill>
          <a:ln/>
        </p:spPr>
      </p:sp>
      <p:sp>
        <p:nvSpPr>
          <p:cNvPr id="10" name="text-9"/>
          <p:cNvSpPr txBox="1"/>
          <p:nvPr/>
        </p:nvSpPr>
        <p:spPr>
          <a:xfrm>
            <a:off x="9646920" y="1554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6600" dirty="0"/>
          </a:p>
        </p:txBody>
      </p:sp>
      <p:sp>
        <p:nvSpPr>
          <p:cNvPr id="11" name="text-10"/>
          <p:cNvSpPr txBox="1"/>
          <p:nvPr/>
        </p:nvSpPr>
        <p:spPr>
          <a:xfrm>
            <a:off x="964692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WEAKNESSES</a:t>
            </a:r>
            <a:endParaRPr lang="en-US" sz="1200" dirty="0"/>
          </a:p>
        </p:txBody>
      </p:sp>
      <p:sp>
        <p:nvSpPr>
          <p:cNvPr id="12" name="tile-11"/>
          <p:cNvSpPr/>
          <p:nvPr/>
        </p:nvSpPr>
        <p:spPr>
          <a:xfrm>
            <a:off x="7452360" y="3520440"/>
            <a:ext cx="2011680" cy="2011680"/>
          </a:xfrm>
          <a:prstGeom prst="roundRect">
            <a:avLst>
              <a:gd name="adj" fmla="val 6818"/>
            </a:avLst>
          </a:prstGeom>
          <a:solidFill>
            <a:schemeClr val="accent3"/>
          </a:solidFill>
          <a:ln/>
        </p:spPr>
      </p:sp>
      <p:sp>
        <p:nvSpPr>
          <p:cNvPr id="13" name="text-12"/>
          <p:cNvSpPr txBox="1"/>
          <p:nvPr/>
        </p:nvSpPr>
        <p:spPr>
          <a:xfrm>
            <a:off x="7452360" y="3749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6600" dirty="0"/>
          </a:p>
        </p:txBody>
      </p:sp>
      <p:sp>
        <p:nvSpPr>
          <p:cNvPr id="14" name="text-13"/>
          <p:cNvSpPr txBox="1"/>
          <p:nvPr/>
        </p:nvSpPr>
        <p:spPr>
          <a:xfrm>
            <a:off x="745236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OPPORTUNITIES</a:t>
            </a:r>
            <a:endParaRPr lang="en-US" sz="1200" dirty="0"/>
          </a:p>
        </p:txBody>
      </p:sp>
      <p:sp>
        <p:nvSpPr>
          <p:cNvPr id="15" name="tile-14"/>
          <p:cNvSpPr/>
          <p:nvPr/>
        </p:nvSpPr>
        <p:spPr>
          <a:xfrm>
            <a:off x="9646920" y="3520440"/>
            <a:ext cx="2011680" cy="2011680"/>
          </a:xfrm>
          <a:prstGeom prst="roundRect">
            <a:avLst>
              <a:gd name="adj" fmla="val 6818"/>
            </a:avLst>
          </a:prstGeom>
          <a:solidFill>
            <a:schemeClr val="accent4"/>
          </a:solidFill>
          <a:ln/>
        </p:spPr>
      </p:sp>
      <p:sp>
        <p:nvSpPr>
          <p:cNvPr id="16" name="text-15"/>
          <p:cNvSpPr txBox="1"/>
          <p:nvPr/>
        </p:nvSpPr>
        <p:spPr>
          <a:xfrm>
            <a:off x="9646920" y="3749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6600" dirty="0"/>
          </a:p>
        </p:txBody>
      </p:sp>
      <p:sp>
        <p:nvSpPr>
          <p:cNvPr id="17" name="text-16"/>
          <p:cNvSpPr txBox="1"/>
          <p:nvPr/>
        </p:nvSpPr>
        <p:spPr>
          <a:xfrm>
            <a:off x="964692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THREATS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01  ·  THE FRAMEWORK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SWOT analysis?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simple framework for understanding a situation and planning improvement.</a:t>
            </a:r>
            <a:endParaRPr lang="en-US" sz="1600" dirty="0"/>
          </a:p>
        </p:txBody>
      </p:sp>
      <p:sp>
        <p:nvSpPr>
          <p:cNvPr id="5" name="text-17"/>
          <p:cNvSpPr txBox="1"/>
          <p:nvPr/>
        </p:nvSpPr>
        <p:spPr>
          <a:xfrm>
            <a:off x="146304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HELPFUL</a:t>
            </a:r>
            <a:endParaRPr lang="en-US" sz="1200" dirty="0"/>
          </a:p>
        </p:txBody>
      </p:sp>
      <p:sp>
        <p:nvSpPr>
          <p:cNvPr id="6" name="text-18"/>
          <p:cNvSpPr txBox="1"/>
          <p:nvPr/>
        </p:nvSpPr>
        <p:spPr>
          <a:xfrm>
            <a:off x="667512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HARMFUL</a:t>
            </a:r>
            <a:endParaRPr lang="en-US" sz="1200" dirty="0"/>
          </a:p>
        </p:txBody>
      </p:sp>
      <p:sp>
        <p:nvSpPr>
          <p:cNvPr id="7" name="text-19"/>
          <p:cNvSpPr txBox="1"/>
          <p:nvPr/>
        </p:nvSpPr>
        <p:spPr>
          <a:xfrm rot="16200000">
            <a:off x="45720" y="30906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INTERNAL</a:t>
            </a:r>
            <a:endParaRPr lang="en-US" sz="1200" dirty="0"/>
          </a:p>
        </p:txBody>
      </p:sp>
      <p:sp>
        <p:nvSpPr>
          <p:cNvPr id="8" name="text-20"/>
          <p:cNvSpPr txBox="1"/>
          <p:nvPr/>
        </p:nvSpPr>
        <p:spPr>
          <a:xfrm rot="16200000">
            <a:off x="45720" y="5010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EXTERNAL</a:t>
            </a:r>
            <a:endParaRPr lang="en-US" sz="1200" dirty="0"/>
          </a:p>
        </p:txBody>
      </p:sp>
      <p:sp>
        <p:nvSpPr>
          <p:cNvPr id="9" name="card-21"/>
          <p:cNvSpPr/>
          <p:nvPr/>
        </p:nvSpPr>
        <p:spPr>
          <a:xfrm>
            <a:off x="1463040" y="2331720"/>
            <a:ext cx="4937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0" name="letter-22"/>
          <p:cNvSpPr/>
          <p:nvPr/>
        </p:nvSpPr>
        <p:spPr>
          <a:xfrm>
            <a:off x="1783080" y="2715768"/>
            <a:ext cx="9144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1" name="text-23"/>
          <p:cNvSpPr txBox="1"/>
          <p:nvPr/>
        </p:nvSpPr>
        <p:spPr>
          <a:xfrm>
            <a:off x="1783080" y="27157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600" dirty="0"/>
          </a:p>
        </p:txBody>
      </p:sp>
      <p:sp>
        <p:nvSpPr>
          <p:cNvPr id="12" name="text-24"/>
          <p:cNvSpPr txBox="1"/>
          <p:nvPr/>
        </p:nvSpPr>
        <p:spPr>
          <a:xfrm>
            <a:off x="2971800" y="2715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13" name="text-25"/>
          <p:cNvSpPr txBox="1"/>
          <p:nvPr/>
        </p:nvSpPr>
        <p:spPr>
          <a:xfrm>
            <a:off x="297180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Internal qualities that help me succeed.</a:t>
            </a:r>
            <a:endParaRPr lang="en-US" sz="1500" dirty="0"/>
          </a:p>
        </p:txBody>
      </p:sp>
      <p:sp>
        <p:nvSpPr>
          <p:cNvPr id="14" name="card-26"/>
          <p:cNvSpPr/>
          <p:nvPr/>
        </p:nvSpPr>
        <p:spPr>
          <a:xfrm>
            <a:off x="6675120" y="2331720"/>
            <a:ext cx="4937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5" name="letter-27"/>
          <p:cNvSpPr/>
          <p:nvPr/>
        </p:nvSpPr>
        <p:spPr>
          <a:xfrm>
            <a:off x="6995160" y="2715768"/>
            <a:ext cx="91440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6" name="text-28"/>
          <p:cNvSpPr txBox="1"/>
          <p:nvPr/>
        </p:nvSpPr>
        <p:spPr>
          <a:xfrm>
            <a:off x="6995160" y="27157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3600" dirty="0"/>
          </a:p>
        </p:txBody>
      </p:sp>
      <p:sp>
        <p:nvSpPr>
          <p:cNvPr id="17" name="text-29"/>
          <p:cNvSpPr txBox="1"/>
          <p:nvPr/>
        </p:nvSpPr>
        <p:spPr>
          <a:xfrm>
            <a:off x="8183880" y="2715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2200" dirty="0"/>
          </a:p>
        </p:txBody>
      </p:sp>
      <p:sp>
        <p:nvSpPr>
          <p:cNvPr id="18" name="text-30"/>
          <p:cNvSpPr txBox="1"/>
          <p:nvPr/>
        </p:nvSpPr>
        <p:spPr>
          <a:xfrm>
            <a:off x="818388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Internal habits or limits I need to improve.</a:t>
            </a:r>
            <a:endParaRPr lang="en-US" sz="1500" dirty="0"/>
          </a:p>
        </p:txBody>
      </p:sp>
      <p:sp>
        <p:nvSpPr>
          <p:cNvPr id="19" name="card-31"/>
          <p:cNvSpPr/>
          <p:nvPr/>
        </p:nvSpPr>
        <p:spPr>
          <a:xfrm>
            <a:off x="1463040" y="4251960"/>
            <a:ext cx="4937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0" name="letter-32"/>
          <p:cNvSpPr/>
          <p:nvPr/>
        </p:nvSpPr>
        <p:spPr>
          <a:xfrm>
            <a:off x="1783080" y="4636008"/>
            <a:ext cx="914400" cy="9144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21" name="text-33"/>
          <p:cNvSpPr txBox="1"/>
          <p:nvPr/>
        </p:nvSpPr>
        <p:spPr>
          <a:xfrm>
            <a:off x="1783080" y="4636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3600" dirty="0"/>
          </a:p>
        </p:txBody>
      </p:sp>
      <p:sp>
        <p:nvSpPr>
          <p:cNvPr id="22" name="text-34"/>
          <p:cNvSpPr txBox="1"/>
          <p:nvPr/>
        </p:nvSpPr>
        <p:spPr>
          <a:xfrm>
            <a:off x="2971800" y="4636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23" name="text-35"/>
          <p:cNvSpPr txBox="1"/>
          <p:nvPr/>
        </p:nvSpPr>
        <p:spPr>
          <a:xfrm>
            <a:off x="2971800" y="5074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External possibilities I can use for growth.</a:t>
            </a:r>
            <a:endParaRPr lang="en-US" sz="1500" dirty="0"/>
          </a:p>
        </p:txBody>
      </p:sp>
      <p:sp>
        <p:nvSpPr>
          <p:cNvPr id="24" name="card-36"/>
          <p:cNvSpPr/>
          <p:nvPr/>
        </p:nvSpPr>
        <p:spPr>
          <a:xfrm>
            <a:off x="6675120" y="4251960"/>
            <a:ext cx="4937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5" name="letter-37"/>
          <p:cNvSpPr/>
          <p:nvPr/>
        </p:nvSpPr>
        <p:spPr>
          <a:xfrm>
            <a:off x="6995160" y="4636008"/>
            <a:ext cx="914400" cy="9144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26" name="text-38"/>
          <p:cNvSpPr txBox="1"/>
          <p:nvPr/>
        </p:nvSpPr>
        <p:spPr>
          <a:xfrm>
            <a:off x="6995160" y="4636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600" dirty="0"/>
          </a:p>
        </p:txBody>
      </p:sp>
      <p:sp>
        <p:nvSpPr>
          <p:cNvPr id="27" name="text-39"/>
          <p:cNvSpPr txBox="1"/>
          <p:nvPr/>
        </p:nvSpPr>
        <p:spPr>
          <a:xfrm>
            <a:off x="8183880" y="4636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2200" dirty="0"/>
          </a:p>
        </p:txBody>
      </p:sp>
      <p:sp>
        <p:nvSpPr>
          <p:cNvPr id="28" name="text-40"/>
          <p:cNvSpPr txBox="1"/>
          <p:nvPr/>
        </p:nvSpPr>
        <p:spPr>
          <a:xfrm>
            <a:off x="8183880" y="5074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External challenges I should prepare for.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02  ·  PURPOSE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use a SWOT analysis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goal is not to label myself. It is to make better decisions.</a:t>
            </a:r>
            <a:endParaRPr lang="en-US" sz="1600" dirty="0"/>
          </a:p>
        </p:txBody>
      </p:sp>
      <p:sp>
        <p:nvSpPr>
          <p:cNvPr id="5" name="card-41"/>
          <p:cNvSpPr/>
          <p:nvPr/>
        </p:nvSpPr>
        <p:spPr>
          <a:xfrm>
            <a:off x="548640" y="205740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icon-circle-42"/>
          <p:cNvSpPr/>
          <p:nvPr/>
        </p:nvSpPr>
        <p:spPr>
          <a:xfrm>
            <a:off x="822960" y="23774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con-43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538374"/>
            <a:ext cx="409651" cy="409651"/>
          </a:xfrm>
          <a:prstGeom prst="rect">
            <a:avLst/>
          </a:prstGeom>
        </p:spPr>
      </p:pic>
      <p:sp>
        <p:nvSpPr>
          <p:cNvPr id="8" name="text-44"/>
          <p:cNvSpPr txBox="1"/>
          <p:nvPr/>
        </p:nvSpPr>
        <p:spPr>
          <a:xfrm>
            <a:off x="1737360" y="237744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-45"/>
          <p:cNvSpPr txBox="1"/>
          <p:nvPr/>
        </p:nvSpPr>
        <p:spPr>
          <a:xfrm>
            <a:off x="822960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self-awareness</a:t>
            </a:r>
            <a:endParaRPr lang="en-US" sz="1800" dirty="0"/>
          </a:p>
        </p:txBody>
      </p:sp>
      <p:sp>
        <p:nvSpPr>
          <p:cNvPr id="10" name="text-46"/>
          <p:cNvSpPr txBox="1"/>
          <p:nvPr/>
        </p:nvSpPr>
        <p:spPr>
          <a:xfrm>
            <a:off x="822960" y="448056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Understand what helps me and what holds me back.</a:t>
            </a:r>
            <a:endParaRPr lang="en-US" sz="1500" dirty="0"/>
          </a:p>
        </p:txBody>
      </p:sp>
      <p:sp>
        <p:nvSpPr>
          <p:cNvPr id="11" name="card-47"/>
          <p:cNvSpPr/>
          <p:nvPr/>
        </p:nvSpPr>
        <p:spPr>
          <a:xfrm>
            <a:off x="2802636" y="205740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2" name="icon-circle-48"/>
          <p:cNvSpPr/>
          <p:nvPr/>
        </p:nvSpPr>
        <p:spPr>
          <a:xfrm>
            <a:off x="3076956" y="23774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icon-49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90" y="2538374"/>
            <a:ext cx="409651" cy="409651"/>
          </a:xfrm>
          <a:prstGeom prst="rect">
            <a:avLst/>
          </a:prstGeom>
        </p:spPr>
      </p:pic>
      <p:sp>
        <p:nvSpPr>
          <p:cNvPr id="14" name="text-50"/>
          <p:cNvSpPr txBox="1"/>
          <p:nvPr/>
        </p:nvSpPr>
        <p:spPr>
          <a:xfrm>
            <a:off x="3991356" y="237744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-51"/>
          <p:cNvSpPr txBox="1"/>
          <p:nvPr/>
        </p:nvSpPr>
        <p:spPr>
          <a:xfrm>
            <a:off x="3076956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realistic goals</a:t>
            </a:r>
            <a:endParaRPr lang="en-US" sz="1800" dirty="0"/>
          </a:p>
        </p:txBody>
      </p:sp>
      <p:sp>
        <p:nvSpPr>
          <p:cNvPr id="16" name="text-52"/>
          <p:cNvSpPr txBox="1"/>
          <p:nvPr/>
        </p:nvSpPr>
        <p:spPr>
          <a:xfrm>
            <a:off x="3076956" y="448056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Match ambitions with my current abilities and resources.</a:t>
            </a:r>
            <a:endParaRPr lang="en-US" sz="1500" dirty="0"/>
          </a:p>
        </p:txBody>
      </p:sp>
      <p:sp>
        <p:nvSpPr>
          <p:cNvPr id="17" name="card-53"/>
          <p:cNvSpPr/>
          <p:nvPr/>
        </p:nvSpPr>
        <p:spPr>
          <a:xfrm>
            <a:off x="5056632" y="205740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8" name="icon-circle-54"/>
          <p:cNvSpPr/>
          <p:nvPr/>
        </p:nvSpPr>
        <p:spPr>
          <a:xfrm>
            <a:off x="5330952" y="23774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con-55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886" y="2538374"/>
            <a:ext cx="409651" cy="409651"/>
          </a:xfrm>
          <a:prstGeom prst="rect">
            <a:avLst/>
          </a:prstGeom>
        </p:spPr>
      </p:pic>
      <p:sp>
        <p:nvSpPr>
          <p:cNvPr id="20" name="text-56"/>
          <p:cNvSpPr txBox="1"/>
          <p:nvPr/>
        </p:nvSpPr>
        <p:spPr>
          <a:xfrm>
            <a:off x="6245352" y="237744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-57"/>
          <p:cNvSpPr txBox="1"/>
          <p:nvPr/>
        </p:nvSpPr>
        <p:spPr>
          <a:xfrm>
            <a:off x="5330952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opportunities wisely</a:t>
            </a:r>
            <a:endParaRPr lang="en-US" sz="1800" dirty="0"/>
          </a:p>
        </p:txBody>
      </p:sp>
      <p:sp>
        <p:nvSpPr>
          <p:cNvPr id="22" name="text-58"/>
          <p:cNvSpPr txBox="1"/>
          <p:nvPr/>
        </p:nvSpPr>
        <p:spPr>
          <a:xfrm>
            <a:off x="5330952" y="448056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Recognize learning, academic and career pathways.</a:t>
            </a:r>
            <a:endParaRPr lang="en-US" sz="1500" dirty="0"/>
          </a:p>
        </p:txBody>
      </p:sp>
      <p:sp>
        <p:nvSpPr>
          <p:cNvPr id="23" name="card-59"/>
          <p:cNvSpPr/>
          <p:nvPr/>
        </p:nvSpPr>
        <p:spPr>
          <a:xfrm>
            <a:off x="7310628" y="205740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icon-circle-60"/>
          <p:cNvSpPr/>
          <p:nvPr/>
        </p:nvSpPr>
        <p:spPr>
          <a:xfrm>
            <a:off x="7584948" y="23774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con-61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882" y="2538374"/>
            <a:ext cx="409651" cy="409651"/>
          </a:xfrm>
          <a:prstGeom prst="rect">
            <a:avLst/>
          </a:prstGeom>
        </p:spPr>
      </p:pic>
      <p:sp>
        <p:nvSpPr>
          <p:cNvPr id="26" name="text-62"/>
          <p:cNvSpPr txBox="1"/>
          <p:nvPr/>
        </p:nvSpPr>
        <p:spPr>
          <a:xfrm>
            <a:off x="8499348" y="237744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-63"/>
          <p:cNvSpPr txBox="1"/>
          <p:nvPr/>
        </p:nvSpPr>
        <p:spPr>
          <a:xfrm>
            <a:off x="7584948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for challenges</a:t>
            </a:r>
            <a:endParaRPr lang="en-US" sz="1800" dirty="0"/>
          </a:p>
        </p:txBody>
      </p:sp>
      <p:sp>
        <p:nvSpPr>
          <p:cNvPr id="28" name="text-64"/>
          <p:cNvSpPr txBox="1"/>
          <p:nvPr/>
        </p:nvSpPr>
        <p:spPr>
          <a:xfrm>
            <a:off x="7584948" y="448056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Anticipate risks before they become bigger problems.</a:t>
            </a:r>
            <a:endParaRPr lang="en-US" sz="1500" dirty="0"/>
          </a:p>
        </p:txBody>
      </p:sp>
      <p:sp>
        <p:nvSpPr>
          <p:cNvPr id="29" name="card-65"/>
          <p:cNvSpPr/>
          <p:nvPr/>
        </p:nvSpPr>
        <p:spPr>
          <a:xfrm>
            <a:off x="9564624" y="205740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0" name="icon-circle-66"/>
          <p:cNvSpPr/>
          <p:nvPr/>
        </p:nvSpPr>
        <p:spPr>
          <a:xfrm>
            <a:off x="9838944" y="23774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-67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9878" y="2538374"/>
            <a:ext cx="409651" cy="409651"/>
          </a:xfrm>
          <a:prstGeom prst="rect">
            <a:avLst/>
          </a:prstGeom>
        </p:spPr>
      </p:pic>
      <p:sp>
        <p:nvSpPr>
          <p:cNvPr id="32" name="text-68"/>
          <p:cNvSpPr txBox="1"/>
          <p:nvPr/>
        </p:nvSpPr>
        <p:spPr>
          <a:xfrm>
            <a:off x="10753344" y="237744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33" name="text-69"/>
          <p:cNvSpPr txBox="1"/>
          <p:nvPr/>
        </p:nvSpPr>
        <p:spPr>
          <a:xfrm>
            <a:off x="9838944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 action plan</a:t>
            </a:r>
            <a:endParaRPr lang="en-US" sz="1800" dirty="0"/>
          </a:p>
        </p:txBody>
      </p:sp>
      <p:sp>
        <p:nvSpPr>
          <p:cNvPr id="34" name="text-70"/>
          <p:cNvSpPr txBox="1"/>
          <p:nvPr/>
        </p:nvSpPr>
        <p:spPr>
          <a:xfrm>
            <a:off x="9838944" y="448056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Turn reflection into specific, measurable steps.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03  · 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SWOT on one page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Top: internal, what I control. Bottom: external, what I respond to.</a:t>
            </a:r>
            <a:endParaRPr lang="en-US" sz="1600" dirty="0"/>
          </a:p>
        </p:txBody>
      </p:sp>
      <p:sp>
        <p:nvSpPr>
          <p:cNvPr id="5" name="card-71"/>
          <p:cNvSpPr/>
          <p:nvPr/>
        </p:nvSpPr>
        <p:spPr>
          <a:xfrm>
            <a:off x="548640" y="196596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/>
        </p:spPr>
      </p:sp>
      <p:sp>
        <p:nvSpPr>
          <p:cNvPr id="6" name="text-72"/>
          <p:cNvSpPr txBox="1"/>
          <p:nvPr/>
        </p:nvSpPr>
        <p:spPr>
          <a:xfrm>
            <a:off x="4526280" y="2148840"/>
            <a:ext cx="1280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>
                    <a:alpha val="3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9600" dirty="0"/>
          </a:p>
        </p:txBody>
      </p:sp>
      <p:sp>
        <p:nvSpPr>
          <p:cNvPr id="7" name="text-73"/>
          <p:cNvSpPr txBox="1"/>
          <p:nvPr/>
        </p:nvSpPr>
        <p:spPr>
          <a:xfrm>
            <a:off x="86868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8" name="text-74"/>
          <p:cNvSpPr txBox="1"/>
          <p:nvPr/>
        </p:nvSpPr>
        <p:spPr>
          <a:xfrm>
            <a:off x="868680" y="2697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Imagination and long-term vision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Research mindset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Builder: idea to working system</a:t>
            </a:r>
            <a:endParaRPr lang="en-US" sz="1500" dirty="0"/>
          </a:p>
        </p:txBody>
      </p:sp>
      <p:sp>
        <p:nvSpPr>
          <p:cNvPr id="9" name="card-75"/>
          <p:cNvSpPr/>
          <p:nvPr/>
        </p:nvSpPr>
        <p:spPr>
          <a:xfrm>
            <a:off x="6172200" y="196596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accent2"/>
          </a:solidFill>
          <a:ln/>
        </p:spPr>
      </p:sp>
      <p:sp>
        <p:nvSpPr>
          <p:cNvPr id="10" name="text-76"/>
          <p:cNvSpPr txBox="1"/>
          <p:nvPr/>
        </p:nvSpPr>
        <p:spPr>
          <a:xfrm>
            <a:off x="10149840" y="2148840"/>
            <a:ext cx="1280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>
                    <a:alpha val="3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9600" dirty="0"/>
          </a:p>
        </p:txBody>
      </p:sp>
      <p:sp>
        <p:nvSpPr>
          <p:cNvPr id="11" name="text-77"/>
          <p:cNvSpPr txBox="1"/>
          <p:nvPr/>
        </p:nvSpPr>
        <p:spPr>
          <a:xfrm>
            <a:off x="649224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2200" dirty="0"/>
          </a:p>
        </p:txBody>
      </p:sp>
      <p:sp>
        <p:nvSpPr>
          <p:cNvPr id="12" name="text-78"/>
          <p:cNvSpPr txBox="1"/>
          <p:nvPr/>
        </p:nvSpPr>
        <p:spPr>
          <a:xfrm>
            <a:off x="6492240" y="2697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Many ideas compete for focus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Re-checking my direction too often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Planning more than finishing</a:t>
            </a:r>
            <a:endParaRPr lang="en-US" sz="1500" dirty="0"/>
          </a:p>
        </p:txBody>
      </p:sp>
      <p:sp>
        <p:nvSpPr>
          <p:cNvPr id="13" name="card-79"/>
          <p:cNvSpPr/>
          <p:nvPr/>
        </p:nvSpPr>
        <p:spPr>
          <a:xfrm>
            <a:off x="548640" y="41148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accent3"/>
          </a:solidFill>
          <a:ln/>
        </p:spPr>
      </p:sp>
      <p:sp>
        <p:nvSpPr>
          <p:cNvPr id="14" name="text-80"/>
          <p:cNvSpPr txBox="1"/>
          <p:nvPr/>
        </p:nvSpPr>
        <p:spPr>
          <a:xfrm>
            <a:off x="4526280" y="4297680"/>
            <a:ext cx="1280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>
                    <a:alpha val="3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9600" dirty="0"/>
          </a:p>
        </p:txBody>
      </p:sp>
      <p:sp>
        <p:nvSpPr>
          <p:cNvPr id="15" name="text-81"/>
          <p:cNvSpPr txBox="1"/>
          <p:nvPr/>
        </p:nvSpPr>
        <p:spPr>
          <a:xfrm>
            <a:off x="86868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16" name="text-82"/>
          <p:cNvSpPr txBox="1"/>
          <p:nvPr/>
        </p:nvSpPr>
        <p:spPr>
          <a:xfrm>
            <a:off x="868680" y="48463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M.Tech thesis and publication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NET-JRF / GATE fellowships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Strong demand for AI skills</a:t>
            </a:r>
            <a:endParaRPr lang="en-US" sz="1500" dirty="0"/>
          </a:p>
        </p:txBody>
      </p:sp>
      <p:sp>
        <p:nvSpPr>
          <p:cNvPr id="17" name="card-83"/>
          <p:cNvSpPr/>
          <p:nvPr/>
        </p:nvSpPr>
        <p:spPr>
          <a:xfrm>
            <a:off x="6172200" y="41148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accent4"/>
          </a:solidFill>
          <a:ln/>
        </p:spPr>
      </p:sp>
      <p:sp>
        <p:nvSpPr>
          <p:cNvPr id="18" name="text-84"/>
          <p:cNvSpPr txBox="1"/>
          <p:nvPr/>
        </p:nvSpPr>
        <p:spPr>
          <a:xfrm>
            <a:off x="10149840" y="4297680"/>
            <a:ext cx="1280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>
                    <a:alpha val="3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9600" dirty="0"/>
          </a:p>
        </p:txBody>
      </p:sp>
      <p:sp>
        <p:nvSpPr>
          <p:cNvPr id="19" name="text-85"/>
          <p:cNvSpPr txBox="1"/>
          <p:nvPr/>
        </p:nvSpPr>
        <p:spPr>
          <a:xfrm>
            <a:off x="649224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2200" dirty="0"/>
          </a:p>
        </p:txBody>
      </p:sp>
      <p:sp>
        <p:nvSpPr>
          <p:cNvPr id="20" name="text-86"/>
          <p:cNvSpPr txBox="1"/>
          <p:nvPr/>
        </p:nvSpPr>
        <p:spPr>
          <a:xfrm>
            <a:off x="6492240" y="48463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Fragmented priorities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Exam and deadline pressure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Competitive selection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04  ·  INTERNAL  ·  STRENGTHS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I can build on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Qualities that already show up in my work.</a:t>
            </a:r>
            <a:endParaRPr lang="en-US" sz="1600" dirty="0"/>
          </a:p>
        </p:txBody>
      </p:sp>
      <p:sp>
        <p:nvSpPr>
          <p:cNvPr id="5" name="card-87"/>
          <p:cNvSpPr/>
          <p:nvPr/>
        </p:nvSpPr>
        <p:spPr>
          <a:xfrm>
            <a:off x="548640" y="201168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6" name="icon-circle-88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89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436876"/>
            <a:ext cx="384048" cy="384048"/>
          </a:xfrm>
          <a:prstGeom prst="rect">
            <a:avLst/>
          </a:prstGeom>
        </p:spPr>
      </p:pic>
      <p:sp>
        <p:nvSpPr>
          <p:cNvPr id="8" name="text-90"/>
          <p:cNvSpPr txBox="1"/>
          <p:nvPr/>
        </p:nvSpPr>
        <p:spPr>
          <a:xfrm>
            <a:off x="169164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Imagination</a:t>
            </a:r>
            <a:endParaRPr lang="en-US" sz="1900" dirty="0"/>
          </a:p>
        </p:txBody>
      </p:sp>
      <p:sp>
        <p:nvSpPr>
          <p:cNvPr id="9" name="text-91"/>
          <p:cNvSpPr txBox="1"/>
          <p:nvPr/>
        </p:nvSpPr>
        <p:spPr>
          <a:xfrm>
            <a:off x="822960" y="3108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 picture future outcomes and big ideas, like a living plan that updates itself.</a:t>
            </a:r>
            <a:endParaRPr lang="en-US" sz="1500" dirty="0"/>
          </a:p>
        </p:txBody>
      </p:sp>
      <p:sp>
        <p:nvSpPr>
          <p:cNvPr id="10" name="card-92"/>
          <p:cNvSpPr/>
          <p:nvPr/>
        </p:nvSpPr>
        <p:spPr>
          <a:xfrm>
            <a:off x="4297680" y="201168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1" name="icon-circle-93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94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2436876"/>
            <a:ext cx="384048" cy="384048"/>
          </a:xfrm>
          <a:prstGeom prst="rect">
            <a:avLst/>
          </a:prstGeom>
        </p:spPr>
      </p:pic>
      <p:sp>
        <p:nvSpPr>
          <p:cNvPr id="13" name="text-95"/>
          <p:cNvSpPr txBox="1"/>
          <p:nvPr/>
        </p:nvSpPr>
        <p:spPr>
          <a:xfrm>
            <a:off x="544068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vision</a:t>
            </a:r>
            <a:endParaRPr lang="en-US" sz="1900" dirty="0"/>
          </a:p>
        </p:txBody>
      </p:sp>
      <p:sp>
        <p:nvSpPr>
          <p:cNvPr id="14" name="text-96"/>
          <p:cNvSpPr txBox="1"/>
          <p:nvPr/>
        </p:nvSpPr>
        <p:spPr>
          <a:xfrm>
            <a:off x="4572000" y="3108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 set meaningful goals and think beyond the next result.</a:t>
            </a:r>
            <a:endParaRPr lang="en-US" sz="1500" dirty="0"/>
          </a:p>
        </p:txBody>
      </p:sp>
      <p:sp>
        <p:nvSpPr>
          <p:cNvPr id="15" name="card-97"/>
          <p:cNvSpPr/>
          <p:nvPr/>
        </p:nvSpPr>
        <p:spPr>
          <a:xfrm>
            <a:off x="8046720" y="201168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6" name="icon-circle-98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99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2436876"/>
            <a:ext cx="384048" cy="384048"/>
          </a:xfrm>
          <a:prstGeom prst="rect">
            <a:avLst/>
          </a:prstGeom>
        </p:spPr>
      </p:pic>
      <p:sp>
        <p:nvSpPr>
          <p:cNvPr id="18" name="text-100"/>
          <p:cNvSpPr txBox="1"/>
          <p:nvPr/>
        </p:nvSpPr>
        <p:spPr>
          <a:xfrm>
            <a:off x="918972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mindset</a:t>
            </a:r>
            <a:endParaRPr lang="en-US" sz="1900" dirty="0"/>
          </a:p>
        </p:txBody>
      </p:sp>
      <p:sp>
        <p:nvSpPr>
          <p:cNvPr id="19" name="text-101"/>
          <p:cNvSpPr txBox="1"/>
          <p:nvPr/>
        </p:nvSpPr>
        <p:spPr>
          <a:xfrm>
            <a:off x="8321040" y="3108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 design tests for my ideas instead of just believing them.</a:t>
            </a:r>
            <a:endParaRPr lang="en-US" sz="1500" dirty="0"/>
          </a:p>
        </p:txBody>
      </p:sp>
      <p:sp>
        <p:nvSpPr>
          <p:cNvPr id="20" name="card-102"/>
          <p:cNvSpPr/>
          <p:nvPr/>
        </p:nvSpPr>
        <p:spPr>
          <a:xfrm>
            <a:off x="548640" y="416052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21" name="icon-circle-103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104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" y="4585716"/>
            <a:ext cx="384048" cy="384048"/>
          </a:xfrm>
          <a:prstGeom prst="rect">
            <a:avLst/>
          </a:prstGeom>
        </p:spPr>
      </p:pic>
      <p:sp>
        <p:nvSpPr>
          <p:cNvPr id="23" name="text-105"/>
          <p:cNvSpPr txBox="1"/>
          <p:nvPr/>
        </p:nvSpPr>
        <p:spPr>
          <a:xfrm>
            <a:off x="1691640" y="4434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1900" dirty="0"/>
          </a:p>
        </p:txBody>
      </p:sp>
      <p:sp>
        <p:nvSpPr>
          <p:cNvPr id="24" name="text-106"/>
          <p:cNvSpPr txBox="1"/>
          <p:nvPr/>
        </p:nvSpPr>
        <p:spPr>
          <a:xfrm>
            <a:off x="82296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 turn ideas into working systems: an app and a research engine.</a:t>
            </a:r>
            <a:endParaRPr lang="en-US" sz="1500" dirty="0"/>
          </a:p>
        </p:txBody>
      </p:sp>
      <p:sp>
        <p:nvSpPr>
          <p:cNvPr id="25" name="card-107"/>
          <p:cNvSpPr/>
          <p:nvPr/>
        </p:nvSpPr>
        <p:spPr>
          <a:xfrm>
            <a:off x="4297680" y="416052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26" name="icon-circle-108"/>
          <p:cNvSpPr/>
          <p:nvPr/>
        </p:nvSpPr>
        <p:spPr>
          <a:xfrm>
            <a:off x="4572000" y="4434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109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4585716"/>
            <a:ext cx="384048" cy="384048"/>
          </a:xfrm>
          <a:prstGeom prst="rect">
            <a:avLst/>
          </a:prstGeom>
        </p:spPr>
      </p:pic>
      <p:sp>
        <p:nvSpPr>
          <p:cNvPr id="28" name="text-110"/>
          <p:cNvSpPr txBox="1"/>
          <p:nvPr/>
        </p:nvSpPr>
        <p:spPr>
          <a:xfrm>
            <a:off x="5440680" y="4434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Willing to learn</a:t>
            </a:r>
            <a:endParaRPr lang="en-US" sz="1900" dirty="0"/>
          </a:p>
        </p:txBody>
      </p:sp>
      <p:sp>
        <p:nvSpPr>
          <p:cNvPr id="29" name="text-111"/>
          <p:cNvSpPr txBox="1"/>
          <p:nvPr/>
        </p:nvSpPr>
        <p:spPr>
          <a:xfrm>
            <a:off x="457200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 ask questions and revisit hard concepts until they are clear.</a:t>
            </a:r>
            <a:endParaRPr lang="en-US" sz="1500" dirty="0"/>
          </a:p>
        </p:txBody>
      </p:sp>
      <p:sp>
        <p:nvSpPr>
          <p:cNvPr id="30" name="card-112"/>
          <p:cNvSpPr/>
          <p:nvPr/>
        </p:nvSpPr>
        <p:spPr>
          <a:xfrm>
            <a:off x="8046720" y="416052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31" name="icon-circle-113"/>
          <p:cNvSpPr/>
          <p:nvPr/>
        </p:nvSpPr>
        <p:spPr>
          <a:xfrm>
            <a:off x="8321040" y="4434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-114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916" y="4585716"/>
            <a:ext cx="384048" cy="384048"/>
          </a:xfrm>
          <a:prstGeom prst="rect">
            <a:avLst/>
          </a:prstGeom>
        </p:spPr>
      </p:pic>
      <p:sp>
        <p:nvSpPr>
          <p:cNvPr id="33" name="text-115"/>
          <p:cNvSpPr txBox="1"/>
          <p:nvPr/>
        </p:nvSpPr>
        <p:spPr>
          <a:xfrm>
            <a:off x="9189720" y="4434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Self-aware</a:t>
            </a:r>
            <a:endParaRPr lang="en-US" sz="1900" dirty="0"/>
          </a:p>
        </p:txBody>
      </p:sp>
      <p:sp>
        <p:nvSpPr>
          <p:cNvPr id="34" name="text-116"/>
          <p:cNvSpPr txBox="1"/>
          <p:nvPr/>
        </p:nvSpPr>
        <p:spPr>
          <a:xfrm>
            <a:off x="832104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 reflect on my decisions and challenge my own assumptions.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05  ·  INTERNAL  ·  WEAKNESSES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 and how I fix them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Habits to improve, not permanent limits.</a:t>
            </a:r>
            <a:endParaRPr lang="en-US" sz="1600" dirty="0"/>
          </a:p>
        </p:txBody>
      </p:sp>
      <p:sp>
        <p:nvSpPr>
          <p:cNvPr id="5" name="text-117"/>
          <p:cNvSpPr txBox="1"/>
          <p:nvPr/>
        </p:nvSpPr>
        <p:spPr>
          <a:xfrm>
            <a:off x="54864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WHAT HOLDS ME BACK</a:t>
            </a:r>
            <a:endParaRPr lang="en-US" sz="1200" dirty="0"/>
          </a:p>
        </p:txBody>
      </p:sp>
      <p:sp>
        <p:nvSpPr>
          <p:cNvPr id="6" name="text-118"/>
          <p:cNvSpPr txBox="1"/>
          <p:nvPr/>
        </p:nvSpPr>
        <p:spPr>
          <a:xfrm>
            <a:off x="649224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MY FIX</a:t>
            </a:r>
            <a:endParaRPr lang="en-US" sz="1200" dirty="0"/>
          </a:p>
        </p:txBody>
      </p:sp>
      <p:sp>
        <p:nvSpPr>
          <p:cNvPr id="7" name="card-119"/>
          <p:cNvSpPr/>
          <p:nvPr/>
        </p:nvSpPr>
        <p:spPr>
          <a:xfrm>
            <a:off x="548640" y="2286000"/>
            <a:ext cx="5120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8" name="icon-circle-120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-121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701138"/>
            <a:ext cx="358445" cy="358445"/>
          </a:xfrm>
          <a:prstGeom prst="rect">
            <a:avLst/>
          </a:prstGeom>
        </p:spPr>
      </p:pic>
      <p:sp>
        <p:nvSpPr>
          <p:cNvPr id="10" name="text-122"/>
          <p:cNvSpPr txBox="1"/>
          <p:nvPr/>
        </p:nvSpPr>
        <p:spPr>
          <a:xfrm>
            <a:off x="1645920" y="2450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ideas pull me away</a:t>
            </a:r>
            <a:endParaRPr lang="en-US" sz="1700" dirty="0"/>
          </a:p>
        </p:txBody>
      </p:sp>
      <p:sp>
        <p:nvSpPr>
          <p:cNvPr id="11" name="text-123"/>
          <p:cNvSpPr txBox="1"/>
          <p:nvPr/>
        </p:nvSpPr>
        <p:spPr>
          <a:xfrm>
            <a:off x="164592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get interested in many things and struggle to stay with one.</a:t>
            </a:r>
            <a:endParaRPr lang="en-US" sz="1400" dirty="0"/>
          </a:p>
        </p:txBody>
      </p:sp>
      <p:sp>
        <p:nvSpPr>
          <p:cNvPr id="12" name="icon-circle-124"/>
          <p:cNvSpPr/>
          <p:nvPr/>
        </p:nvSpPr>
        <p:spPr>
          <a:xfrm>
            <a:off x="5852160" y="265176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3" name="icon-125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2720340"/>
            <a:ext cx="320040" cy="320040"/>
          </a:xfrm>
          <a:prstGeom prst="rect">
            <a:avLst/>
          </a:prstGeom>
        </p:spPr>
      </p:pic>
      <p:sp>
        <p:nvSpPr>
          <p:cNvPr id="14" name="card-126"/>
          <p:cNvSpPr/>
          <p:nvPr/>
        </p:nvSpPr>
        <p:spPr>
          <a:xfrm>
            <a:off x="6492240" y="2286000"/>
            <a:ext cx="512064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/>
        </p:spPr>
      </p:sp>
      <p:sp>
        <p:nvSpPr>
          <p:cNvPr id="15" name="icon-circle-127"/>
          <p:cNvSpPr/>
          <p:nvPr/>
        </p:nvSpPr>
        <p:spPr>
          <a:xfrm>
            <a:off x="6720840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28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58" y="2701138"/>
            <a:ext cx="358445" cy="358445"/>
          </a:xfrm>
          <a:prstGeom prst="rect">
            <a:avLst/>
          </a:prstGeom>
        </p:spPr>
      </p:pic>
      <p:sp>
        <p:nvSpPr>
          <p:cNvPr id="17" name="text-129"/>
          <p:cNvSpPr txBox="1"/>
          <p:nvPr/>
        </p:nvSpPr>
        <p:spPr>
          <a:xfrm>
            <a:off x="7589520" y="2450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main priority for 90 days</a:t>
            </a:r>
            <a:endParaRPr lang="en-US" sz="1700" dirty="0"/>
          </a:p>
        </p:txBody>
      </p:sp>
      <p:sp>
        <p:nvSpPr>
          <p:cNvPr id="18" name="text-130"/>
          <p:cNvSpPr txBox="1"/>
          <p:nvPr/>
        </p:nvSpPr>
        <p:spPr>
          <a:xfrm>
            <a:off x="758952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ideas go to a parking list, not my calendar.</a:t>
            </a:r>
            <a:endParaRPr lang="en-US" sz="1400" dirty="0"/>
          </a:p>
        </p:txBody>
      </p:sp>
      <p:sp>
        <p:nvSpPr>
          <p:cNvPr id="19" name="card-131"/>
          <p:cNvSpPr/>
          <p:nvPr/>
        </p:nvSpPr>
        <p:spPr>
          <a:xfrm>
            <a:off x="548640" y="3630168"/>
            <a:ext cx="5120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0" name="icon-circle-132"/>
          <p:cNvSpPr/>
          <p:nvPr/>
        </p:nvSpPr>
        <p:spPr>
          <a:xfrm>
            <a:off x="777240" y="390448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-13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8" y="4045306"/>
            <a:ext cx="358445" cy="358445"/>
          </a:xfrm>
          <a:prstGeom prst="rect">
            <a:avLst/>
          </a:prstGeom>
        </p:spPr>
      </p:pic>
      <p:sp>
        <p:nvSpPr>
          <p:cNvPr id="22" name="text-134"/>
          <p:cNvSpPr txBox="1"/>
          <p:nvPr/>
        </p:nvSpPr>
        <p:spPr>
          <a:xfrm>
            <a:off x="164592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Re-checking my direction</a:t>
            </a:r>
            <a:endParaRPr lang="en-US" sz="1700" dirty="0"/>
          </a:p>
        </p:txBody>
      </p:sp>
      <p:sp>
        <p:nvSpPr>
          <p:cNvPr id="23" name="text-135"/>
          <p:cNvSpPr txBox="1"/>
          <p:nvPr/>
        </p:nvSpPr>
        <p:spPr>
          <a:xfrm>
            <a:off x="1645920" y="4178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keep asking if the choice is right instead of moving forward.</a:t>
            </a:r>
            <a:endParaRPr lang="en-US" sz="1400" dirty="0"/>
          </a:p>
        </p:txBody>
      </p:sp>
      <p:sp>
        <p:nvSpPr>
          <p:cNvPr id="24" name="icon-circle-136"/>
          <p:cNvSpPr/>
          <p:nvPr/>
        </p:nvSpPr>
        <p:spPr>
          <a:xfrm>
            <a:off x="5852160" y="3995928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5" name="icon-137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4064508"/>
            <a:ext cx="320040" cy="320040"/>
          </a:xfrm>
          <a:prstGeom prst="rect">
            <a:avLst/>
          </a:prstGeom>
        </p:spPr>
      </p:pic>
      <p:sp>
        <p:nvSpPr>
          <p:cNvPr id="26" name="card-138"/>
          <p:cNvSpPr/>
          <p:nvPr/>
        </p:nvSpPr>
        <p:spPr>
          <a:xfrm>
            <a:off x="6492240" y="3630168"/>
            <a:ext cx="512064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/>
        </p:spPr>
      </p:sp>
      <p:sp>
        <p:nvSpPr>
          <p:cNvPr id="27" name="icon-circle-139"/>
          <p:cNvSpPr/>
          <p:nvPr/>
        </p:nvSpPr>
        <p:spPr>
          <a:xfrm>
            <a:off x="6720840" y="390448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140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1658" y="4045306"/>
            <a:ext cx="358445" cy="358445"/>
          </a:xfrm>
          <a:prstGeom prst="rect">
            <a:avLst/>
          </a:prstGeom>
        </p:spPr>
      </p:pic>
      <p:sp>
        <p:nvSpPr>
          <p:cNvPr id="29" name="text-141"/>
          <p:cNvSpPr txBox="1"/>
          <p:nvPr/>
        </p:nvSpPr>
        <p:spPr>
          <a:xfrm>
            <a:off x="758952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fixed weekly review</a:t>
            </a:r>
            <a:endParaRPr lang="en-US" sz="1700" dirty="0"/>
          </a:p>
        </p:txBody>
      </p:sp>
      <p:sp>
        <p:nvSpPr>
          <p:cNvPr id="30" name="text-142"/>
          <p:cNvSpPr txBox="1"/>
          <p:nvPr/>
        </p:nvSpPr>
        <p:spPr>
          <a:xfrm>
            <a:off x="7589520" y="4178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Decide once a week; no re-deciding in between.</a:t>
            </a:r>
            <a:endParaRPr lang="en-US" sz="1400" dirty="0"/>
          </a:p>
        </p:txBody>
      </p:sp>
      <p:sp>
        <p:nvSpPr>
          <p:cNvPr id="31" name="card-143"/>
          <p:cNvSpPr/>
          <p:nvPr/>
        </p:nvSpPr>
        <p:spPr>
          <a:xfrm>
            <a:off x="548640" y="4974336"/>
            <a:ext cx="5120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2" name="icon-circle-144"/>
          <p:cNvSpPr/>
          <p:nvPr/>
        </p:nvSpPr>
        <p:spPr>
          <a:xfrm>
            <a:off x="777240" y="5248656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icon-145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58" y="5389474"/>
            <a:ext cx="358445" cy="358445"/>
          </a:xfrm>
          <a:prstGeom prst="rect">
            <a:avLst/>
          </a:prstGeom>
        </p:spPr>
      </p:pic>
      <p:sp>
        <p:nvSpPr>
          <p:cNvPr id="34" name="text-146"/>
          <p:cNvSpPr txBox="1"/>
          <p:nvPr/>
        </p:nvSpPr>
        <p:spPr>
          <a:xfrm>
            <a:off x="1645920" y="5138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more than finishing</a:t>
            </a:r>
            <a:endParaRPr lang="en-US" sz="1700" dirty="0"/>
          </a:p>
        </p:txBody>
      </p:sp>
      <p:sp>
        <p:nvSpPr>
          <p:cNvPr id="35" name="text-147"/>
          <p:cNvSpPr txBox="1"/>
          <p:nvPr/>
        </p:nvSpPr>
        <p:spPr>
          <a:xfrm>
            <a:off x="1645920" y="55229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Too much planning delays real work and feedback.</a:t>
            </a:r>
            <a:endParaRPr lang="en-US" sz="1400" dirty="0"/>
          </a:p>
        </p:txBody>
      </p:sp>
      <p:sp>
        <p:nvSpPr>
          <p:cNvPr id="36" name="icon-circle-148"/>
          <p:cNvSpPr/>
          <p:nvPr/>
        </p:nvSpPr>
        <p:spPr>
          <a:xfrm>
            <a:off x="5852160" y="5340096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7" name="icon-149" descr="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0740" y="5408676"/>
            <a:ext cx="320040" cy="320040"/>
          </a:xfrm>
          <a:prstGeom prst="rect">
            <a:avLst/>
          </a:prstGeom>
        </p:spPr>
      </p:pic>
      <p:sp>
        <p:nvSpPr>
          <p:cNvPr id="38" name="card-150"/>
          <p:cNvSpPr/>
          <p:nvPr/>
        </p:nvSpPr>
        <p:spPr>
          <a:xfrm>
            <a:off x="6492240" y="4974336"/>
            <a:ext cx="512064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/>
        </p:spPr>
      </p:sp>
      <p:sp>
        <p:nvSpPr>
          <p:cNvPr id="39" name="icon-circle-151"/>
          <p:cNvSpPr/>
          <p:nvPr/>
        </p:nvSpPr>
        <p:spPr>
          <a:xfrm>
            <a:off x="6720840" y="524865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con-152" descr="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1658" y="5389474"/>
            <a:ext cx="358445" cy="358445"/>
          </a:xfrm>
          <a:prstGeom prst="rect">
            <a:avLst/>
          </a:prstGeom>
        </p:spPr>
      </p:pic>
      <p:sp>
        <p:nvSpPr>
          <p:cNvPr id="41" name="text-153"/>
          <p:cNvSpPr txBox="1"/>
          <p:nvPr/>
        </p:nvSpPr>
        <p:spPr>
          <a:xfrm>
            <a:off x="7589520" y="5138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finished work</a:t>
            </a:r>
            <a:endParaRPr lang="en-US" sz="1700" dirty="0"/>
          </a:p>
        </p:txBody>
      </p:sp>
      <p:sp>
        <p:nvSpPr>
          <p:cNvPr id="42" name="text-154"/>
          <p:cNvSpPr txBox="1"/>
          <p:nvPr/>
        </p:nvSpPr>
        <p:spPr>
          <a:xfrm>
            <a:off x="7589520" y="55229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tasks completed, not plans written.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06  ·  EXTERNAL  ·  OPPORTUNITIES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around me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Pathways I can use during my M.Tech journey.</a:t>
            </a:r>
            <a:endParaRPr lang="en-US" sz="1600" dirty="0"/>
          </a:p>
        </p:txBody>
      </p:sp>
      <p:sp>
        <p:nvSpPr>
          <p:cNvPr id="5" name="card-155"/>
          <p:cNvSpPr/>
          <p:nvPr/>
        </p:nvSpPr>
        <p:spPr>
          <a:xfrm>
            <a:off x="548640" y="2011680"/>
            <a:ext cx="3291840" cy="4114800"/>
          </a:xfrm>
          <a:prstGeom prst="roundRect">
            <a:avLst>
              <a:gd name="adj" fmla="val 3333"/>
            </a:avLst>
          </a:prstGeom>
          <a:solidFill>
            <a:schemeClr val="accent3"/>
          </a:solidFill>
          <a:ln/>
        </p:spPr>
      </p:sp>
      <p:sp>
        <p:nvSpPr>
          <p:cNvPr id="6" name="icon-circle-156"/>
          <p:cNvSpPr/>
          <p:nvPr/>
        </p:nvSpPr>
        <p:spPr>
          <a:xfrm>
            <a:off x="868680" y="233172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con-157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2502713"/>
            <a:ext cx="435254" cy="435254"/>
          </a:xfrm>
          <a:prstGeom prst="rect">
            <a:avLst/>
          </a:prstGeom>
        </p:spPr>
      </p:pic>
      <p:sp>
        <p:nvSpPr>
          <p:cNvPr id="8" name="text-158"/>
          <p:cNvSpPr txBox="1"/>
          <p:nvPr/>
        </p:nvSpPr>
        <p:spPr>
          <a:xfrm>
            <a:off x="86868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</a:rPr>
              <a:t>BIGGEST LEVER</a:t>
            </a:r>
            <a:endParaRPr lang="en-US" sz="1200" dirty="0"/>
          </a:p>
        </p:txBody>
      </p:sp>
      <p:sp>
        <p:nvSpPr>
          <p:cNvPr id="9" name="text-159"/>
          <p:cNvSpPr txBox="1"/>
          <p:nvPr/>
        </p:nvSpPr>
        <p:spPr>
          <a:xfrm>
            <a:off x="868680" y="3657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finished, published thesis</a:t>
            </a:r>
            <a:endParaRPr lang="en-US" sz="2600" dirty="0"/>
          </a:p>
        </p:txBody>
      </p:sp>
      <p:sp>
        <p:nvSpPr>
          <p:cNvPr id="10" name="text-160"/>
          <p:cNvSpPr txBox="1"/>
          <p:nvPr/>
        </p:nvSpPr>
        <p:spPr>
          <a:xfrm>
            <a:off x="868680" y="4846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It strengthens every other path: fellowships, research roles and industry.</a:t>
            </a:r>
            <a:endParaRPr lang="en-US" sz="1500" dirty="0"/>
          </a:p>
        </p:txBody>
      </p:sp>
      <p:sp>
        <p:nvSpPr>
          <p:cNvPr id="11" name="card-161"/>
          <p:cNvSpPr/>
          <p:nvPr/>
        </p:nvSpPr>
        <p:spPr>
          <a:xfrm>
            <a:off x="4114800" y="2011680"/>
            <a:ext cx="3703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icon-circle-162"/>
          <p:cNvSpPr/>
          <p:nvPr/>
        </p:nvSpPr>
        <p:spPr>
          <a:xfrm>
            <a:off x="4343400" y="230428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con-163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241" y="2449129"/>
            <a:ext cx="368686" cy="368686"/>
          </a:xfrm>
          <a:prstGeom prst="rect">
            <a:avLst/>
          </a:prstGeom>
        </p:spPr>
      </p:pic>
      <p:sp>
        <p:nvSpPr>
          <p:cNvPr id="14" name="text-164"/>
          <p:cNvSpPr txBox="1"/>
          <p:nvPr/>
        </p:nvSpPr>
        <p:spPr>
          <a:xfrm>
            <a:off x="5212080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M.Tech in CSE</a:t>
            </a:r>
            <a:endParaRPr lang="en-US" sz="1700" dirty="0"/>
          </a:p>
        </p:txBody>
      </p:sp>
      <p:sp>
        <p:nvSpPr>
          <p:cNvPr id="15" name="text-165"/>
          <p:cNvSpPr txBox="1"/>
          <p:nvPr/>
        </p:nvSpPr>
        <p:spPr>
          <a:xfrm>
            <a:off x="5212080" y="2560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Deepen AI, ML, algorithms and data foundations.</a:t>
            </a:r>
            <a:endParaRPr lang="en-US" sz="1400" dirty="0"/>
          </a:p>
        </p:txBody>
      </p:sp>
      <p:sp>
        <p:nvSpPr>
          <p:cNvPr id="16" name="card-166"/>
          <p:cNvSpPr/>
          <p:nvPr/>
        </p:nvSpPr>
        <p:spPr>
          <a:xfrm>
            <a:off x="7909560" y="2011680"/>
            <a:ext cx="3703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7" name="icon-circle-167"/>
          <p:cNvSpPr/>
          <p:nvPr/>
        </p:nvSpPr>
        <p:spPr>
          <a:xfrm>
            <a:off x="8138160" y="230428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con-168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001" y="2449129"/>
            <a:ext cx="368686" cy="368686"/>
          </a:xfrm>
          <a:prstGeom prst="rect">
            <a:avLst/>
          </a:prstGeom>
        </p:spPr>
      </p:pic>
      <p:sp>
        <p:nvSpPr>
          <p:cNvPr id="19" name="text-169"/>
          <p:cNvSpPr txBox="1"/>
          <p:nvPr/>
        </p:nvSpPr>
        <p:spPr>
          <a:xfrm>
            <a:off x="9006840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&amp; publication</a:t>
            </a:r>
            <a:endParaRPr lang="en-US" sz="1700" dirty="0"/>
          </a:p>
        </p:txBody>
      </p:sp>
      <p:sp>
        <p:nvSpPr>
          <p:cNvPr id="20" name="text-170"/>
          <p:cNvSpPr txBox="1"/>
          <p:nvPr/>
        </p:nvSpPr>
        <p:spPr>
          <a:xfrm>
            <a:off x="9006840" y="2560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Turn my Reflica research into a tested paper.</a:t>
            </a:r>
            <a:endParaRPr lang="en-US" sz="1400" dirty="0"/>
          </a:p>
        </p:txBody>
      </p:sp>
      <p:sp>
        <p:nvSpPr>
          <p:cNvPr id="21" name="card-171"/>
          <p:cNvSpPr/>
          <p:nvPr/>
        </p:nvSpPr>
        <p:spPr>
          <a:xfrm>
            <a:off x="4114800" y="3429000"/>
            <a:ext cx="3703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2" name="icon-circle-172"/>
          <p:cNvSpPr/>
          <p:nvPr/>
        </p:nvSpPr>
        <p:spPr>
          <a:xfrm>
            <a:off x="4343400" y="372160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-17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241" y="3866449"/>
            <a:ext cx="368686" cy="368686"/>
          </a:xfrm>
          <a:prstGeom prst="rect">
            <a:avLst/>
          </a:prstGeom>
        </p:spPr>
      </p:pic>
      <p:sp>
        <p:nvSpPr>
          <p:cNvPr id="24" name="text-174"/>
          <p:cNvSpPr txBox="1"/>
          <p:nvPr/>
        </p:nvSpPr>
        <p:spPr>
          <a:xfrm>
            <a:off x="5212080" y="3593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NET-JRF / GATE</a:t>
            </a:r>
            <a:endParaRPr lang="en-US" sz="1700" dirty="0"/>
          </a:p>
        </p:txBody>
      </p:sp>
      <p:sp>
        <p:nvSpPr>
          <p:cNvPr id="25" name="text-175"/>
          <p:cNvSpPr txBox="1"/>
          <p:nvPr/>
        </p:nvSpPr>
        <p:spPr>
          <a:xfrm>
            <a:off x="521208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Fellowships and funding, subject to eligibility.</a:t>
            </a:r>
            <a:endParaRPr lang="en-US" sz="1400" dirty="0"/>
          </a:p>
        </p:txBody>
      </p:sp>
      <p:sp>
        <p:nvSpPr>
          <p:cNvPr id="26" name="card-176"/>
          <p:cNvSpPr/>
          <p:nvPr/>
        </p:nvSpPr>
        <p:spPr>
          <a:xfrm>
            <a:off x="7909560" y="3429000"/>
            <a:ext cx="3703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7" name="icon-circle-177"/>
          <p:cNvSpPr/>
          <p:nvPr/>
        </p:nvSpPr>
        <p:spPr>
          <a:xfrm>
            <a:off x="8138160" y="372160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8" name="icon-178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001" y="3866449"/>
            <a:ext cx="368686" cy="368686"/>
          </a:xfrm>
          <a:prstGeom prst="rect">
            <a:avLst/>
          </a:prstGeom>
        </p:spPr>
      </p:pic>
      <p:sp>
        <p:nvSpPr>
          <p:cNvPr id="29" name="text-179"/>
          <p:cNvSpPr txBox="1"/>
          <p:nvPr/>
        </p:nvSpPr>
        <p:spPr>
          <a:xfrm>
            <a:off x="9006840" y="3593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 &amp; network</a:t>
            </a:r>
            <a:endParaRPr lang="en-US" sz="1700" dirty="0"/>
          </a:p>
        </p:txBody>
      </p:sp>
      <p:sp>
        <p:nvSpPr>
          <p:cNvPr id="30" name="text-180"/>
          <p:cNvSpPr txBox="1"/>
          <p:nvPr/>
        </p:nvSpPr>
        <p:spPr>
          <a:xfrm>
            <a:off x="900684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Faculty, peers, seminars and research groups.</a:t>
            </a:r>
            <a:endParaRPr lang="en-US" sz="1400" dirty="0"/>
          </a:p>
        </p:txBody>
      </p:sp>
      <p:sp>
        <p:nvSpPr>
          <p:cNvPr id="31" name="card-181"/>
          <p:cNvSpPr/>
          <p:nvPr/>
        </p:nvSpPr>
        <p:spPr>
          <a:xfrm>
            <a:off x="4114800" y="4846320"/>
            <a:ext cx="3703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2" name="icon-circle-182"/>
          <p:cNvSpPr/>
          <p:nvPr/>
        </p:nvSpPr>
        <p:spPr>
          <a:xfrm>
            <a:off x="4343400" y="513892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3" name="icon-183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8241" y="5283769"/>
            <a:ext cx="368686" cy="368686"/>
          </a:xfrm>
          <a:prstGeom prst="rect">
            <a:avLst/>
          </a:prstGeom>
        </p:spPr>
      </p:pic>
      <p:sp>
        <p:nvSpPr>
          <p:cNvPr id="34" name="text-184"/>
          <p:cNvSpPr txBox="1"/>
          <p:nvPr/>
        </p:nvSpPr>
        <p:spPr>
          <a:xfrm>
            <a:off x="5212080" y="5010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&amp; portfolio</a:t>
            </a:r>
            <a:endParaRPr lang="en-US" sz="1700" dirty="0"/>
          </a:p>
        </p:txBody>
      </p:sp>
      <p:sp>
        <p:nvSpPr>
          <p:cNvPr id="35" name="text-185"/>
          <p:cNvSpPr txBox="1"/>
          <p:nvPr/>
        </p:nvSpPr>
        <p:spPr>
          <a:xfrm>
            <a:off x="5212080" y="5394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Reproducible code and documented experiments.</a:t>
            </a:r>
            <a:endParaRPr lang="en-US" sz="1400" dirty="0"/>
          </a:p>
        </p:txBody>
      </p:sp>
      <p:sp>
        <p:nvSpPr>
          <p:cNvPr id="36" name="card-186"/>
          <p:cNvSpPr/>
          <p:nvPr/>
        </p:nvSpPr>
        <p:spPr>
          <a:xfrm>
            <a:off x="7909560" y="4846320"/>
            <a:ext cx="3703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7" name="icon-circle-187"/>
          <p:cNvSpPr/>
          <p:nvPr/>
        </p:nvSpPr>
        <p:spPr>
          <a:xfrm>
            <a:off x="8138160" y="513892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8" name="icon-188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001" y="5283769"/>
            <a:ext cx="368686" cy="368686"/>
          </a:xfrm>
          <a:prstGeom prst="rect">
            <a:avLst/>
          </a:prstGeom>
        </p:spPr>
      </p:pic>
      <p:sp>
        <p:nvSpPr>
          <p:cNvPr id="39" name="text-189"/>
          <p:cNvSpPr txBox="1"/>
          <p:nvPr/>
        </p:nvSpPr>
        <p:spPr>
          <a:xfrm>
            <a:off x="9006840" y="5010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skills in demand</a:t>
            </a:r>
            <a:endParaRPr lang="en-US" sz="1700" dirty="0"/>
          </a:p>
        </p:txBody>
      </p:sp>
      <p:sp>
        <p:nvSpPr>
          <p:cNvPr id="40" name="text-190"/>
          <p:cNvSpPr txBox="1"/>
          <p:nvPr/>
        </p:nvSpPr>
        <p:spPr>
          <a:xfrm>
            <a:off x="9006840" y="5394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Industry and research both need AI builders.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07  ·  EXTERNAL  ·  THREATS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I need to manage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My own rating of how much each could hurt my progress.</a:t>
            </a:r>
            <a:endParaRPr lang="en-US" sz="1600" dirty="0"/>
          </a:p>
        </p:txBody>
      </p:sp>
      <p:sp>
        <p:nvSpPr>
          <p:cNvPr id="5" name="text-191"/>
          <p:cNvSpPr txBox="1"/>
          <p:nvPr/>
        </p:nvSpPr>
        <p:spPr>
          <a:xfrm>
            <a:off x="937260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IMPACT</a:t>
            </a:r>
            <a:endParaRPr lang="en-US" sz="1100" dirty="0"/>
          </a:p>
        </p:txBody>
      </p:sp>
      <p:sp>
        <p:nvSpPr>
          <p:cNvPr id="6" name="card-192"/>
          <p:cNvSpPr/>
          <p:nvPr/>
        </p:nvSpPr>
        <p:spPr>
          <a:xfrm>
            <a:off x="548640" y="2103120"/>
            <a:ext cx="11064240" cy="576072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7" name="icon-circle-193"/>
          <p:cNvSpPr/>
          <p:nvPr/>
        </p:nvSpPr>
        <p:spPr>
          <a:xfrm>
            <a:off x="713232" y="2194560"/>
            <a:ext cx="393192" cy="39319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-194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2273198"/>
            <a:ext cx="235915" cy="235915"/>
          </a:xfrm>
          <a:prstGeom prst="rect">
            <a:avLst/>
          </a:prstGeom>
        </p:spPr>
      </p:pic>
      <p:sp>
        <p:nvSpPr>
          <p:cNvPr id="9" name="text-195"/>
          <p:cNvSpPr txBox="1"/>
          <p:nvPr/>
        </p:nvSpPr>
        <p:spPr>
          <a:xfrm>
            <a:off x="1325880" y="2103120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priorities</a:t>
            </a:r>
            <a:endParaRPr lang="en-US" sz="1600" dirty="0"/>
          </a:p>
        </p:txBody>
      </p:sp>
      <p:sp>
        <p:nvSpPr>
          <p:cNvPr id="10" name="text-196"/>
          <p:cNvSpPr txBox="1"/>
          <p:nvPr/>
        </p:nvSpPr>
        <p:spPr>
          <a:xfrm>
            <a:off x="4754880" y="2103120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Too many goals at once divide my attention.</a:t>
            </a:r>
            <a:endParaRPr lang="en-US" sz="1400" dirty="0"/>
          </a:p>
        </p:txBody>
      </p:sp>
      <p:sp>
        <p:nvSpPr>
          <p:cNvPr id="11" name="dot-197"/>
          <p:cNvSpPr/>
          <p:nvPr/>
        </p:nvSpPr>
        <p:spPr>
          <a:xfrm>
            <a:off x="9372600" y="2286000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dot-198"/>
          <p:cNvSpPr/>
          <p:nvPr/>
        </p:nvSpPr>
        <p:spPr>
          <a:xfrm>
            <a:off x="9665208" y="2286000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dot-199"/>
          <p:cNvSpPr/>
          <p:nvPr/>
        </p:nvSpPr>
        <p:spPr>
          <a:xfrm>
            <a:off x="9957816" y="2286000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-200"/>
          <p:cNvSpPr txBox="1"/>
          <p:nvPr/>
        </p:nvSpPr>
        <p:spPr>
          <a:xfrm>
            <a:off x="10332720" y="2103120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High</a:t>
            </a:r>
            <a:endParaRPr lang="en-US" sz="1400" dirty="0"/>
          </a:p>
        </p:txBody>
      </p:sp>
      <p:sp>
        <p:nvSpPr>
          <p:cNvPr id="15" name="card-201"/>
          <p:cNvSpPr/>
          <p:nvPr/>
        </p:nvSpPr>
        <p:spPr>
          <a:xfrm>
            <a:off x="548640" y="2770632"/>
            <a:ext cx="11064240" cy="576072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16" name="icon-circle-202"/>
          <p:cNvSpPr/>
          <p:nvPr/>
        </p:nvSpPr>
        <p:spPr>
          <a:xfrm>
            <a:off x="713232" y="2862072"/>
            <a:ext cx="393192" cy="39319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-203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" y="2940710"/>
            <a:ext cx="235915" cy="235915"/>
          </a:xfrm>
          <a:prstGeom prst="rect">
            <a:avLst/>
          </a:prstGeom>
        </p:spPr>
      </p:pic>
      <p:sp>
        <p:nvSpPr>
          <p:cNvPr id="18" name="text-204"/>
          <p:cNvSpPr txBox="1"/>
          <p:nvPr/>
        </p:nvSpPr>
        <p:spPr>
          <a:xfrm>
            <a:off x="1325880" y="2770632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Coursework &amp; exam pressure</a:t>
            </a:r>
            <a:endParaRPr lang="en-US" sz="1600" dirty="0"/>
          </a:p>
        </p:txBody>
      </p:sp>
      <p:sp>
        <p:nvSpPr>
          <p:cNvPr id="19" name="text-205"/>
          <p:cNvSpPr txBox="1"/>
          <p:nvPr/>
        </p:nvSpPr>
        <p:spPr>
          <a:xfrm>
            <a:off x="4754880" y="2770632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Deadlines compete with research time.</a:t>
            </a:r>
            <a:endParaRPr lang="en-US" sz="1400" dirty="0"/>
          </a:p>
        </p:txBody>
      </p:sp>
      <p:sp>
        <p:nvSpPr>
          <p:cNvPr id="20" name="dot-206"/>
          <p:cNvSpPr/>
          <p:nvPr/>
        </p:nvSpPr>
        <p:spPr>
          <a:xfrm>
            <a:off x="9372600" y="2953512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dot-207"/>
          <p:cNvSpPr/>
          <p:nvPr/>
        </p:nvSpPr>
        <p:spPr>
          <a:xfrm>
            <a:off x="9665208" y="2953512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dot-208"/>
          <p:cNvSpPr/>
          <p:nvPr/>
        </p:nvSpPr>
        <p:spPr>
          <a:xfrm>
            <a:off x="9957816" y="2953512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text-209"/>
          <p:cNvSpPr txBox="1"/>
          <p:nvPr/>
        </p:nvSpPr>
        <p:spPr>
          <a:xfrm>
            <a:off x="10332720" y="2770632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High</a:t>
            </a:r>
            <a:endParaRPr lang="en-US" sz="1400" dirty="0"/>
          </a:p>
        </p:txBody>
      </p:sp>
      <p:sp>
        <p:nvSpPr>
          <p:cNvPr id="24" name="card-210"/>
          <p:cNvSpPr/>
          <p:nvPr/>
        </p:nvSpPr>
        <p:spPr>
          <a:xfrm>
            <a:off x="548640" y="3438144"/>
            <a:ext cx="11064240" cy="576072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25" name="icon-circle-211"/>
          <p:cNvSpPr/>
          <p:nvPr/>
        </p:nvSpPr>
        <p:spPr>
          <a:xfrm>
            <a:off x="713232" y="3529584"/>
            <a:ext cx="393192" cy="39319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con-21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" y="3608222"/>
            <a:ext cx="235915" cy="235915"/>
          </a:xfrm>
          <a:prstGeom prst="rect">
            <a:avLst/>
          </a:prstGeom>
        </p:spPr>
      </p:pic>
      <p:sp>
        <p:nvSpPr>
          <p:cNvPr id="27" name="text-213"/>
          <p:cNvSpPr txBox="1"/>
          <p:nvPr/>
        </p:nvSpPr>
        <p:spPr>
          <a:xfrm>
            <a:off x="1325880" y="3438144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selection</a:t>
            </a:r>
            <a:endParaRPr lang="en-US" sz="1600" dirty="0"/>
          </a:p>
        </p:txBody>
      </p:sp>
      <p:sp>
        <p:nvSpPr>
          <p:cNvPr id="28" name="text-214"/>
          <p:cNvSpPr txBox="1"/>
          <p:nvPr/>
        </p:nvSpPr>
        <p:spPr>
          <a:xfrm>
            <a:off x="4754880" y="3438144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Fellowships and roles are uncertain.</a:t>
            </a:r>
            <a:endParaRPr lang="en-US" sz="1400" dirty="0"/>
          </a:p>
        </p:txBody>
      </p:sp>
      <p:sp>
        <p:nvSpPr>
          <p:cNvPr id="29" name="dot-215"/>
          <p:cNvSpPr/>
          <p:nvPr/>
        </p:nvSpPr>
        <p:spPr>
          <a:xfrm>
            <a:off x="9372600" y="3621024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0" name="dot-216"/>
          <p:cNvSpPr/>
          <p:nvPr/>
        </p:nvSpPr>
        <p:spPr>
          <a:xfrm>
            <a:off x="9665208" y="3621024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1" name="dot-217"/>
          <p:cNvSpPr/>
          <p:nvPr/>
        </p:nvSpPr>
        <p:spPr>
          <a:xfrm>
            <a:off x="9957816" y="3621024"/>
            <a:ext cx="210312" cy="2103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2" name="text-218"/>
          <p:cNvSpPr txBox="1"/>
          <p:nvPr/>
        </p:nvSpPr>
        <p:spPr>
          <a:xfrm>
            <a:off x="10332720" y="3438144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Medium</a:t>
            </a:r>
            <a:endParaRPr lang="en-US" sz="1400" dirty="0"/>
          </a:p>
        </p:txBody>
      </p:sp>
      <p:sp>
        <p:nvSpPr>
          <p:cNvPr id="33" name="card-219"/>
          <p:cNvSpPr/>
          <p:nvPr/>
        </p:nvSpPr>
        <p:spPr>
          <a:xfrm>
            <a:off x="548640" y="4105656"/>
            <a:ext cx="11064240" cy="576072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34" name="icon-circle-220"/>
          <p:cNvSpPr/>
          <p:nvPr/>
        </p:nvSpPr>
        <p:spPr>
          <a:xfrm>
            <a:off x="713232" y="4197096"/>
            <a:ext cx="393192" cy="39319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5" name="icon-221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" y="4275734"/>
            <a:ext cx="235915" cy="235915"/>
          </a:xfrm>
          <a:prstGeom prst="rect">
            <a:avLst/>
          </a:prstGeom>
        </p:spPr>
      </p:pic>
      <p:sp>
        <p:nvSpPr>
          <p:cNvPr id="36" name="text-222"/>
          <p:cNvSpPr txBox="1"/>
          <p:nvPr/>
        </p:nvSpPr>
        <p:spPr>
          <a:xfrm>
            <a:off x="1325880" y="4105656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Fast-changing technology</a:t>
            </a:r>
            <a:endParaRPr lang="en-US" sz="1600" dirty="0"/>
          </a:p>
        </p:txBody>
      </p:sp>
      <p:sp>
        <p:nvSpPr>
          <p:cNvPr id="37" name="text-223"/>
          <p:cNvSpPr txBox="1"/>
          <p:nvPr/>
        </p:nvSpPr>
        <p:spPr>
          <a:xfrm>
            <a:off x="4754880" y="4105656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Tools and models change every few months.</a:t>
            </a:r>
            <a:endParaRPr lang="en-US" sz="1400" dirty="0"/>
          </a:p>
        </p:txBody>
      </p:sp>
      <p:sp>
        <p:nvSpPr>
          <p:cNvPr id="38" name="dot-224"/>
          <p:cNvSpPr/>
          <p:nvPr/>
        </p:nvSpPr>
        <p:spPr>
          <a:xfrm>
            <a:off x="9372600" y="4288536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9" name="dot-225"/>
          <p:cNvSpPr/>
          <p:nvPr/>
        </p:nvSpPr>
        <p:spPr>
          <a:xfrm>
            <a:off x="9665208" y="4288536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0" name="dot-226"/>
          <p:cNvSpPr/>
          <p:nvPr/>
        </p:nvSpPr>
        <p:spPr>
          <a:xfrm>
            <a:off x="9957816" y="4288536"/>
            <a:ext cx="210312" cy="2103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1" name="text-227"/>
          <p:cNvSpPr txBox="1"/>
          <p:nvPr/>
        </p:nvSpPr>
        <p:spPr>
          <a:xfrm>
            <a:off x="10332720" y="4105656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Medium</a:t>
            </a:r>
            <a:endParaRPr lang="en-US" sz="1400" dirty="0"/>
          </a:p>
        </p:txBody>
      </p:sp>
      <p:sp>
        <p:nvSpPr>
          <p:cNvPr id="42" name="card-228"/>
          <p:cNvSpPr/>
          <p:nvPr/>
        </p:nvSpPr>
        <p:spPr>
          <a:xfrm>
            <a:off x="548640" y="4773168"/>
            <a:ext cx="11064240" cy="576072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43" name="icon-circle-229"/>
          <p:cNvSpPr/>
          <p:nvPr/>
        </p:nvSpPr>
        <p:spPr>
          <a:xfrm>
            <a:off x="713232" y="4864608"/>
            <a:ext cx="393192" cy="39319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4" name="icon-230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" y="4943246"/>
            <a:ext cx="235915" cy="235915"/>
          </a:xfrm>
          <a:prstGeom prst="rect">
            <a:avLst/>
          </a:prstGeom>
        </p:spPr>
      </p:pic>
      <p:sp>
        <p:nvSpPr>
          <p:cNvPr id="45" name="text-231"/>
          <p:cNvSpPr txBox="1"/>
          <p:nvPr/>
        </p:nvSpPr>
        <p:spPr>
          <a:xfrm>
            <a:off x="1325880" y="477316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Overplanning</a:t>
            </a:r>
            <a:endParaRPr lang="en-US" sz="1600" dirty="0"/>
          </a:p>
        </p:txBody>
      </p:sp>
      <p:sp>
        <p:nvSpPr>
          <p:cNvPr id="46" name="text-232"/>
          <p:cNvSpPr txBox="1"/>
          <p:nvPr/>
        </p:nvSpPr>
        <p:spPr>
          <a:xfrm>
            <a:off x="4754880" y="4773168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Planning too much delays practical work.</a:t>
            </a:r>
            <a:endParaRPr lang="en-US" sz="1400" dirty="0"/>
          </a:p>
        </p:txBody>
      </p:sp>
      <p:sp>
        <p:nvSpPr>
          <p:cNvPr id="47" name="dot-233"/>
          <p:cNvSpPr/>
          <p:nvPr/>
        </p:nvSpPr>
        <p:spPr>
          <a:xfrm>
            <a:off x="9372600" y="4956048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8" name="dot-234"/>
          <p:cNvSpPr/>
          <p:nvPr/>
        </p:nvSpPr>
        <p:spPr>
          <a:xfrm>
            <a:off x="9665208" y="4956048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9" name="dot-235"/>
          <p:cNvSpPr/>
          <p:nvPr/>
        </p:nvSpPr>
        <p:spPr>
          <a:xfrm>
            <a:off x="9957816" y="4956048"/>
            <a:ext cx="210312" cy="2103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0" name="text-236"/>
          <p:cNvSpPr txBox="1"/>
          <p:nvPr/>
        </p:nvSpPr>
        <p:spPr>
          <a:xfrm>
            <a:off x="10332720" y="4773168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Medium</a:t>
            </a:r>
            <a:endParaRPr lang="en-US" sz="1400" dirty="0"/>
          </a:p>
        </p:txBody>
      </p:sp>
      <p:sp>
        <p:nvSpPr>
          <p:cNvPr id="51" name="card-237"/>
          <p:cNvSpPr/>
          <p:nvPr/>
        </p:nvSpPr>
        <p:spPr>
          <a:xfrm>
            <a:off x="548640" y="5440680"/>
            <a:ext cx="11064240" cy="576072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52" name="icon-circle-238"/>
          <p:cNvSpPr/>
          <p:nvPr/>
        </p:nvSpPr>
        <p:spPr>
          <a:xfrm>
            <a:off x="713232" y="5532120"/>
            <a:ext cx="393192" cy="39319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3" name="icon-239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" y="5610758"/>
            <a:ext cx="235915" cy="235915"/>
          </a:xfrm>
          <a:prstGeom prst="rect">
            <a:avLst/>
          </a:prstGeom>
        </p:spPr>
      </p:pic>
      <p:sp>
        <p:nvSpPr>
          <p:cNvPr id="54" name="text-240"/>
          <p:cNvSpPr txBox="1"/>
          <p:nvPr/>
        </p:nvSpPr>
        <p:spPr>
          <a:xfrm>
            <a:off x="1325880" y="5440680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</a:t>
            </a:r>
            <a:endParaRPr lang="en-US" sz="1600" dirty="0"/>
          </a:p>
        </p:txBody>
      </p:sp>
      <p:sp>
        <p:nvSpPr>
          <p:cNvPr id="55" name="text-241"/>
          <p:cNvSpPr txBox="1"/>
          <p:nvPr/>
        </p:nvSpPr>
        <p:spPr>
          <a:xfrm>
            <a:off x="4754880" y="5440680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unrealistic pace lowers motivation.</a:t>
            </a:r>
            <a:endParaRPr lang="en-US" sz="1400" dirty="0"/>
          </a:p>
        </p:txBody>
      </p:sp>
      <p:sp>
        <p:nvSpPr>
          <p:cNvPr id="56" name="dot-242"/>
          <p:cNvSpPr/>
          <p:nvPr/>
        </p:nvSpPr>
        <p:spPr>
          <a:xfrm>
            <a:off x="9372600" y="5623560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7" name="dot-243"/>
          <p:cNvSpPr/>
          <p:nvPr/>
        </p:nvSpPr>
        <p:spPr>
          <a:xfrm>
            <a:off x="9665208" y="5623560"/>
            <a:ext cx="210312" cy="21031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8" name="dot-244"/>
          <p:cNvSpPr/>
          <p:nvPr/>
        </p:nvSpPr>
        <p:spPr>
          <a:xfrm>
            <a:off x="9957816" y="5623560"/>
            <a:ext cx="210312" cy="2103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9" name="text-245"/>
          <p:cNvSpPr txBox="1"/>
          <p:nvPr/>
        </p:nvSpPr>
        <p:spPr>
          <a:xfrm>
            <a:off x="10332720" y="5440680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08  ·  FROM ANALYSIS TO STRATEGY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four boxes combine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Each strategy pairs an internal factor with an external one.</a:t>
            </a:r>
            <a:endParaRPr lang="en-US" sz="1600" dirty="0"/>
          </a:p>
        </p:txBody>
      </p:sp>
      <p:sp>
        <p:nvSpPr>
          <p:cNvPr id="5" name="card-246"/>
          <p:cNvSpPr/>
          <p:nvPr/>
        </p:nvSpPr>
        <p:spPr>
          <a:xfrm>
            <a:off x="2606040" y="1965960"/>
            <a:ext cx="443484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/>
        </p:spPr>
      </p:sp>
      <p:sp>
        <p:nvSpPr>
          <p:cNvPr id="6" name="text-247"/>
          <p:cNvSpPr txBox="1"/>
          <p:nvPr/>
        </p:nvSpPr>
        <p:spPr>
          <a:xfrm>
            <a:off x="2606040" y="1965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OPPORTUNITIES</a:t>
            </a:r>
            <a:endParaRPr lang="en-US" sz="1300" dirty="0"/>
          </a:p>
        </p:txBody>
      </p:sp>
      <p:sp>
        <p:nvSpPr>
          <p:cNvPr id="7" name="card-248"/>
          <p:cNvSpPr/>
          <p:nvPr/>
        </p:nvSpPr>
        <p:spPr>
          <a:xfrm>
            <a:off x="7178040" y="1965960"/>
            <a:ext cx="443484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  <a:ln/>
        </p:spPr>
      </p:sp>
      <p:sp>
        <p:nvSpPr>
          <p:cNvPr id="8" name="text-249"/>
          <p:cNvSpPr txBox="1"/>
          <p:nvPr/>
        </p:nvSpPr>
        <p:spPr>
          <a:xfrm>
            <a:off x="7178040" y="1965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THREATS</a:t>
            </a:r>
            <a:endParaRPr lang="en-US" sz="1300" dirty="0"/>
          </a:p>
        </p:txBody>
      </p:sp>
      <p:sp>
        <p:nvSpPr>
          <p:cNvPr id="9" name="card-250"/>
          <p:cNvSpPr/>
          <p:nvPr/>
        </p:nvSpPr>
        <p:spPr>
          <a:xfrm>
            <a:off x="548640" y="2606040"/>
            <a:ext cx="187452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</p:spPr>
      </p:sp>
      <p:sp>
        <p:nvSpPr>
          <p:cNvPr id="10" name="text-251"/>
          <p:cNvSpPr txBox="1"/>
          <p:nvPr/>
        </p:nvSpPr>
        <p:spPr>
          <a:xfrm>
            <a:off x="548640" y="260604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STRENGTHS</a:t>
            </a:r>
            <a:endParaRPr lang="en-US" sz="1300" dirty="0"/>
          </a:p>
        </p:txBody>
      </p:sp>
      <p:sp>
        <p:nvSpPr>
          <p:cNvPr id="11" name="card-252"/>
          <p:cNvSpPr/>
          <p:nvPr/>
        </p:nvSpPr>
        <p:spPr>
          <a:xfrm>
            <a:off x="548640" y="4434840"/>
            <a:ext cx="1874520" cy="1691640"/>
          </a:xfrm>
          <a:prstGeom prst="roundRect">
            <a:avLst>
              <a:gd name="adj" fmla="val 6486"/>
            </a:avLst>
          </a:prstGeom>
          <a:solidFill>
            <a:schemeClr val="accent2"/>
          </a:solidFill>
          <a:ln/>
        </p:spPr>
      </p:sp>
      <p:sp>
        <p:nvSpPr>
          <p:cNvPr id="12" name="text-253"/>
          <p:cNvSpPr txBox="1"/>
          <p:nvPr/>
        </p:nvSpPr>
        <p:spPr>
          <a:xfrm>
            <a:off x="548640" y="443484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WEAKNESSES</a:t>
            </a:r>
            <a:endParaRPr lang="en-US" sz="1300" dirty="0"/>
          </a:p>
        </p:txBody>
      </p:sp>
      <p:sp>
        <p:nvSpPr>
          <p:cNvPr id="13" name="card-254"/>
          <p:cNvSpPr/>
          <p:nvPr/>
        </p:nvSpPr>
        <p:spPr>
          <a:xfrm>
            <a:off x="2606040" y="2606040"/>
            <a:ext cx="44348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4" name="text-255"/>
          <p:cNvSpPr txBox="1"/>
          <p:nvPr/>
        </p:nvSpPr>
        <p:spPr>
          <a:xfrm>
            <a:off x="292608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+ O</a:t>
            </a:r>
            <a:endParaRPr lang="en-US" sz="2000" dirty="0"/>
          </a:p>
        </p:txBody>
      </p:sp>
      <p:sp>
        <p:nvSpPr>
          <p:cNvPr id="15" name="text-256"/>
          <p:cNvSpPr txBox="1"/>
          <p:nvPr/>
        </p:nvSpPr>
        <p:spPr>
          <a:xfrm>
            <a:off x="292608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strengths on opportunities</a:t>
            </a:r>
            <a:endParaRPr lang="en-US" sz="1700" dirty="0"/>
          </a:p>
        </p:txBody>
      </p:sp>
      <p:sp>
        <p:nvSpPr>
          <p:cNvPr id="16" name="text-257"/>
          <p:cNvSpPr txBox="1"/>
          <p:nvPr/>
        </p:nvSpPr>
        <p:spPr>
          <a:xfrm>
            <a:off x="292608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Turn my research mindset into a published thesis.</a:t>
            </a:r>
            <a:endParaRPr lang="en-US" sz="1500" dirty="0"/>
          </a:p>
        </p:txBody>
      </p:sp>
      <p:sp>
        <p:nvSpPr>
          <p:cNvPr id="17" name="card-258"/>
          <p:cNvSpPr/>
          <p:nvPr/>
        </p:nvSpPr>
        <p:spPr>
          <a:xfrm>
            <a:off x="7178040" y="2606040"/>
            <a:ext cx="44348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8" name="text-259"/>
          <p:cNvSpPr txBox="1"/>
          <p:nvPr/>
        </p:nvSpPr>
        <p:spPr>
          <a:xfrm>
            <a:off x="749808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+ T</a:t>
            </a:r>
            <a:endParaRPr lang="en-US" sz="2000" dirty="0"/>
          </a:p>
        </p:txBody>
      </p:sp>
      <p:sp>
        <p:nvSpPr>
          <p:cNvPr id="19" name="text-260"/>
          <p:cNvSpPr txBox="1"/>
          <p:nvPr/>
        </p:nvSpPr>
        <p:spPr>
          <a:xfrm>
            <a:off x="749808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strengths against threats</a:t>
            </a:r>
            <a:endParaRPr lang="en-US" sz="1700" dirty="0"/>
          </a:p>
        </p:txBody>
      </p:sp>
      <p:sp>
        <p:nvSpPr>
          <p:cNvPr id="20" name="text-261"/>
          <p:cNvSpPr txBox="1"/>
          <p:nvPr/>
        </p:nvSpPr>
        <p:spPr>
          <a:xfrm>
            <a:off x="749808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Use my builder skills to keep up as tools change.</a:t>
            </a:r>
            <a:endParaRPr lang="en-US" sz="1500" dirty="0"/>
          </a:p>
        </p:txBody>
      </p:sp>
      <p:sp>
        <p:nvSpPr>
          <p:cNvPr id="21" name="card-262"/>
          <p:cNvSpPr/>
          <p:nvPr/>
        </p:nvSpPr>
        <p:spPr>
          <a:xfrm>
            <a:off x="2606040" y="4434840"/>
            <a:ext cx="44348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2" name="text-263"/>
          <p:cNvSpPr txBox="1"/>
          <p:nvPr/>
        </p:nvSpPr>
        <p:spPr>
          <a:xfrm>
            <a:off x="2926080" y="4663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+ O</a:t>
            </a:r>
            <a:endParaRPr lang="en-US" sz="2000" dirty="0"/>
          </a:p>
        </p:txBody>
      </p:sp>
      <p:sp>
        <p:nvSpPr>
          <p:cNvPr id="23" name="text-264"/>
          <p:cNvSpPr txBox="1"/>
          <p:nvPr/>
        </p:nvSpPr>
        <p:spPr>
          <a:xfrm>
            <a:off x="2926080" y="5074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weaknesses with opportunities</a:t>
            </a:r>
            <a:endParaRPr lang="en-US" sz="1700" dirty="0"/>
          </a:p>
        </p:txBody>
      </p:sp>
      <p:sp>
        <p:nvSpPr>
          <p:cNvPr id="24" name="text-265"/>
          <p:cNvSpPr txBox="1"/>
          <p:nvPr/>
        </p:nvSpPr>
        <p:spPr>
          <a:xfrm>
            <a:off x="2926080" y="5440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Use mentors and deadlines to hold one focus.</a:t>
            </a:r>
            <a:endParaRPr lang="en-US" sz="1500" dirty="0"/>
          </a:p>
        </p:txBody>
      </p:sp>
      <p:sp>
        <p:nvSpPr>
          <p:cNvPr id="25" name="card-266"/>
          <p:cNvSpPr/>
          <p:nvPr/>
        </p:nvSpPr>
        <p:spPr>
          <a:xfrm>
            <a:off x="7178040" y="4434840"/>
            <a:ext cx="4434840" cy="1691640"/>
          </a:xfrm>
          <a:prstGeom prst="roundRect">
            <a:avLst>
              <a:gd name="adj" fmla="val 6486"/>
            </a:avLst>
          </a:prstGeom>
          <a:solidFill>
            <a:schemeClr val="tx1"/>
          </a:solidFill>
          <a:ln/>
        </p:spPr>
      </p:sp>
      <p:sp>
        <p:nvSpPr>
          <p:cNvPr id="26" name="text-267"/>
          <p:cNvSpPr txBox="1"/>
          <p:nvPr/>
        </p:nvSpPr>
        <p:spPr>
          <a:xfrm>
            <a:off x="7498080" y="4663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+ T</a:t>
            </a:r>
            <a:endParaRPr lang="en-US" sz="2000" dirty="0"/>
          </a:p>
        </p:txBody>
      </p:sp>
      <p:sp>
        <p:nvSpPr>
          <p:cNvPr id="27" name="text-268"/>
          <p:cNvSpPr txBox="1"/>
          <p:nvPr/>
        </p:nvSpPr>
        <p:spPr>
          <a:xfrm>
            <a:off x="7498080" y="5074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the danger zone</a:t>
            </a:r>
            <a:endParaRPr lang="en-US" sz="1700" dirty="0"/>
          </a:p>
        </p:txBody>
      </p:sp>
      <p:sp>
        <p:nvSpPr>
          <p:cNvPr id="28" name="text-269"/>
          <p:cNvSpPr txBox="1"/>
          <p:nvPr/>
        </p:nvSpPr>
        <p:spPr>
          <a:xfrm>
            <a:off x="7498080" y="5440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One priority and a weekly review against scattered goals.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09  ·  ACTION PLAN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next 90 days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main priority: finish and evaluate my thesis experiment.</a:t>
            </a:r>
            <a:endParaRPr lang="en-US" sz="1600" dirty="0"/>
          </a:p>
        </p:txBody>
      </p:sp>
      <p:sp>
        <p:nvSpPr>
          <p:cNvPr id="5" name="step-270"/>
          <p:cNvSpPr/>
          <p:nvPr/>
        </p:nvSpPr>
        <p:spPr>
          <a:xfrm>
            <a:off x="548640" y="1965960"/>
            <a:ext cx="3566160" cy="640080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6" name="text-271"/>
          <p:cNvSpPr txBox="1"/>
          <p:nvPr/>
        </p:nvSpPr>
        <p:spPr>
          <a:xfrm>
            <a:off x="822960" y="1965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</a:rPr>
              <a:t>MONTH 1  ·  FOCUS</a:t>
            </a:r>
            <a:endParaRPr lang="en-US" sz="1400" dirty="0"/>
          </a:p>
        </p:txBody>
      </p:sp>
      <p:sp>
        <p:nvSpPr>
          <p:cNvPr id="7" name="card-272"/>
          <p:cNvSpPr/>
          <p:nvPr/>
        </p:nvSpPr>
        <p:spPr>
          <a:xfrm>
            <a:off x="548640" y="274320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-273"/>
          <p:cNvSpPr txBox="1"/>
          <p:nvPr/>
        </p:nvSpPr>
        <p:spPr>
          <a:xfrm>
            <a:off x="82296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2000" dirty="0"/>
          </a:p>
        </p:txBody>
      </p:sp>
      <p:sp>
        <p:nvSpPr>
          <p:cNvPr id="9" name="text-274"/>
          <p:cNvSpPr txBox="1"/>
          <p:nvPr/>
        </p:nvSpPr>
        <p:spPr>
          <a:xfrm>
            <a:off x="822960" y="33101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Approve the protocol and run the full 63-scenario experiment.</a:t>
            </a:r>
            <a:endParaRPr lang="en-US" sz="1500" dirty="0"/>
          </a:p>
        </p:txBody>
      </p:sp>
      <p:sp>
        <p:nvSpPr>
          <p:cNvPr id="10" name="step-275"/>
          <p:cNvSpPr/>
          <p:nvPr/>
        </p:nvSpPr>
        <p:spPr>
          <a:xfrm>
            <a:off x="4297680" y="1965960"/>
            <a:ext cx="3566160" cy="64008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1" name="text-276"/>
          <p:cNvSpPr txBox="1"/>
          <p:nvPr/>
        </p:nvSpPr>
        <p:spPr>
          <a:xfrm>
            <a:off x="4800600" y="1965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</a:rPr>
              <a:t>MONTH 2  ·  ANALYSE</a:t>
            </a:r>
            <a:endParaRPr lang="en-US" sz="1400" dirty="0"/>
          </a:p>
        </p:txBody>
      </p:sp>
      <p:sp>
        <p:nvSpPr>
          <p:cNvPr id="12" name="card-277"/>
          <p:cNvSpPr/>
          <p:nvPr/>
        </p:nvSpPr>
        <p:spPr>
          <a:xfrm>
            <a:off x="4297680" y="274320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text-278"/>
          <p:cNvSpPr txBox="1"/>
          <p:nvPr/>
        </p:nvSpPr>
        <p:spPr>
          <a:xfrm>
            <a:off x="45720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2000" dirty="0"/>
          </a:p>
        </p:txBody>
      </p:sp>
      <p:sp>
        <p:nvSpPr>
          <p:cNvPr id="14" name="text-279"/>
          <p:cNvSpPr txBox="1"/>
          <p:nvPr/>
        </p:nvSpPr>
        <p:spPr>
          <a:xfrm>
            <a:off x="4572000" y="33101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Statistics, failure analysis and a deep literature review.</a:t>
            </a:r>
            <a:endParaRPr lang="en-US" sz="1500" dirty="0"/>
          </a:p>
        </p:txBody>
      </p:sp>
      <p:sp>
        <p:nvSpPr>
          <p:cNvPr id="15" name="step-280"/>
          <p:cNvSpPr/>
          <p:nvPr/>
        </p:nvSpPr>
        <p:spPr>
          <a:xfrm>
            <a:off x="8046720" y="1965960"/>
            <a:ext cx="3566160" cy="64008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6" name="text-281"/>
          <p:cNvSpPr txBox="1"/>
          <p:nvPr/>
        </p:nvSpPr>
        <p:spPr>
          <a:xfrm>
            <a:off x="8549640" y="1965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</a:rPr>
              <a:t>MONTH 3  ·  DELIVER</a:t>
            </a:r>
            <a:endParaRPr lang="en-US" sz="1400" dirty="0"/>
          </a:p>
        </p:txBody>
      </p:sp>
      <p:sp>
        <p:nvSpPr>
          <p:cNvPr id="17" name="card-282"/>
          <p:cNvSpPr/>
          <p:nvPr/>
        </p:nvSpPr>
        <p:spPr>
          <a:xfrm>
            <a:off x="8046720" y="274320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8" name="text-283"/>
          <p:cNvSpPr txBox="1"/>
          <p:nvPr/>
        </p:nvSpPr>
        <p:spPr>
          <a:xfrm>
            <a:off x="832104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2000" dirty="0"/>
          </a:p>
        </p:txBody>
      </p:sp>
      <p:sp>
        <p:nvSpPr>
          <p:cNvPr id="19" name="text-284"/>
          <p:cNvSpPr txBox="1"/>
          <p:nvPr/>
        </p:nvSpPr>
        <p:spPr>
          <a:xfrm>
            <a:off x="8321040" y="33101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results and a paper draft; review with my guide.</a:t>
            </a:r>
            <a:endParaRPr lang="en-US" sz="1500" dirty="0"/>
          </a:p>
        </p:txBody>
      </p:sp>
      <p:sp>
        <p:nvSpPr>
          <p:cNvPr id="20" name="text-285"/>
          <p:cNvSpPr txBox="1"/>
          <p:nvPr/>
        </p:nvSpPr>
        <p:spPr>
          <a:xfrm>
            <a:off x="548640" y="4526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EVERY WEEK</a:t>
            </a:r>
            <a:endParaRPr lang="en-US" sz="1200" dirty="0"/>
          </a:p>
        </p:txBody>
      </p:sp>
      <p:sp>
        <p:nvSpPr>
          <p:cNvPr id="21" name="card-286"/>
          <p:cNvSpPr/>
          <p:nvPr/>
        </p:nvSpPr>
        <p:spPr>
          <a:xfrm>
            <a:off x="548640" y="4892040"/>
            <a:ext cx="2628900" cy="123444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22" name="icon-circle-287"/>
          <p:cNvSpPr/>
          <p:nvPr/>
        </p:nvSpPr>
        <p:spPr>
          <a:xfrm>
            <a:off x="749808" y="5138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288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32" y="5263652"/>
            <a:ext cx="317480" cy="317480"/>
          </a:xfrm>
          <a:prstGeom prst="rect">
            <a:avLst/>
          </a:prstGeom>
        </p:spPr>
      </p:pic>
      <p:sp>
        <p:nvSpPr>
          <p:cNvPr id="24" name="text-289"/>
          <p:cNvSpPr txBox="1"/>
          <p:nvPr/>
        </p:nvSpPr>
        <p:spPr>
          <a:xfrm>
            <a:off x="1463040" y="5029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1600" dirty="0"/>
          </a:p>
        </p:txBody>
      </p:sp>
      <p:sp>
        <p:nvSpPr>
          <p:cNvPr id="25" name="text-290"/>
          <p:cNvSpPr txBox="1"/>
          <p:nvPr/>
        </p:nvSpPr>
        <p:spPr>
          <a:xfrm>
            <a:off x="1463040" y="53766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priority; new ideas parked.</a:t>
            </a:r>
            <a:endParaRPr lang="en-US" sz="1400" dirty="0"/>
          </a:p>
        </p:txBody>
      </p:sp>
      <p:sp>
        <p:nvSpPr>
          <p:cNvPr id="26" name="card-291"/>
          <p:cNvSpPr/>
          <p:nvPr/>
        </p:nvSpPr>
        <p:spPr>
          <a:xfrm>
            <a:off x="3360420" y="4892040"/>
            <a:ext cx="2628900" cy="123444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27" name="icon-circle-292"/>
          <p:cNvSpPr/>
          <p:nvPr/>
        </p:nvSpPr>
        <p:spPr>
          <a:xfrm>
            <a:off x="3561588" y="5138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293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312" y="5263652"/>
            <a:ext cx="317480" cy="317480"/>
          </a:xfrm>
          <a:prstGeom prst="rect">
            <a:avLst/>
          </a:prstGeom>
        </p:spPr>
      </p:pic>
      <p:sp>
        <p:nvSpPr>
          <p:cNvPr id="29" name="text-294"/>
          <p:cNvSpPr txBox="1"/>
          <p:nvPr/>
        </p:nvSpPr>
        <p:spPr>
          <a:xfrm>
            <a:off x="4274820" y="5029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600" dirty="0"/>
          </a:p>
        </p:txBody>
      </p:sp>
      <p:sp>
        <p:nvSpPr>
          <p:cNvPr id="30" name="text-295"/>
          <p:cNvSpPr txBox="1"/>
          <p:nvPr/>
        </p:nvSpPr>
        <p:spPr>
          <a:xfrm>
            <a:off x="4274820" y="53766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Finish deliverables before new goals.</a:t>
            </a:r>
            <a:endParaRPr lang="en-US" sz="1400" dirty="0"/>
          </a:p>
        </p:txBody>
      </p:sp>
      <p:sp>
        <p:nvSpPr>
          <p:cNvPr id="31" name="card-296"/>
          <p:cNvSpPr/>
          <p:nvPr/>
        </p:nvSpPr>
        <p:spPr>
          <a:xfrm>
            <a:off x="6172200" y="4892040"/>
            <a:ext cx="2628900" cy="123444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32" name="icon-circle-297"/>
          <p:cNvSpPr/>
          <p:nvPr/>
        </p:nvSpPr>
        <p:spPr>
          <a:xfrm>
            <a:off x="6373368" y="5138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-298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092" y="5263652"/>
            <a:ext cx="317480" cy="317480"/>
          </a:xfrm>
          <a:prstGeom prst="rect">
            <a:avLst/>
          </a:prstGeom>
        </p:spPr>
      </p:pic>
      <p:sp>
        <p:nvSpPr>
          <p:cNvPr id="34" name="text-299"/>
          <p:cNvSpPr txBox="1"/>
          <p:nvPr/>
        </p:nvSpPr>
        <p:spPr>
          <a:xfrm>
            <a:off x="7086600" y="5029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35" name="text-300"/>
          <p:cNvSpPr txBox="1"/>
          <p:nvPr/>
        </p:nvSpPr>
        <p:spPr>
          <a:xfrm>
            <a:off x="7086600" y="53766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Once a week; adjust on evidence.</a:t>
            </a:r>
            <a:endParaRPr lang="en-US" sz="1400" dirty="0"/>
          </a:p>
        </p:txBody>
      </p:sp>
      <p:sp>
        <p:nvSpPr>
          <p:cNvPr id="36" name="card-301"/>
          <p:cNvSpPr/>
          <p:nvPr/>
        </p:nvSpPr>
        <p:spPr>
          <a:xfrm>
            <a:off x="8983980" y="4892040"/>
            <a:ext cx="2628900" cy="123444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37" name="icon-circle-302"/>
          <p:cNvSpPr/>
          <p:nvPr/>
        </p:nvSpPr>
        <p:spPr>
          <a:xfrm>
            <a:off x="9185148" y="5138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con-30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872" y="5263652"/>
            <a:ext cx="317480" cy="317480"/>
          </a:xfrm>
          <a:prstGeom prst="rect">
            <a:avLst/>
          </a:prstGeom>
        </p:spPr>
      </p:pic>
      <p:sp>
        <p:nvSpPr>
          <p:cNvPr id="39" name="text-304"/>
          <p:cNvSpPr txBox="1"/>
          <p:nvPr/>
        </p:nvSpPr>
        <p:spPr>
          <a:xfrm>
            <a:off x="9898380" y="5029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balanced</a:t>
            </a:r>
            <a:endParaRPr lang="en-US" sz="1600" dirty="0"/>
          </a:p>
        </p:txBody>
      </p:sp>
      <p:sp>
        <p:nvSpPr>
          <p:cNvPr id="40" name="text-305"/>
          <p:cNvSpPr txBox="1"/>
          <p:nvPr/>
        </p:nvSpPr>
        <p:spPr>
          <a:xfrm>
            <a:off x="9898380" y="53766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Protect rest; ask for support.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ni-tile-306"/>
          <p:cNvSpPr/>
          <p:nvPr/>
        </p:nvSpPr>
        <p:spPr>
          <a:xfrm>
            <a:off x="4818888" y="118872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3" name="text-307"/>
          <p:cNvSpPr txBox="1"/>
          <p:nvPr/>
        </p:nvSpPr>
        <p:spPr>
          <a:xfrm>
            <a:off x="481888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4" name="mini-tile-308"/>
          <p:cNvSpPr/>
          <p:nvPr/>
        </p:nvSpPr>
        <p:spPr>
          <a:xfrm>
            <a:off x="5504688" y="118872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5" name="text-309"/>
          <p:cNvSpPr txBox="1"/>
          <p:nvPr/>
        </p:nvSpPr>
        <p:spPr>
          <a:xfrm>
            <a:off x="550468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000" dirty="0"/>
          </a:p>
        </p:txBody>
      </p:sp>
      <p:sp>
        <p:nvSpPr>
          <p:cNvPr id="6" name="mini-tile-310"/>
          <p:cNvSpPr/>
          <p:nvPr/>
        </p:nvSpPr>
        <p:spPr>
          <a:xfrm>
            <a:off x="6190488" y="118872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7" name="text-311"/>
          <p:cNvSpPr txBox="1"/>
          <p:nvPr/>
        </p:nvSpPr>
        <p:spPr>
          <a:xfrm>
            <a:off x="619048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8" name="mini-tile-312"/>
          <p:cNvSpPr/>
          <p:nvPr/>
        </p:nvSpPr>
        <p:spPr>
          <a:xfrm>
            <a:off x="6876288" y="118872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9" name="text-313"/>
          <p:cNvSpPr txBox="1"/>
          <p:nvPr/>
        </p:nvSpPr>
        <p:spPr>
          <a:xfrm>
            <a:off x="687628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10" name="text-314"/>
          <p:cNvSpPr txBox="1"/>
          <p:nvPr/>
        </p:nvSpPr>
        <p:spPr>
          <a:xfrm>
            <a:off x="1280160" y="21488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cannot control every challenge, but I can improve how I prepare, decide, and respond.”</a:t>
            </a:r>
            <a:endParaRPr lang="en-US" sz="3200" dirty="0"/>
          </a:p>
        </p:txBody>
      </p:sp>
      <p:sp>
        <p:nvSpPr>
          <p:cNvPr id="11" name="text-315"/>
          <p:cNvSpPr txBox="1"/>
          <p:nvPr/>
        </p:nvSpPr>
        <p:spPr>
          <a:xfrm>
            <a:off x="128016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chemeClr val="accent5"/>
                </a:solidFill>
              </a:rPr>
              <a:t>THANK YOU  ·  QUESTIONS?</a:t>
            </a:r>
            <a:endParaRPr lang="en-US" sz="1800" dirty="0"/>
          </a:p>
        </p:txBody>
      </p:sp>
      <p:sp>
        <p:nvSpPr>
          <p:cNvPr id="12" name="text-316"/>
          <p:cNvSpPr txBox="1"/>
          <p:nvPr/>
        </p:nvSpPr>
        <p:spPr>
          <a:xfrm>
            <a:off x="128016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Sundram Awasthi  ·  M.Tech CSE  ·  GLA University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 SWOT">
  <a:themeElements>
    <a:clrScheme name="Personal SWOT">
      <a:dk1>
        <a:srgbClr val="1B2A41"/>
      </a:dk1>
      <a:lt1>
        <a:srgbClr val="FFFFFF"/>
      </a:lt1>
      <a:dk2>
        <a:srgbClr val="56627A"/>
      </a:dk2>
      <a:lt2>
        <a:srgbClr val="EEF2F7"/>
      </a:lt2>
      <a:accent1>
        <a:srgbClr val="0F7C80"/>
      </a:accent1>
      <a:accent2>
        <a:srgbClr val="A5660A"/>
      </a:accent2>
      <a:accent3>
        <a:srgbClr val="2F6FB3"/>
      </a:accent3>
      <a:accent4>
        <a:srgbClr val="C2463E"/>
      </a:accent4>
      <a:accent5>
        <a:srgbClr val="CFE3E4"/>
      </a:accent5>
      <a:accent6>
        <a:srgbClr val="C9D3E0"/>
      </a:accent6>
      <a:hlink>
        <a:srgbClr val="2F6FB3"/>
      </a:hlink>
      <a:folHlink>
        <a:srgbClr val="56627A"/>
      </a:folHlink>
    </a:clrScheme>
    <a:fontScheme name="Personal SW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Personal SWOT Analysis</dc:title>
  <dc:subject>PptxGenJS Presentation</dc:subject>
  <dc:creator>Sundram Awasthi</dc:creator>
  <cp:lastModifiedBy>Sundram Awasthi</cp:lastModifiedBy>
  <cp:revision>1</cp:revision>
  <dcterms:created xsi:type="dcterms:W3CDTF">2026-10-10T13:18:10Z</dcterms:created>
  <dcterms:modified xsi:type="dcterms:W3CDTF">2026-10-10T13:18:10Z</dcterms:modified>
</cp:coreProperties>
</file>