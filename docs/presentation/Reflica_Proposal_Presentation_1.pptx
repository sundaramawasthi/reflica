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2e43a92-3e29-a650-c526-3d24fa498920}">
          <p14:sldIdLst>
            <p14:sldId id="256"/>
          </p14:sldIdLst>
        </p14:section>
        <p14:section name="Problem" id="{616edde5-b205-0821-5ec8-95ae5af7a9c2}">
          <p14:sldIdLst>
            <p14:sldId id="257"/>
            <p14:sldId id="258"/>
            <p14:sldId id="259"/>
          </p14:sldIdLst>
        </p14:section>
        <p14:section name="Literature" id="{43969489-220d-ccc7-9f3a-a6443a62868a}">
          <p14:sldIdLst>
            <p14:sldId id="260"/>
            <p14:sldId id="261"/>
            <p14:sldId id="262"/>
            <p14:sldId id="263"/>
          </p14:sldIdLst>
        </p14:section>
        <p14:section name="Proposed work" id="{4e3e978c-8762-893e-37e0-2134be92ca23}">
          <p14:sldIdLst>
            <p14:sldId id="264"/>
            <p14:sldId id="265"/>
            <p14:sldId id="266"/>
            <p14:sldId id="267"/>
          </p14:sldIdLst>
        </p14:section>
        <p14:section name="Plan" id="{9209691a-d348-daa1-a46f-ae5bf1b2ac8f}">
          <p14:sldIdLst>
            <p14:sldId id="268"/>
            <p14:sldId id="269"/>
          </p14:sldIdLst>
        </p14:section>
        <p14:section name="Closing" id="{33345951-fb61-f6f5-ffe9-132a0ca7b327}">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2238"/>
                </a:solidFill>
                <a:latin typeface="+mn-lt"/>
              </a:defRPr>
            </a:pPr>
            <a:r>
              <a:rPr sz="1400" b="0" i="0" u="none" strike="noStrike">
                <a:solidFill>
                  <a:srgbClr val="1A2238"/>
                </a:solidFill>
                <a:latin typeface="+mn-lt"/>
              </a:rPr>
              <a:t>India headline CPI inflation, first release (%)</a:t>
            </a:r>
          </a:p>
        </c:rich>
      </c:tx>
      <c:layout/>
      <c:overlay val="0"/>
    </c:title>
    <c:autoTitleDeleted val="0"/>
    <c:plotArea>
      <c:layout/>
      <c:lineChart>
        <c:varyColors val="0"/>
        <c:ser>
          <c:idx val="0"/>
          <c:order val="0"/>
          <c:tx>
            <c:strRef>
              <c:f>Sheet1!$B$1</c:f>
              <c:strCache>
                <c:ptCount val="1"/>
                <c:pt idx="0">
                  <c:v>Headline CPI inflation (first release, %)</c:v>
                </c:pt>
              </c:strCache>
            </c:strRef>
          </c:tx>
          <c:spPr>
            <a:solidFill>
              <a:srgbClr val="E07A2F"/>
            </a:solidFill>
            <a:ln w="31750" cap="flat">
              <a:solidFill>
                <a:srgbClr val="E07A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07A2F"/>
              </a:solidFill>
              <a:ln w="9525" cap="flat">
                <a:solidFill>
                  <a:srgbClr val="E07A2F"/>
                </a:solidFill>
                <a:prstDash val="solid"/>
                <a:round/>
              </a:ln>
              <a:effectLst/>
            </c:spPr>
          </c:marker>
          <c:cat>
            <c:multiLvlStrRef>
              <c:f>Sheet1!$A$2:$A$33</c:f>
              <c:multiLvlStrCache>
                <c:ptCount val="32"/>
                <c:lvl>
                  <c:pt idx="0">
                    <c:v>Jan 24</c:v>
                  </c:pt>
                  <c:pt idx="1">
                    <c:v>Feb 24</c:v>
                  </c:pt>
                  <c:pt idx="2">
                    <c:v>Mar 24</c:v>
                  </c:pt>
                  <c:pt idx="3">
                    <c:v>Apr 24</c:v>
                  </c:pt>
                  <c:pt idx="4">
                    <c:v>May 24</c:v>
                  </c:pt>
                  <c:pt idx="5">
                    <c:v>Jun 24</c:v>
                  </c:pt>
                  <c:pt idx="6">
                    <c:v>Jul 24</c:v>
                  </c:pt>
                  <c:pt idx="7">
                    <c:v>Aug 24</c:v>
                  </c:pt>
                  <c:pt idx="8">
                    <c:v>Sep 24</c:v>
                  </c:pt>
                  <c:pt idx="9">
                    <c:v>Oct 24</c:v>
                  </c:pt>
                  <c:pt idx="10">
                    <c:v>Nov 24</c:v>
                  </c:pt>
                  <c:pt idx="11">
                    <c:v>Dec 24</c:v>
                  </c:pt>
                  <c:pt idx="12">
                    <c:v>Jan 25</c:v>
                  </c:pt>
                  <c:pt idx="13">
                    <c:v>Feb 25</c:v>
                  </c:pt>
                  <c:pt idx="14">
                    <c:v>Mar 25</c:v>
                  </c:pt>
                  <c:pt idx="15">
                    <c:v>Apr 25</c:v>
                  </c:pt>
                  <c:pt idx="16">
                    <c:v>May 25</c:v>
                  </c:pt>
                  <c:pt idx="17">
                    <c:v>Jun 25</c:v>
                  </c:pt>
                  <c:pt idx="18">
                    <c:v>Jul 25</c:v>
                  </c:pt>
                  <c:pt idx="19">
                    <c:v>Aug 25</c:v>
                  </c:pt>
                  <c:pt idx="20">
                    <c:v>Sep 25</c:v>
                  </c:pt>
                  <c:pt idx="21">
                    <c:v>Oct 25</c:v>
                  </c:pt>
                  <c:pt idx="22">
                    <c:v>Nov 25</c:v>
                  </c:pt>
                  <c:pt idx="23">
                    <c:v>Dec 25</c:v>
                  </c:pt>
                  <c:pt idx="24">
                    <c:v>Jan 26</c:v>
                  </c:pt>
                  <c:pt idx="25">
                    <c:v>Feb 26</c:v>
                  </c:pt>
                  <c:pt idx="26">
                    <c:v>Mar 26</c:v>
                  </c:pt>
                  <c:pt idx="27">
                    <c:v>Apr 26</c:v>
                  </c:pt>
                  <c:pt idx="28">
                    <c:v>May 26</c:v>
                  </c:pt>
                  <c:pt idx="29">
                    <c:v>Jun 26</c:v>
                  </c:pt>
                  <c:pt idx="30">
                    <c:v>Jul 26</c:v>
                  </c:pt>
                  <c:pt idx="31">
                    <c:v>Aug 26</c:v>
                  </c:pt>
                </c:lvl>
              </c:multiLvlStrCache>
            </c:multiLvlStrRef>
          </c:cat>
          <c:val>
            <c:numRef>
              <c:f>Sheet1!$B$2:$B$33</c:f>
              <c:numCache>
                <c:formatCode>General</c:formatCode>
                <c:ptCount val="32"/>
                <c:pt idx="0">
                  <c:v>5.1</c:v>
                </c:pt>
                <c:pt idx="1">
                  <c:v>5.09</c:v>
                </c:pt>
                <c:pt idx="2">
                  <c:v>4.85</c:v>
                </c:pt>
                <c:pt idx="3">
                  <c:v>4.83</c:v>
                </c:pt>
                <c:pt idx="4">
                  <c:v>4.75</c:v>
                </c:pt>
                <c:pt idx="5">
                  <c:v>5.08</c:v>
                </c:pt>
                <c:pt idx="6">
                  <c:v>3.54</c:v>
                </c:pt>
                <c:pt idx="7">
                  <c:v>3.65</c:v>
                </c:pt>
                <c:pt idx="8">
                  <c:v>5.49</c:v>
                </c:pt>
                <c:pt idx="9">
                  <c:v>6.21</c:v>
                </c:pt>
                <c:pt idx="10">
                  <c:v>5.48</c:v>
                </c:pt>
                <c:pt idx="11">
                  <c:v>5.22</c:v>
                </c:pt>
                <c:pt idx="12">
                  <c:v>4.31</c:v>
                </c:pt>
                <c:pt idx="13">
                  <c:v>3.61</c:v>
                </c:pt>
                <c:pt idx="14">
                  <c:v>3.34</c:v>
                </c:pt>
                <c:pt idx="15">
                  <c:v>3.16</c:v>
                </c:pt>
                <c:pt idx="16">
                  <c:v>2.82</c:v>
                </c:pt>
                <c:pt idx="17">
                  <c:v>2.1</c:v>
                </c:pt>
                <c:pt idx="18">
                  <c:v>1.55</c:v>
                </c:pt>
                <c:pt idx="19">
                  <c:v>2.07</c:v>
                </c:pt>
                <c:pt idx="20">
                  <c:v>1.54</c:v>
                </c:pt>
                <c:pt idx="21">
                  <c:v>0.25</c:v>
                </c:pt>
                <c:pt idx="22">
                  <c:v>0.71</c:v>
                </c:pt>
                <c:pt idx="23">
                  <c:v>1.33</c:v>
                </c:pt>
                <c:pt idx="24">
                  <c:v>2.75</c:v>
                </c:pt>
                <c:pt idx="25">
                  <c:v>3.21</c:v>
                </c:pt>
                <c:pt idx="26">
                  <c:v>3.4</c:v>
                </c:pt>
                <c:pt idx="27">
                  <c:v>3.48</c:v>
                </c:pt>
                <c:pt idx="28">
                  <c:v>3.93</c:v>
                </c:pt>
                <c:pt idx="29">
                  <c:v>4.38</c:v>
                </c:pt>
                <c:pt idx="30">
                  <c:v>4.45</c:v>
                </c:pt>
                <c:pt idx="31">
                  <c:v>4.82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C"/>
                </a:solidFill>
                <a:latin typeface="+mn-lt"/>
              </a:defRPr>
            </a:pPr>
            <a:endParaRPr lang="en-US"/>
          </a:p>
        </c:txPr>
        <c:crossAx val="2094734552"/>
        <c:crosses val="autoZero"/>
        <c:auto val="1"/>
        <c:lblAlgn val="ctr"/>
        <c:noMultiLvlLbl val="1"/>
        <c:tickLblSkip val="3"/>
      </c:catAx>
      <c:valAx>
        <c:axId val="2094734552"/>
        <c:scaling>
          <c:orientation val="minMax"/>
          <c:max val="7"/>
          <c:min val="0"/>
        </c:scaling>
        <c:delete val="0"/>
        <c:axPos val="l"/>
        <c:majorGridlines>
          <c:spPr>
            <a:ln w="6350" cap="flat">
              <a:solidFill>
                <a:srgbClr val="D5DC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title. One line: "My project forecasts India's CPI inflation with a numerical model and uses dated official evidence from RBI and the government, through a fixed bounded rule, to decide whether the forecast should change." Mention it has two parts: Part A, an LLM benchmark on Indian yes/no events, and Part B, CPI forecasting with evidence-aware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CPI simply: the average price of what households buy. Headline CPI inflation y-o-y is the price rise compared with the same month last year. It matters because the RBI sets the repo rate to keep CPI near 4%. Point at the numbers: inflation moved a lot in two years, so forecasting is hard and useful. Also note the base-year change to 2024 in Feb 2026; it creates a series break we must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slowly. Then explain the three sub-problems. Leakage: if you test with values that were revised later, or documents published after the forecast date, the model looks better than it really is. Explanation: we want every forecast change linked to a dated source. Overreaction: research shows forecasters overreact to news, so we limit the size of any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earlier Indian studies give mixed results, and LLMs on their own are weak at inflation. That is why our design uses the LLM only to extract claims and a numerical model to forecast. Applications: researchers get a clean dataset; analysts get explainable forecasts; policy readers can trace effects; Part A gives an Indian LLM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model in one line. Naive: assume nothing changes. SARIMA: classic time-series model with seasonality. XGBoost: machine learning with trees. Mohan et al. at RBI combined 216 models and beat a random walk by about 70%. These are strong, so any new method must beat them; that is why they are our baselines. Their gap: they ignore text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59 papers checked and 22 read in full. Key point: text and LLM methods exist, but either the Indian results are mixed (Pratap, Das &amp; Das), the work is outside India (Fan, LiveMacroEval), or updating has no fixed rule. LiveMacroEval found LLM agents were weakest on inflation. This sets up our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columns. Most works have one or two pieces, but none combines all five for Indian CPI. Be careful with wording: say "among the works I reviewed", never "first" or "novel". The last row is what we plan to test,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G2 is our main gap and the focus of Part B. G1 motivates Part A. G3 means our result is useful either way: if text does not help, that is also a finding. Confidence levels are honest estimates from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map to the pipeline: data, models, claims, revision rule, evaluation. RQ1 is about accuracy, RQ2 about avoiding bad changes, RQ3 about which evidence matters. Out of scope for Minor 1: question-answering agents, abstention (Minor 2), trading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1) Official sources. 2) Everything is stored with its publication time, so the system can rebuild exactly what was known on any date. 3a) The numerical engine makes the base forecast. 3b) The LLM extracts claims: the exact quote, topic (food, fuel, policy), direction (up or down pressure), date and link. 4) The bounded revision rule decides to keep or adjust the forecast, but never by more than a fixed limit, and logs why. 5) The log feeds walk-forward evaluation and the dashboard. Part A runs separately and is scored with the Brier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done. Explain point-in-time: training can use revised history, but testing uses first-release values exactly as published. Walk-forward means train on the past, forecast the next month, move forward one month, repeat. The rule: start from the numerical forecast, add a small step in the direction of the evidence, but clip it to a maximum B. Example: if B is 0.2 points and strong news says food prices will rise, the forecast can move up at most 0.2. We compare against never updating and always following the news. DM test checks the improvement is not luck. CPI is regression, so we do not use accuracy or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chart: these are first-release values, exactly as published, which we use for testing. Inflation fell to 0.25% in Oct 2025 and rose to 4.82% by Aug 2026. Numbers: 613 rows of revised CPI for training, 33 months of first releases, 81 documents including all 22 RBI policy resolutions since April 2023. Data quality: COVID-imputed months (Apr–May 2020) are flagged, the base-year change uses the official linking factor 0.5267, and a release published late (a transcript published 15 Apr 2024 for an 8 Feb meeting) is only used from its publication date. Claims are not extracted yet; that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Python for all research code, an LLM only for claim extraction, Flutter and Firebase for the dashboard, all on free plans. Timeline: steps 1 to 6 are done (about 50% of Minor 1). Next month: claim extraction and freezing the protocol so the test cannot be tuned after seeing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dataset, fair comparison, explainable forecasts, Part A benchmark. Stress the honest result: if text evidence does not help beyond strong numbers, that is still a valid research finding. References: the full list of 46 is in the review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Why not just use an LLM? How do you avoid leakage? What if the method does not help? See docs/PRESENTER_GUIDE.md section 6 for all 12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82880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Reflica India · Minor Project 1 · GLA University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10058400" cy="457200"/>
          </a:xfrm>
          <a:prstGeom prst="rect">
            <a:avLst/>
          </a:prstGeom>
          <a:noFill/>
          <a:ln/>
        </p:spPr>
        <p:txBody>
          <a:bodyPr wrap="square" lIns="0" tIns="0" rIns="0" bIns="0" rtlCol="0" anchor="t"/>
          <a:lstStyle/>
          <a:p>
            <a:pPr indent="0" marL="0">
              <a:buNone/>
            </a:pPr>
            <a:r>
              <a:rPr lang="en-US" sz="1800" b="1" dirty="0">
                <a:solidFill>
                  <a:schemeClr val="accent2"/>
                </a:solidFill>
              </a:rPr>
              <a:t>IndiaEconForecast / Reflica India</a:t>
            </a:r>
            <a:endParaRPr lang="en-US" sz="1800" dirty="0"/>
          </a:p>
        </p:txBody>
      </p:sp>
      <p:sp>
        <p:nvSpPr>
          <p:cNvPr id="3" name="Text 0"/>
          <p:cNvSpPr/>
          <p:nvPr>
            <p:ph idx="100" type="title" hasCustomPrompt="1"/>
          </p:nvPr>
        </p:nvSpPr>
        <p:spPr>
          <a:xfrm>
            <a:off x="731520" y="1554480"/>
            <a:ext cx="10698480" cy="1828800"/>
          </a:xfrm>
          <a:prstGeom prst="rect">
            <a:avLst/>
          </a:prstGeom>
          <a:noFill/>
          <a:ln/>
        </p:spPr>
        <p:txBody>
          <a:bodyPr wrap="square" rtlCol="0" anchor="b"/>
          <a:lstStyle/>
          <a:p>
            <a:pPr indent="0" marL="0">
              <a:buNone/>
            </a:pPr>
            <a:r>
              <a:rPr lang="en-US" sz="4000" b="1" dirty="0">
                <a:solidFill>
                  <a:schemeClr val="bg1"/>
                </a:solidFill>
              </a:rPr>
              <a:t>Hybrid AI Forecasting of Indian Economic and Policy Outcomes</a:t>
            </a:r>
            <a:endParaRPr lang="en-US" sz="4000" dirty="0"/>
          </a:p>
        </p:txBody>
      </p:sp>
      <p:sp>
        <p:nvSpPr>
          <p:cNvPr id="4" name="Text 2"/>
          <p:cNvSpPr txBox="1"/>
          <p:nvPr/>
        </p:nvSpPr>
        <p:spPr>
          <a:xfrm>
            <a:off x="731520" y="3566160"/>
            <a:ext cx="10058400" cy="365760"/>
          </a:xfrm>
          <a:prstGeom prst="rect">
            <a:avLst/>
          </a:prstGeom>
          <a:noFill/>
          <a:ln/>
        </p:spPr>
        <p:txBody>
          <a:bodyPr wrap="square" lIns="0" tIns="0" rIns="0" bIns="0" rtlCol="0" anchor="t"/>
          <a:lstStyle/>
          <a:p>
            <a:pPr indent="0" marL="0">
              <a:buNone/>
            </a:pPr>
            <a:r>
              <a:rPr lang="en-US" sz="1800" dirty="0">
                <a:solidFill>
                  <a:schemeClr val="accent5"/>
                </a:solidFill>
              </a:rPr>
              <a:t>Minor Project 1 · First (Proposal) Presentation</a:t>
            </a:r>
            <a:endParaRPr lang="en-US" sz="1800" dirty="0"/>
          </a:p>
        </p:txBody>
      </p:sp>
      <p:sp>
        <p:nvSpPr>
          <p:cNvPr id="5" name="Text 3"/>
          <p:cNvSpPr txBox="1"/>
          <p:nvPr/>
        </p:nvSpPr>
        <p:spPr>
          <a:xfrm>
            <a:off x="731520" y="4754880"/>
            <a:ext cx="7315200" cy="1097280"/>
          </a:xfrm>
          <a:prstGeom prst="rect">
            <a:avLst/>
          </a:prstGeom>
          <a:noFill/>
          <a:ln/>
        </p:spPr>
        <p:txBody>
          <a:bodyPr wrap="square" lIns="0" tIns="0" rIns="0" bIns="0" rtlCol="0" anchor="t"/>
          <a:lstStyle/>
          <a:p>
            <a:pPr indent="0" marL="0">
              <a:buNone/>
            </a:pPr>
            <a:r>
              <a:rPr lang="en-US" sz="1600" b="1" dirty="0">
                <a:solidFill>
                  <a:schemeClr val="bg1"/>
                </a:solidFill>
              </a:rPr>
              <a:t>Sundram Awasthi</a:t>
            </a:r>
            <a:endParaRPr lang="en-US" sz="1600" dirty="0"/>
          </a:p>
          <a:p>
            <a:pPr indent="0" marL="0">
              <a:buNone/>
            </a:pPr>
            <a:r>
              <a:rPr lang="en-US" sz="1600" dirty="0">
                <a:solidFill>
                  <a:schemeClr val="accent5"/>
                </a:solidFill>
              </a:rPr>
              <a:t>M.Tech CSE (2026–28) · GLA University, Mathura</a:t>
            </a:r>
            <a:endParaRPr lang="en-US" sz="1600" dirty="0"/>
          </a:p>
          <a:p>
            <a:pPr indent="0" marL="0">
              <a:buNone/>
            </a:pPr>
            <a:r>
              <a:rPr lang="en-US" sz="1600" dirty="0">
                <a:solidFill>
                  <a:schemeClr val="accent5"/>
                </a:solidFill>
              </a:rPr>
              <a:t>Guide: [add guide name]</a:t>
            </a:r>
            <a:endParaRPr lang="en-US" sz="1600" dirty="0"/>
          </a:p>
        </p:txBody>
      </p:sp>
      <p:sp>
        <p:nvSpPr>
          <p:cNvPr id="6" name="Text 4"/>
          <p:cNvSpPr txBox="1"/>
          <p:nvPr/>
        </p:nvSpPr>
        <p:spPr>
          <a:xfrm>
            <a:off x="731520" y="6035040"/>
            <a:ext cx="10058400" cy="320040"/>
          </a:xfrm>
          <a:prstGeom prst="rect">
            <a:avLst/>
          </a:prstGeom>
          <a:noFill/>
          <a:ln/>
        </p:spPr>
        <p:txBody>
          <a:bodyPr wrap="square" lIns="0" tIns="0" rIns="0" bIns="0" rtlCol="0" anchor="t"/>
          <a:lstStyle/>
          <a:p>
            <a:pPr indent="0" marL="0">
              <a:buNone/>
            </a:pPr>
            <a:r>
              <a:rPr lang="en-US" sz="1200" i="1" dirty="0">
                <a:solidFill>
                  <a:schemeClr val="accent4"/>
                </a:solidFill>
              </a:rPr>
              <a:t>Field: Predictive AI for India's Economy and Public Policy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Introduction</a:t>
            </a:r>
            <a:endParaRPr lang="en-US" sz="3200" dirty="0"/>
          </a:p>
        </p:txBody>
      </p:sp>
      <p:sp>
        <p:nvSpPr>
          <p:cNvPr id="3" name="Text 1"/>
          <p:cNvSpPr txBox="1"/>
          <p:nvPr/>
        </p:nvSpPr>
        <p:spPr>
          <a:xfrm>
            <a:off x="548640" y="1325880"/>
            <a:ext cx="5852160" cy="3840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Consumer Price Index (CPI) inflation measures how fast household prices rise. The RBI targets 4% (±2%).</a:t>
            </a:r>
            <a:endParaRPr lang="en-US" sz="1400" dirty="0"/>
          </a:p>
          <a:p>
            <a:pPr marL="342900" indent="-342900">
              <a:spcAft>
                <a:spcPts val="600"/>
              </a:spcAft>
              <a:buSzPct val="100000"/>
              <a:buChar char="•"/>
            </a:pPr>
            <a:r>
              <a:rPr lang="en-US" sz="1500" dirty="0">
                <a:solidFill>
                  <a:schemeClr val="tx2"/>
                </a:solidFill>
              </a:rPr>
              <a:t>CPI drives RBI repo-rate decisions, loan EMIs, wages, pensions and government price measures.</a:t>
            </a:r>
            <a:endParaRPr lang="en-US" sz="1400" dirty="0"/>
          </a:p>
          <a:p>
            <a:pPr marL="342900" indent="-342900">
              <a:spcAft>
                <a:spcPts val="600"/>
              </a:spcAft>
              <a:buSzPct val="100000"/>
              <a:buChar char="•"/>
            </a:pPr>
            <a:r>
              <a:rPr lang="en-US" sz="1500" dirty="0">
                <a:solidFill>
                  <a:schemeClr val="tx2"/>
                </a:solidFill>
              </a:rPr>
              <a:t>Between two monthly CPI releases, many official signals arrive: RBI policy statements, government stock limits, export rules.</a:t>
            </a:r>
            <a:endParaRPr lang="en-US" sz="1400" dirty="0"/>
          </a:p>
          <a:p>
            <a:pPr marL="342900" indent="-342900">
              <a:spcAft>
                <a:spcPts val="600"/>
              </a:spcAft>
              <a:buSzPct val="100000"/>
              <a:buChar char="•"/>
            </a:pPr>
            <a:r>
              <a:rPr lang="en-US" sz="1500" dirty="0">
                <a:solidFill>
                  <a:schemeClr val="tx2"/>
                </a:solidFill>
              </a:rPr>
              <a:t>AI and LLM tools now claim to forecast the economy, but few are tested fairly on Indian data.</a:t>
            </a:r>
            <a:endParaRPr lang="en-US" sz="1400" dirty="0"/>
          </a:p>
        </p:txBody>
      </p:sp>
      <p:sp>
        <p:nvSpPr>
          <p:cNvPr id="4" name="stat0"/>
          <p:cNvSpPr/>
          <p:nvPr/>
        </p:nvSpPr>
        <p:spPr>
          <a:xfrm>
            <a:off x="6949440" y="1325880"/>
            <a:ext cx="4663440" cy="1371600"/>
          </a:xfrm>
          <a:prstGeom prst="roundRect">
            <a:avLst>
              <a:gd name="adj" fmla="val 5333"/>
            </a:avLst>
          </a:prstGeom>
          <a:solidFill>
            <a:schemeClr val="bg2"/>
          </a:solidFill>
          <a:ln/>
        </p:spPr>
      </p:sp>
      <p:sp>
        <p:nvSpPr>
          <p:cNvPr id="5" name="Text 3"/>
          <p:cNvSpPr txBox="1"/>
          <p:nvPr/>
        </p:nvSpPr>
        <p:spPr>
          <a:xfrm>
            <a:off x="7223760" y="1508760"/>
            <a:ext cx="2377440" cy="100584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4.82%</a:t>
            </a:r>
            <a:endParaRPr lang="en-US" sz="3200" dirty="0"/>
          </a:p>
        </p:txBody>
      </p:sp>
      <p:sp>
        <p:nvSpPr>
          <p:cNvPr id="6" name="Text 4"/>
          <p:cNvSpPr txBox="1"/>
          <p:nvPr/>
        </p:nvSpPr>
        <p:spPr>
          <a:xfrm>
            <a:off x="9601200" y="1508760"/>
            <a:ext cx="1920240" cy="1005840"/>
          </a:xfrm>
          <a:prstGeom prst="rect">
            <a:avLst/>
          </a:prstGeom>
          <a:noFill/>
          <a:ln/>
        </p:spPr>
        <p:txBody>
          <a:bodyPr wrap="square" lIns="0" tIns="0" rIns="0" bIns="0" rtlCol="0" anchor="ctr"/>
          <a:lstStyle/>
          <a:p>
            <a:pPr indent="0" marL="0">
              <a:buNone/>
            </a:pPr>
            <a:r>
              <a:rPr lang="en-US" sz="1300" dirty="0">
                <a:solidFill>
                  <a:schemeClr val="tx2"/>
                </a:solidFill>
              </a:rPr>
              <a:t>CPI inflation, Aug 2026</a:t>
            </a:r>
            <a:endParaRPr lang="en-US" sz="1300" dirty="0"/>
          </a:p>
          <a:p>
            <a:pPr indent="0" marL="0">
              <a:buNone/>
            </a:pPr>
            <a:r>
              <a:rPr lang="en-US" sz="1300" dirty="0">
                <a:solidFill>
                  <a:schemeClr val="tx2"/>
                </a:solidFill>
              </a:rPr>
              <a:t>(first release)</a:t>
            </a:r>
            <a:endParaRPr lang="en-US" sz="1300" dirty="0"/>
          </a:p>
        </p:txBody>
      </p:sp>
      <p:sp>
        <p:nvSpPr>
          <p:cNvPr id="7" name="stat1"/>
          <p:cNvSpPr/>
          <p:nvPr/>
        </p:nvSpPr>
        <p:spPr>
          <a:xfrm>
            <a:off x="6949440" y="2926080"/>
            <a:ext cx="4663440" cy="1371600"/>
          </a:xfrm>
          <a:prstGeom prst="roundRect">
            <a:avLst>
              <a:gd name="adj" fmla="val 5333"/>
            </a:avLst>
          </a:prstGeom>
          <a:solidFill>
            <a:schemeClr val="bg2"/>
          </a:solidFill>
          <a:ln/>
        </p:spPr>
      </p:sp>
      <p:sp>
        <p:nvSpPr>
          <p:cNvPr id="8" name="Text 6"/>
          <p:cNvSpPr txBox="1"/>
          <p:nvPr/>
        </p:nvSpPr>
        <p:spPr>
          <a:xfrm>
            <a:off x="7223760" y="3108960"/>
            <a:ext cx="2377440" cy="100584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0.25%</a:t>
            </a:r>
            <a:endParaRPr lang="en-US" sz="3200" dirty="0"/>
          </a:p>
        </p:txBody>
      </p:sp>
      <p:sp>
        <p:nvSpPr>
          <p:cNvPr id="9" name="Text 7"/>
          <p:cNvSpPr txBox="1"/>
          <p:nvPr/>
        </p:nvSpPr>
        <p:spPr>
          <a:xfrm>
            <a:off x="9601200" y="3108960"/>
            <a:ext cx="1920240" cy="1005840"/>
          </a:xfrm>
          <a:prstGeom prst="rect">
            <a:avLst/>
          </a:prstGeom>
          <a:noFill/>
          <a:ln/>
        </p:spPr>
        <p:txBody>
          <a:bodyPr wrap="square" lIns="0" tIns="0" rIns="0" bIns="0" rtlCol="0" anchor="ctr"/>
          <a:lstStyle/>
          <a:p>
            <a:pPr indent="0" marL="0">
              <a:buNone/>
            </a:pPr>
            <a:r>
              <a:rPr lang="en-US" sz="1300" dirty="0">
                <a:solidFill>
                  <a:schemeClr val="tx2"/>
                </a:solidFill>
              </a:rPr>
              <a:t>CPI inflation, Oct 2025</a:t>
            </a:r>
            <a:endParaRPr lang="en-US" sz="1300" dirty="0"/>
          </a:p>
          <a:p>
            <a:pPr indent="0" marL="0">
              <a:buNone/>
            </a:pPr>
            <a:r>
              <a:rPr lang="en-US" sz="1300" dirty="0">
                <a:solidFill>
                  <a:schemeClr val="tx2"/>
                </a:solidFill>
              </a:rPr>
              <a:t>(lowest in our data)</a:t>
            </a:r>
            <a:endParaRPr lang="en-US" sz="1300" dirty="0"/>
          </a:p>
        </p:txBody>
      </p:sp>
      <p:sp>
        <p:nvSpPr>
          <p:cNvPr id="10" name="stat2"/>
          <p:cNvSpPr/>
          <p:nvPr/>
        </p:nvSpPr>
        <p:spPr>
          <a:xfrm>
            <a:off x="6949440" y="4526280"/>
            <a:ext cx="4663440" cy="1371600"/>
          </a:xfrm>
          <a:prstGeom prst="roundRect">
            <a:avLst>
              <a:gd name="adj" fmla="val 5333"/>
            </a:avLst>
          </a:prstGeom>
          <a:solidFill>
            <a:schemeClr val="bg2"/>
          </a:solidFill>
          <a:ln/>
        </p:spPr>
      </p:sp>
      <p:sp>
        <p:nvSpPr>
          <p:cNvPr id="11" name="Text 9"/>
          <p:cNvSpPr txBox="1"/>
          <p:nvPr/>
        </p:nvSpPr>
        <p:spPr>
          <a:xfrm>
            <a:off x="7223760" y="4709160"/>
            <a:ext cx="2377440" cy="10058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2012 → 2024</a:t>
            </a:r>
            <a:endParaRPr lang="en-US" sz="3200" dirty="0"/>
          </a:p>
        </p:txBody>
      </p:sp>
      <p:sp>
        <p:nvSpPr>
          <p:cNvPr id="12" name="Text 10"/>
          <p:cNvSpPr txBox="1"/>
          <p:nvPr/>
        </p:nvSpPr>
        <p:spPr>
          <a:xfrm>
            <a:off x="9601200" y="4709160"/>
            <a:ext cx="1920240" cy="1005840"/>
          </a:xfrm>
          <a:prstGeom prst="rect">
            <a:avLst/>
          </a:prstGeom>
          <a:noFill/>
          <a:ln/>
        </p:spPr>
        <p:txBody>
          <a:bodyPr wrap="square" lIns="0" tIns="0" rIns="0" bIns="0" rtlCol="0" anchor="ctr"/>
          <a:lstStyle/>
          <a:p>
            <a:pPr indent="0" marL="0">
              <a:buNone/>
            </a:pPr>
            <a:r>
              <a:rPr lang="en-US" sz="1300" dirty="0">
                <a:solidFill>
                  <a:schemeClr val="tx2"/>
                </a:solidFill>
              </a:rPr>
              <a:t>CPI base year changed</a:t>
            </a:r>
            <a:endParaRPr lang="en-US" sz="1300" dirty="0"/>
          </a:p>
          <a:p>
            <a:pPr indent="0" marL="0">
              <a:buNone/>
            </a:pPr>
            <a:r>
              <a:rPr lang="en-US" sz="1300" dirty="0">
                <a:solidFill>
                  <a:schemeClr val="tx2"/>
                </a:solidFill>
              </a:rPr>
              <a:t>from the Jan 2026 data</a:t>
            </a:r>
            <a:endParaRPr lang="en-US" sz="1300" dirty="0"/>
          </a:p>
        </p:txBody>
      </p:sp>
      <p:sp>
        <p:nvSpPr>
          <p:cNvPr id="13" name="Text 11"/>
          <p:cNvSpPr txBox="1"/>
          <p:nvPr/>
        </p:nvSpPr>
        <p:spPr>
          <a:xfrm>
            <a:off x="548640" y="5394960"/>
            <a:ext cx="5852160" cy="731520"/>
          </a:xfrm>
          <a:prstGeom prst="rect">
            <a:avLst/>
          </a:prstGeom>
          <a:noFill/>
          <a:ln/>
        </p:spPr>
        <p:txBody>
          <a:bodyPr wrap="square" lIns="0" tIns="0" rIns="0" bIns="0" rtlCol="0" anchor="t"/>
          <a:lstStyle/>
          <a:p>
            <a:pPr indent="0" marL="0">
              <a:buNone/>
            </a:pPr>
            <a:r>
              <a:rPr lang="en-US" sz="1400" i="1" dirty="0">
                <a:solidFill>
                  <a:schemeClr val="accent3"/>
                </a:solidFill>
              </a:rPr>
              <a:t>Inflation swung from 6.21% (Oct 2024) to 0.25% (Oct 2025) and back to 4.82% (Aug 2026). Forecasting it well matters.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Problem Statement</a:t>
            </a:r>
            <a:endParaRPr lang="en-US" sz="3200" dirty="0"/>
          </a:p>
        </p:txBody>
      </p:sp>
      <p:sp>
        <p:nvSpPr>
          <p:cNvPr id="3" name="rq"/>
          <p:cNvSpPr/>
          <p:nvPr/>
        </p:nvSpPr>
        <p:spPr>
          <a:xfrm>
            <a:off x="548640" y="1325880"/>
            <a:ext cx="11064240" cy="1600200"/>
          </a:xfrm>
          <a:prstGeom prst="roundRect">
            <a:avLst>
              <a:gd name="adj" fmla="val 4571"/>
            </a:avLst>
          </a:prstGeom>
          <a:solidFill>
            <a:schemeClr val="tx1"/>
          </a:solidFill>
          <a:ln/>
        </p:spPr>
      </p:sp>
      <p:sp>
        <p:nvSpPr>
          <p:cNvPr id="4" name="Text 2"/>
          <p:cNvSpPr txBox="1"/>
          <p:nvPr/>
        </p:nvSpPr>
        <p:spPr>
          <a:xfrm>
            <a:off x="868680" y="1463040"/>
            <a:ext cx="10424160" cy="1325880"/>
          </a:xfrm>
          <a:prstGeom prst="rect">
            <a:avLst/>
          </a:prstGeom>
          <a:noFill/>
          <a:ln/>
        </p:spPr>
        <p:txBody>
          <a:bodyPr wrap="square" lIns="0" tIns="0" rIns="0" bIns="0" rtlCol="0" anchor="ctr"/>
          <a:lstStyle/>
          <a:p>
            <a:pPr indent="0" marL="0">
              <a:buNone/>
            </a:pPr>
            <a:r>
              <a:rPr lang="en-US" sz="1800" i="1" dirty="0">
                <a:solidFill>
                  <a:schemeClr val="bg1"/>
                </a:solidFill>
                <a:latin typeface="Cambria" pitchFamily="34" charset="0"/>
                <a:ea typeface="Cambria" pitchFamily="34" charset="-122"/>
                <a:cs typeface="Cambria" pitchFamily="34" charset="-120"/>
              </a:rPr>
              <a:t>Can dated, source-linked claims from official documents, combined with a fixed bounded revision rule, improve India's headline CPI forecasts beyond strong numerical models, using only information available at each forecast date?</a:t>
            </a:r>
            <a:endParaRPr lang="en-US" sz="1800" dirty="0"/>
          </a:p>
        </p:txBody>
      </p:sp>
      <p:sp>
        <p:nvSpPr>
          <p:cNvPr id="5" name="prob0"/>
          <p:cNvSpPr/>
          <p:nvPr/>
        </p:nvSpPr>
        <p:spPr>
          <a:xfrm>
            <a:off x="548640" y="3246120"/>
            <a:ext cx="3566160" cy="2651760"/>
          </a:xfrm>
          <a:prstGeom prst="roundRect">
            <a:avLst>
              <a:gd name="adj" fmla="val 2759"/>
            </a:avLst>
          </a:prstGeom>
          <a:solidFill>
            <a:schemeClr val="bg2"/>
          </a:solidFill>
          <a:ln/>
        </p:spPr>
      </p:sp>
      <p:sp>
        <p:nvSpPr>
          <p:cNvPr id="6" name="Shape 4"/>
          <p:cNvSpPr/>
          <p:nvPr/>
        </p:nvSpPr>
        <p:spPr>
          <a:xfrm>
            <a:off x="822960" y="3474720"/>
            <a:ext cx="502920" cy="502920"/>
          </a:xfrm>
          <a:prstGeom prst="ellipse">
            <a:avLst/>
          </a:prstGeom>
          <a:solidFill>
            <a:schemeClr val="accent2"/>
          </a:solidFill>
          <a:ln/>
        </p:spPr>
      </p:sp>
      <p:sp>
        <p:nvSpPr>
          <p:cNvPr id="7" name="Text 5"/>
          <p:cNvSpPr txBox="1"/>
          <p:nvPr/>
        </p:nvSpPr>
        <p:spPr>
          <a:xfrm>
            <a:off x="822960" y="3474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463040" y="3474720"/>
            <a:ext cx="2468880" cy="502920"/>
          </a:xfrm>
          <a:prstGeom prst="rect">
            <a:avLst/>
          </a:prstGeom>
          <a:noFill/>
          <a:ln/>
        </p:spPr>
        <p:txBody>
          <a:bodyPr wrap="square" lIns="0" tIns="0" rIns="0" bIns="0" rtlCol="0" anchor="ctr"/>
          <a:lstStyle/>
          <a:p>
            <a:pPr indent="0" marL="0">
              <a:buNone/>
            </a:pPr>
            <a:r>
              <a:rPr lang="en-US" sz="1700" b="1" dirty="0">
                <a:solidFill>
                  <a:schemeClr val="tx1"/>
                </a:solidFill>
              </a:rPr>
              <a:t>No fair testing</a:t>
            </a:r>
            <a:endParaRPr lang="en-US" sz="1700" dirty="0"/>
          </a:p>
        </p:txBody>
      </p:sp>
      <p:sp>
        <p:nvSpPr>
          <p:cNvPr id="9" name="Text 7"/>
          <p:cNvSpPr txBox="1"/>
          <p:nvPr/>
        </p:nvSpPr>
        <p:spPr>
          <a:xfrm>
            <a:off x="822960" y="4160520"/>
            <a:ext cx="3063240" cy="1645920"/>
          </a:xfrm>
          <a:prstGeom prst="rect">
            <a:avLst/>
          </a:prstGeom>
          <a:noFill/>
          <a:ln/>
        </p:spPr>
        <p:txBody>
          <a:bodyPr wrap="square" lIns="0" tIns="0" rIns="0" bIns="0" rtlCol="0" anchor="t"/>
          <a:lstStyle/>
          <a:p>
            <a:pPr indent="0" marL="0">
              <a:buNone/>
            </a:pPr>
            <a:r>
              <a:rPr lang="en-US" sz="1400" dirty="0">
                <a:solidFill>
                  <a:schemeClr val="tx2"/>
                </a:solidFill>
              </a:rPr>
              <a:t>Many studies use revised data or information published after the forecast date (look-ahead leakage). Results look better than reality.</a:t>
            </a:r>
            <a:endParaRPr lang="en-US" sz="1400" dirty="0"/>
          </a:p>
        </p:txBody>
      </p:sp>
      <p:sp>
        <p:nvSpPr>
          <p:cNvPr id="10" name="prob1"/>
          <p:cNvSpPr/>
          <p:nvPr/>
        </p:nvSpPr>
        <p:spPr>
          <a:xfrm>
            <a:off x="4297680" y="3246120"/>
            <a:ext cx="3566160" cy="2651760"/>
          </a:xfrm>
          <a:prstGeom prst="roundRect">
            <a:avLst>
              <a:gd name="adj" fmla="val 2759"/>
            </a:avLst>
          </a:prstGeom>
          <a:solidFill>
            <a:schemeClr val="bg2"/>
          </a:solidFill>
          <a:ln/>
        </p:spPr>
      </p:sp>
      <p:sp>
        <p:nvSpPr>
          <p:cNvPr id="11" name="Shape 9"/>
          <p:cNvSpPr/>
          <p:nvPr/>
        </p:nvSpPr>
        <p:spPr>
          <a:xfrm>
            <a:off x="4572000" y="3474720"/>
            <a:ext cx="502920" cy="502920"/>
          </a:xfrm>
          <a:prstGeom prst="ellipse">
            <a:avLst/>
          </a:prstGeom>
          <a:solidFill>
            <a:schemeClr val="accent2"/>
          </a:solidFill>
          <a:ln/>
        </p:spPr>
      </p:sp>
      <p:sp>
        <p:nvSpPr>
          <p:cNvPr id="12" name="Text 10"/>
          <p:cNvSpPr txBox="1"/>
          <p:nvPr/>
        </p:nvSpPr>
        <p:spPr>
          <a:xfrm>
            <a:off x="4572000" y="3474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5212080" y="3474720"/>
            <a:ext cx="2468880" cy="502920"/>
          </a:xfrm>
          <a:prstGeom prst="rect">
            <a:avLst/>
          </a:prstGeom>
          <a:noFill/>
          <a:ln/>
        </p:spPr>
        <p:txBody>
          <a:bodyPr wrap="square" lIns="0" tIns="0" rIns="0" bIns="0" rtlCol="0" anchor="ctr"/>
          <a:lstStyle/>
          <a:p>
            <a:pPr indent="0" marL="0">
              <a:buNone/>
            </a:pPr>
            <a:r>
              <a:rPr lang="en-US" sz="1700" b="1" dirty="0">
                <a:solidFill>
                  <a:schemeClr val="tx1"/>
                </a:solidFill>
              </a:rPr>
              <a:t>No explanation</a:t>
            </a:r>
            <a:endParaRPr lang="en-US" sz="1700" dirty="0"/>
          </a:p>
        </p:txBody>
      </p:sp>
      <p:sp>
        <p:nvSpPr>
          <p:cNvPr id="14" name="Text 12"/>
          <p:cNvSpPr txBox="1"/>
          <p:nvPr/>
        </p:nvSpPr>
        <p:spPr>
          <a:xfrm>
            <a:off x="4572000" y="4160520"/>
            <a:ext cx="3063240" cy="1645920"/>
          </a:xfrm>
          <a:prstGeom prst="rect">
            <a:avLst/>
          </a:prstGeom>
          <a:noFill/>
          <a:ln/>
        </p:spPr>
        <p:txBody>
          <a:bodyPr wrap="square" lIns="0" tIns="0" rIns="0" bIns="0" rtlCol="0" anchor="t"/>
          <a:lstStyle/>
          <a:p>
            <a:pPr indent="0" marL="0">
              <a:buNone/>
            </a:pPr>
            <a:r>
              <a:rPr lang="en-US" sz="1400" dirty="0">
                <a:solidFill>
                  <a:schemeClr val="tx2"/>
                </a:solidFill>
              </a:rPr>
              <a:t>Forecasts change without saying which evidence caused it. Users cannot audit them.</a:t>
            </a:r>
            <a:endParaRPr lang="en-US" sz="1400" dirty="0"/>
          </a:p>
        </p:txBody>
      </p:sp>
      <p:sp>
        <p:nvSpPr>
          <p:cNvPr id="15" name="prob2"/>
          <p:cNvSpPr/>
          <p:nvPr/>
        </p:nvSpPr>
        <p:spPr>
          <a:xfrm>
            <a:off x="8046720" y="3246120"/>
            <a:ext cx="3566160" cy="2651760"/>
          </a:xfrm>
          <a:prstGeom prst="roundRect">
            <a:avLst>
              <a:gd name="adj" fmla="val 2759"/>
            </a:avLst>
          </a:prstGeom>
          <a:solidFill>
            <a:schemeClr val="bg2"/>
          </a:solidFill>
          <a:ln/>
        </p:spPr>
      </p:sp>
      <p:sp>
        <p:nvSpPr>
          <p:cNvPr id="16" name="Shape 14"/>
          <p:cNvSpPr/>
          <p:nvPr/>
        </p:nvSpPr>
        <p:spPr>
          <a:xfrm>
            <a:off x="8321040" y="3474720"/>
            <a:ext cx="502920" cy="502920"/>
          </a:xfrm>
          <a:prstGeom prst="ellipse">
            <a:avLst/>
          </a:prstGeom>
          <a:solidFill>
            <a:schemeClr val="accent2"/>
          </a:solidFill>
          <a:ln/>
        </p:spPr>
      </p:sp>
      <p:sp>
        <p:nvSpPr>
          <p:cNvPr id="17" name="Text 15"/>
          <p:cNvSpPr txBox="1"/>
          <p:nvPr/>
        </p:nvSpPr>
        <p:spPr>
          <a:xfrm>
            <a:off x="8321040" y="3474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8961120" y="3474720"/>
            <a:ext cx="2468880" cy="502920"/>
          </a:xfrm>
          <a:prstGeom prst="rect">
            <a:avLst/>
          </a:prstGeom>
          <a:noFill/>
          <a:ln/>
        </p:spPr>
        <p:txBody>
          <a:bodyPr wrap="square" lIns="0" tIns="0" rIns="0" bIns="0" rtlCol="0" anchor="ctr"/>
          <a:lstStyle/>
          <a:p>
            <a:pPr indent="0" marL="0">
              <a:buNone/>
            </a:pPr>
            <a:r>
              <a:rPr lang="en-US" sz="1700" b="1" dirty="0">
                <a:solidFill>
                  <a:schemeClr val="tx1"/>
                </a:solidFill>
              </a:rPr>
              <a:t>Overreaction to news</a:t>
            </a:r>
            <a:endParaRPr lang="en-US" sz="1700" dirty="0"/>
          </a:p>
        </p:txBody>
      </p:sp>
      <p:sp>
        <p:nvSpPr>
          <p:cNvPr id="19" name="Text 17"/>
          <p:cNvSpPr txBox="1"/>
          <p:nvPr/>
        </p:nvSpPr>
        <p:spPr>
          <a:xfrm>
            <a:off x="8321040" y="4160520"/>
            <a:ext cx="3063240" cy="1645920"/>
          </a:xfrm>
          <a:prstGeom prst="rect">
            <a:avLst/>
          </a:prstGeom>
          <a:noFill/>
          <a:ln/>
        </p:spPr>
        <p:txBody>
          <a:bodyPr wrap="square" lIns="0" tIns="0" rIns="0" bIns="0" rtlCol="0" anchor="t"/>
          <a:lstStyle/>
          <a:p>
            <a:pPr indent="0" marL="0">
              <a:buNone/>
            </a:pPr>
            <a:r>
              <a:rPr lang="en-US" sz="1400" dirty="0">
                <a:solidFill>
                  <a:schemeClr val="tx2"/>
                </a:solidFill>
              </a:rPr>
              <a:t>Forecasters often overreact to news (Bordalo et al. 2020). Free-form LLM updates have no limit on how far they move.</a:t>
            </a:r>
            <a:endParaRPr lang="en-US" sz="1400" dirty="0"/>
          </a:p>
        </p:txBody>
      </p:sp>
      <p:sp>
        <p:nvSpPr>
          <p:cNvPr id="20" name="Text 18"/>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300" i="1" dirty="0">
                <a:solidFill>
                  <a:schemeClr val="accent4"/>
                </a:solidFill>
              </a:rPr>
              <a:t>Companion question (Part A): how accurate and well-calibrated are LLMs on Indian economic and policy yes/no events?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Motivation and Applications</a:t>
            </a:r>
            <a:endParaRPr lang="en-US" sz="3200" dirty="0"/>
          </a:p>
        </p:txBody>
      </p:sp>
      <p:sp>
        <p:nvSpPr>
          <p:cNvPr id="3" name="Text 1"/>
          <p:cNvSpPr txBox="1"/>
          <p:nvPr/>
        </p:nvSpPr>
        <p:spPr>
          <a:xfrm>
            <a:off x="548640" y="1325880"/>
            <a:ext cx="5120640" cy="411480"/>
          </a:xfrm>
          <a:prstGeom prst="rect">
            <a:avLst/>
          </a:prstGeom>
          <a:noFill/>
          <a:ln/>
        </p:spPr>
        <p:txBody>
          <a:bodyPr wrap="square" lIns="0" tIns="0" rIns="0" bIns="0" rtlCol="0" anchor="t"/>
          <a:lstStyle/>
          <a:p>
            <a:pPr indent="0" marL="0">
              <a:buNone/>
            </a:pPr>
            <a:r>
              <a:rPr lang="en-US" sz="2000" b="1" dirty="0">
                <a:solidFill>
                  <a:schemeClr val="tx1"/>
                </a:solidFill>
              </a:rPr>
              <a:t>Why this research</a:t>
            </a:r>
            <a:endParaRPr lang="en-US" sz="2000" dirty="0"/>
          </a:p>
        </p:txBody>
      </p:sp>
      <p:sp>
        <p:nvSpPr>
          <p:cNvPr id="4" name="Text 2"/>
          <p:cNvSpPr txBox="1"/>
          <p:nvPr/>
        </p:nvSpPr>
        <p:spPr>
          <a:xfrm>
            <a:off x="548640" y="1874520"/>
            <a:ext cx="5120640" cy="4114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Indian evidence on whether news text helps CPI forecasts is mixed: sometimes it helped, sometimes it hurt (Pratap 2021; Das &amp; Das 2024).</a:t>
            </a:r>
            <a:endParaRPr lang="en-US" sz="1400" dirty="0"/>
          </a:p>
          <a:p>
            <a:pPr marL="342900" indent="-342900">
              <a:spcAft>
                <a:spcPts val="600"/>
              </a:spcAft>
              <a:buSzPct val="100000"/>
              <a:buChar char="•"/>
            </a:pPr>
            <a:r>
              <a:rPr lang="en-US" sz="1400" dirty="0">
                <a:solidFill>
                  <a:schemeClr val="tx2"/>
                </a:solidFill>
              </a:rPr>
              <a:t>In a live test, LLM agents were weakest on inflation (LiveMacroEval 2026). So the LLM should read evidence, not forecast directly.</a:t>
            </a:r>
            <a:endParaRPr lang="en-US" sz="1400" dirty="0"/>
          </a:p>
          <a:p>
            <a:pPr marL="342900" indent="-342900">
              <a:spcAft>
                <a:spcPts val="600"/>
              </a:spcAft>
              <a:buSzPct val="100000"/>
              <a:buChar char="•"/>
            </a:pPr>
            <a:r>
              <a:rPr lang="en-US" sz="1400" dirty="0">
                <a:solidFill>
                  <a:schemeClr val="tx2"/>
                </a:solidFill>
              </a:rPr>
              <a:t>Official RBI and PIB documents are dated, public and linkable, which makes fair, point-in-time testing possible.</a:t>
            </a:r>
            <a:endParaRPr lang="en-US" sz="1400" dirty="0"/>
          </a:p>
        </p:txBody>
      </p:sp>
      <p:sp>
        <p:nvSpPr>
          <p:cNvPr id="5" name="Text 3"/>
          <p:cNvSpPr txBox="1"/>
          <p:nvPr/>
        </p:nvSpPr>
        <p:spPr>
          <a:xfrm>
            <a:off x="6217920" y="1325880"/>
            <a:ext cx="5394960" cy="411480"/>
          </a:xfrm>
          <a:prstGeom prst="rect">
            <a:avLst/>
          </a:prstGeom>
          <a:noFill/>
          <a:ln/>
        </p:spPr>
        <p:txBody>
          <a:bodyPr wrap="square" lIns="0" tIns="0" rIns="0" bIns="0" rtlCol="0" anchor="t"/>
          <a:lstStyle/>
          <a:p>
            <a:pPr indent="0" marL="0">
              <a:buNone/>
            </a:pPr>
            <a:r>
              <a:rPr lang="en-US" sz="2000" b="1" dirty="0">
                <a:solidFill>
                  <a:schemeClr val="tx1"/>
                </a:solidFill>
              </a:rPr>
              <a:t>Who can use it</a:t>
            </a:r>
            <a:endParaRPr lang="en-US" sz="2000" dirty="0"/>
          </a:p>
        </p:txBody>
      </p:sp>
      <p:sp>
        <p:nvSpPr>
          <p:cNvPr id="6" name="app0"/>
          <p:cNvSpPr/>
          <p:nvPr/>
        </p:nvSpPr>
        <p:spPr>
          <a:xfrm>
            <a:off x="6217920" y="1874520"/>
            <a:ext cx="2606040" cy="1920240"/>
          </a:xfrm>
          <a:prstGeom prst="roundRect">
            <a:avLst>
              <a:gd name="adj" fmla="val 3810"/>
            </a:avLst>
          </a:prstGeom>
          <a:solidFill>
            <a:srgbClr val="FBEBDD"/>
          </a:solidFill>
          <a:ln/>
        </p:spPr>
      </p:sp>
      <p:sp>
        <p:nvSpPr>
          <p:cNvPr id="7" name="Text 5"/>
          <p:cNvSpPr txBox="1"/>
          <p:nvPr/>
        </p:nvSpPr>
        <p:spPr>
          <a:xfrm>
            <a:off x="6400800" y="2057400"/>
            <a:ext cx="2240280" cy="365760"/>
          </a:xfrm>
          <a:prstGeom prst="rect">
            <a:avLst/>
          </a:prstGeom>
          <a:noFill/>
          <a:ln/>
        </p:spPr>
        <p:txBody>
          <a:bodyPr wrap="square" lIns="0" tIns="0" rIns="0" bIns="0" rtlCol="0" anchor="t"/>
          <a:lstStyle/>
          <a:p>
            <a:pPr indent="0" marL="0">
              <a:buNone/>
            </a:pPr>
            <a:r>
              <a:rPr lang="en-US" sz="1600" b="1" dirty="0">
                <a:solidFill>
                  <a:schemeClr val="tx1"/>
                </a:solidFill>
              </a:rPr>
              <a:t>Researchers</a:t>
            </a:r>
            <a:endParaRPr lang="en-US" sz="1600" dirty="0"/>
          </a:p>
        </p:txBody>
      </p:sp>
      <p:sp>
        <p:nvSpPr>
          <p:cNvPr id="8" name="Text 6"/>
          <p:cNvSpPr txBox="1"/>
          <p:nvPr/>
        </p:nvSpPr>
        <p:spPr>
          <a:xfrm>
            <a:off x="6400800" y="2514600"/>
            <a:ext cx="2240280" cy="1188720"/>
          </a:xfrm>
          <a:prstGeom prst="rect">
            <a:avLst/>
          </a:prstGeom>
          <a:noFill/>
          <a:ln/>
        </p:spPr>
        <p:txBody>
          <a:bodyPr wrap="square" lIns="0" tIns="0" rIns="0" bIns="0" rtlCol="0" anchor="t"/>
          <a:lstStyle/>
          <a:p>
            <a:pPr indent="0" marL="0">
              <a:buNone/>
            </a:pPr>
            <a:r>
              <a:rPr lang="en-US" sz="1300" dirty="0">
                <a:solidFill>
                  <a:schemeClr val="tx2"/>
                </a:solidFill>
              </a:rPr>
              <a:t>A public point-in-time dataset of Indian CPI and official evidence</a:t>
            </a:r>
            <a:endParaRPr lang="en-US" sz="1300" dirty="0"/>
          </a:p>
        </p:txBody>
      </p:sp>
      <p:sp>
        <p:nvSpPr>
          <p:cNvPr id="9" name="app1"/>
          <p:cNvSpPr/>
          <p:nvPr/>
        </p:nvSpPr>
        <p:spPr>
          <a:xfrm>
            <a:off x="8961120" y="1874520"/>
            <a:ext cx="2606040" cy="1920240"/>
          </a:xfrm>
          <a:prstGeom prst="roundRect">
            <a:avLst>
              <a:gd name="adj" fmla="val 3810"/>
            </a:avLst>
          </a:prstGeom>
          <a:solidFill>
            <a:srgbClr val="E3F2EE"/>
          </a:solidFill>
          <a:ln/>
        </p:spPr>
      </p:sp>
      <p:sp>
        <p:nvSpPr>
          <p:cNvPr id="10" name="Text 8"/>
          <p:cNvSpPr txBox="1"/>
          <p:nvPr/>
        </p:nvSpPr>
        <p:spPr>
          <a:xfrm>
            <a:off x="9144000" y="2057400"/>
            <a:ext cx="2240280" cy="365760"/>
          </a:xfrm>
          <a:prstGeom prst="rect">
            <a:avLst/>
          </a:prstGeom>
          <a:noFill/>
          <a:ln/>
        </p:spPr>
        <p:txBody>
          <a:bodyPr wrap="square" lIns="0" tIns="0" rIns="0" bIns="0" rtlCol="0" anchor="t"/>
          <a:lstStyle/>
          <a:p>
            <a:pPr indent="0" marL="0">
              <a:buNone/>
            </a:pPr>
            <a:r>
              <a:rPr lang="en-US" sz="1600" b="1" dirty="0">
                <a:solidFill>
                  <a:schemeClr val="tx1"/>
                </a:solidFill>
              </a:rPr>
              <a:t>Analysts and students</a:t>
            </a:r>
            <a:endParaRPr lang="en-US" sz="1600" dirty="0"/>
          </a:p>
        </p:txBody>
      </p:sp>
      <p:sp>
        <p:nvSpPr>
          <p:cNvPr id="11" name="Text 9"/>
          <p:cNvSpPr txBox="1"/>
          <p:nvPr/>
        </p:nvSpPr>
        <p:spPr>
          <a:xfrm>
            <a:off x="9144000" y="2514600"/>
            <a:ext cx="2240280" cy="1188720"/>
          </a:xfrm>
          <a:prstGeom prst="rect">
            <a:avLst/>
          </a:prstGeom>
          <a:noFill/>
          <a:ln/>
        </p:spPr>
        <p:txBody>
          <a:bodyPr wrap="square" lIns="0" tIns="0" rIns="0" bIns="0" rtlCol="0" anchor="t"/>
          <a:lstStyle/>
          <a:p>
            <a:pPr indent="0" marL="0">
              <a:buNone/>
            </a:pPr>
            <a:r>
              <a:rPr lang="en-US" sz="1300" dirty="0">
                <a:solidFill>
                  <a:schemeClr val="tx2"/>
                </a:solidFill>
              </a:rPr>
              <a:t>Inflation monitoring with forecasts that show their sources</a:t>
            </a:r>
            <a:endParaRPr lang="en-US" sz="1300" dirty="0"/>
          </a:p>
        </p:txBody>
      </p:sp>
      <p:sp>
        <p:nvSpPr>
          <p:cNvPr id="12" name="app2"/>
          <p:cNvSpPr/>
          <p:nvPr/>
        </p:nvSpPr>
        <p:spPr>
          <a:xfrm>
            <a:off x="6217920" y="3977640"/>
            <a:ext cx="2606040" cy="1920240"/>
          </a:xfrm>
          <a:prstGeom prst="roundRect">
            <a:avLst>
              <a:gd name="adj" fmla="val 3810"/>
            </a:avLst>
          </a:prstGeom>
          <a:solidFill>
            <a:srgbClr val="E3F2EE"/>
          </a:solidFill>
          <a:ln/>
        </p:spPr>
      </p:sp>
      <p:sp>
        <p:nvSpPr>
          <p:cNvPr id="13" name="Text 11"/>
          <p:cNvSpPr txBox="1"/>
          <p:nvPr/>
        </p:nvSpPr>
        <p:spPr>
          <a:xfrm>
            <a:off x="6400800" y="4160520"/>
            <a:ext cx="2240280" cy="365760"/>
          </a:xfrm>
          <a:prstGeom prst="rect">
            <a:avLst/>
          </a:prstGeom>
          <a:noFill/>
          <a:ln/>
        </p:spPr>
        <p:txBody>
          <a:bodyPr wrap="square" lIns="0" tIns="0" rIns="0" bIns="0" rtlCol="0" anchor="t"/>
          <a:lstStyle/>
          <a:p>
            <a:pPr indent="0" marL="0">
              <a:buNone/>
            </a:pPr>
            <a:r>
              <a:rPr lang="en-US" sz="1600" b="1" dirty="0">
                <a:solidFill>
                  <a:schemeClr val="tx1"/>
                </a:solidFill>
              </a:rPr>
              <a:t>Policy readers</a:t>
            </a:r>
            <a:endParaRPr lang="en-US" sz="1600" dirty="0"/>
          </a:p>
        </p:txBody>
      </p:sp>
      <p:sp>
        <p:nvSpPr>
          <p:cNvPr id="14" name="Text 12"/>
          <p:cNvSpPr txBox="1"/>
          <p:nvPr/>
        </p:nvSpPr>
        <p:spPr>
          <a:xfrm>
            <a:off x="6400800" y="4617720"/>
            <a:ext cx="2240280" cy="1188720"/>
          </a:xfrm>
          <a:prstGeom prst="rect">
            <a:avLst/>
          </a:prstGeom>
          <a:noFill/>
          <a:ln/>
        </p:spPr>
        <p:txBody>
          <a:bodyPr wrap="square" lIns="0" tIns="0" rIns="0" bIns="0" rtlCol="0" anchor="t"/>
          <a:lstStyle/>
          <a:p>
            <a:pPr indent="0" marL="0">
              <a:buNone/>
            </a:pPr>
            <a:r>
              <a:rPr lang="en-US" sz="1300" dirty="0">
                <a:solidFill>
                  <a:schemeClr val="tx2"/>
                </a:solidFill>
              </a:rPr>
              <a:t>See which RBI or government action moved the forecast</a:t>
            </a:r>
            <a:endParaRPr lang="en-US" sz="1300" dirty="0"/>
          </a:p>
        </p:txBody>
      </p:sp>
      <p:sp>
        <p:nvSpPr>
          <p:cNvPr id="15" name="app3"/>
          <p:cNvSpPr/>
          <p:nvPr/>
        </p:nvSpPr>
        <p:spPr>
          <a:xfrm>
            <a:off x="8961120" y="3977640"/>
            <a:ext cx="2606040" cy="1920240"/>
          </a:xfrm>
          <a:prstGeom prst="roundRect">
            <a:avLst>
              <a:gd name="adj" fmla="val 3810"/>
            </a:avLst>
          </a:prstGeom>
          <a:solidFill>
            <a:srgbClr val="FBEBDD"/>
          </a:solidFill>
          <a:ln/>
        </p:spPr>
      </p:sp>
      <p:sp>
        <p:nvSpPr>
          <p:cNvPr id="16" name="Text 14"/>
          <p:cNvSpPr txBox="1"/>
          <p:nvPr/>
        </p:nvSpPr>
        <p:spPr>
          <a:xfrm>
            <a:off x="9144000" y="4160520"/>
            <a:ext cx="2240280" cy="365760"/>
          </a:xfrm>
          <a:prstGeom prst="rect">
            <a:avLst/>
          </a:prstGeom>
          <a:noFill/>
          <a:ln/>
        </p:spPr>
        <p:txBody>
          <a:bodyPr wrap="square" lIns="0" tIns="0" rIns="0" bIns="0" rtlCol="0" anchor="t"/>
          <a:lstStyle/>
          <a:p>
            <a:pPr indent="0" marL="0">
              <a:buNone/>
            </a:pPr>
            <a:r>
              <a:rPr lang="en-US" sz="1600" b="1" dirty="0">
                <a:solidFill>
                  <a:schemeClr val="tx1"/>
                </a:solidFill>
              </a:rPr>
              <a:t>AI evaluators</a:t>
            </a:r>
            <a:endParaRPr lang="en-US" sz="1600" dirty="0"/>
          </a:p>
        </p:txBody>
      </p:sp>
      <p:sp>
        <p:nvSpPr>
          <p:cNvPr id="17" name="Text 15"/>
          <p:cNvSpPr txBox="1"/>
          <p:nvPr/>
        </p:nvSpPr>
        <p:spPr>
          <a:xfrm>
            <a:off x="9144000" y="4617720"/>
            <a:ext cx="2240280" cy="1188720"/>
          </a:xfrm>
          <a:prstGeom prst="rect">
            <a:avLst/>
          </a:prstGeom>
          <a:noFill/>
          <a:ln/>
        </p:spPr>
        <p:txBody>
          <a:bodyPr wrap="square" lIns="0" tIns="0" rIns="0" bIns="0" rtlCol="0" anchor="t"/>
          <a:lstStyle/>
          <a:p>
            <a:pPr indent="0" marL="0">
              <a:buNone/>
            </a:pPr>
            <a:r>
              <a:rPr lang="en-US" sz="1300" dirty="0">
                <a:solidFill>
                  <a:schemeClr val="tx2"/>
                </a:solidFill>
              </a:rPr>
              <a:t>A fair benchmark of LLMs on Indian events (Part A)</a:t>
            </a:r>
            <a:endParaRPr lang="en-US" sz="1300" dirty="0"/>
          </a:p>
        </p:txBody>
      </p:sp>
      <p:sp>
        <p:nvSpPr>
          <p:cNvPr id="18" name="Text 16"/>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i="1" dirty="0">
                <a:solidFill>
                  <a:schemeClr val="accent4"/>
                </a:solidFill>
              </a:rPr>
              <a:t>Not a replacement for RBI or official statistics; no trading or policy advice.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Literature Review: Numerical CPI Forecasting</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3017520"/>
                <a:gridCol w="2834640"/>
                <a:gridCol w="2834640"/>
              </a:tblGrid>
              <a:tr h="548640">
                <a:tc>
                  <a:txBody>
                    <a:bodyPr/>
                    <a:lstStyle/>
                    <a:p>
                      <a:pPr indent="0" marL="0">
                        <a:buNone/>
                      </a:pPr>
                      <a:r>
                        <a:rPr lang="en-US" sz="1400" b="1" dirty="0">
                          <a:solidFill>
                            <a:srgbClr val="FFFFFF"/>
                          </a:solidFill>
                        </a:rPr>
                        <a:t>Model / study</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indent="0" marL="0">
                        <a:buNone/>
                      </a:pPr>
                      <a:r>
                        <a:rPr lang="en-US" sz="1400" b="1" dirty="0">
                          <a:solidFill>
                            <a:srgbClr val="FFFFFF"/>
                          </a:solidFill>
                        </a:rPr>
                        <a:t>How it works</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indent="0" marL="0">
                        <a:buNone/>
                      </a:pPr>
                      <a:r>
                        <a:rPr lang="en-US" sz="1400" b="1" dirty="0">
                          <a:solidFill>
                            <a:srgbClr val="FFFFFF"/>
                          </a:solidFill>
                        </a:rPr>
                        <a:t>Strength</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indent="0" marL="0">
                        <a:buNone/>
                      </a:pPr>
                      <a:r>
                        <a:rPr lang="en-US" sz="1400" b="1" dirty="0">
                          <a:solidFill>
                            <a:srgbClr val="FFFFFF"/>
                          </a:solidFill>
                        </a:rPr>
                        <a:t>Limitation for us</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r>
              <a:tr h="548640">
                <a:tc>
                  <a:txBody>
                    <a:bodyPr/>
                    <a:lstStyle/>
                    <a:p>
                      <a:pPr indent="0" marL="0">
                        <a:buNone/>
                      </a:pPr>
                      <a:r>
                        <a:rPr lang="en-US" sz="1300" b="1" dirty="0">
                          <a:solidFill>
                            <a:srgbClr val="1A2238"/>
                          </a:solidFill>
                        </a:rPr>
                        <a:t>Naive / random walk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Next month = this month</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Hard to beat in the short term</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Uses no new information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A2238"/>
                          </a:solidFill>
                        </a:rPr>
                        <a:t>SARIMA</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Statistical model of trend and seasons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Strong on Indian CPI in past studies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Numbers only; cannot read news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r h="548640">
                <a:tc>
                  <a:txBody>
                    <a:bodyPr/>
                    <a:lstStyle/>
                    <a:p>
                      <a:pPr indent="0" marL="0">
                        <a:buNone/>
                      </a:pPr>
                      <a:r>
                        <a:rPr lang="en-US" sz="1300" b="1" dirty="0">
                          <a:solidFill>
                            <a:srgbClr val="1A2238"/>
                          </a:solidFill>
                        </a:rPr>
                        <a:t>XGBoost / ML</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Boosted decision trees on lags and features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Captures non-linear patterns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Overfits on short samples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A2238"/>
                          </a:solidFill>
                        </a:rPr>
                        <a:t>Mohan et al. 2025 (RBI)</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Combines 216 models for CPI</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Best accuracy; about 70% below a random walk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No text evidence; no revision rule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take5"/>
          <p:cNvSpPr/>
          <p:nvPr/>
        </p:nvSpPr>
        <p:spPr>
          <a:xfrm>
            <a:off x="548640" y="4800600"/>
            <a:ext cx="11064240" cy="1234440"/>
          </a:xfrm>
          <a:prstGeom prst="roundRect">
            <a:avLst>
              <a:gd name="adj" fmla="val 5926"/>
            </a:avLst>
          </a:prstGeom>
          <a:solidFill>
            <a:srgbClr val="E3F2EE"/>
          </a:solidFill>
          <a:ln/>
        </p:spPr>
      </p:sp>
      <p:sp>
        <p:nvSpPr>
          <p:cNvPr id="5" name="Text 2"/>
          <p:cNvSpPr txBox="1"/>
          <p:nvPr/>
        </p:nvSpPr>
        <p:spPr>
          <a:xfrm>
            <a:off x="822960" y="4937760"/>
            <a:ext cx="10515600" cy="960120"/>
          </a:xfrm>
          <a:prstGeom prst="rect">
            <a:avLst/>
          </a:prstGeom>
          <a:noFill/>
          <a:ln/>
        </p:spPr>
        <p:txBody>
          <a:bodyPr wrap="square" lIns="0" tIns="0" rIns="0" bIns="0" rtlCol="0" anchor="ctr"/>
          <a:lstStyle/>
          <a:p>
            <a:pPr indent="0" marL="0">
              <a:buNone/>
            </a:pPr>
            <a:r>
              <a:rPr lang="en-US" sz="1500" b="1" dirty="0">
                <a:solidFill>
                  <a:schemeClr val="accent3"/>
                </a:solidFill>
              </a:rPr>
              <a:t>Takeaway: </a:t>
            </a:r>
            <a:pPr indent="0" marL="0">
              <a:buNone/>
            </a:pPr>
            <a:r>
              <a:rPr lang="en-US" sz="1500" dirty="0">
                <a:solidFill>
                  <a:schemeClr val="tx2"/>
                </a:solidFill>
              </a:rPr>
              <a:t>numerical models are strong and must be our baselines. But they only use past numbers, so they react late to policy news such as an RBI rate cut or a wheat stock limit.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Literature Review: Text and LLM-Based Forecasting</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743200"/>
                <a:gridCol w="4206240"/>
                <a:gridCol w="4114800"/>
              </a:tblGrid>
              <a:tr h="530352">
                <a:tc>
                  <a:txBody>
                    <a:bodyPr/>
                    <a:lstStyle/>
                    <a:p>
                      <a:pPr indent="0" marL="0">
                        <a:buNone/>
                      </a:pPr>
                      <a:r>
                        <a:rPr lang="en-US" sz="1400" b="1" dirty="0">
                          <a:solidFill>
                            <a:srgbClr val="FFFFFF"/>
                          </a:solidFill>
                        </a:rPr>
                        <a:t>Study</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indent="0" marL="0">
                        <a:buNone/>
                      </a:pPr>
                      <a:r>
                        <a:rPr lang="en-US" sz="1400" b="1" dirty="0">
                          <a:solidFill>
                            <a:srgbClr val="FFFFFF"/>
                          </a:solidFill>
                        </a:rPr>
                        <a:t>What it does</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indent="0" marL="0">
                        <a:buNone/>
                      </a:pPr>
                      <a:r>
                        <a:rPr lang="en-US" sz="1400" b="1" dirty="0">
                          <a:solidFill>
                            <a:srgbClr val="FFFFFF"/>
                          </a:solidFill>
                        </a:rPr>
                        <a:t>Limitation for our problem</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r>
              <a:tr h="530352">
                <a:tc>
                  <a:txBody>
                    <a:bodyPr/>
                    <a:lstStyle/>
                    <a:p>
                      <a:pPr indent="0" marL="0">
                        <a:buNone/>
                      </a:pPr>
                      <a:r>
                        <a:rPr lang="en-US" sz="1300" b="1" dirty="0">
                          <a:solidFill>
                            <a:srgbClr val="1A2238"/>
                          </a:solidFill>
                        </a:rPr>
                        <a:t>Pratap et al. 2021 (RBI)</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News sentiment index for Indian food inflation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Mixed results; aggregate index; no significance tests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1A2238"/>
                          </a:solidFill>
                        </a:rPr>
                        <a:t>Das &amp; Das 2024</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Newspaper headline words + ML for Indian inflation</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Text hurt 2 of 3 models; look-ahead risk</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r h="530352">
                <a:tc>
                  <a:txBody>
                    <a:bodyPr/>
                    <a:lstStyle/>
                    <a:p>
                      <a:pPr indent="0" marL="0">
                        <a:buNone/>
                      </a:pPr>
                      <a:r>
                        <a:rPr lang="en-US" sz="1300" b="1" dirty="0">
                          <a:solidFill>
                            <a:srgbClr val="1A2238"/>
                          </a:solidFill>
                        </a:rPr>
                        <a:t>Fan et al. 2025 (LLM-CPI)</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LLM text signals added to a CPI model, with intervals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China and social media; no revision policy</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1A2238"/>
                          </a:solidFill>
                        </a:rPr>
                        <a:t>LiveMacroEval 2026</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Live LLM nowcasts of US indicators</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No fixed update rule; weakest on CPI; US only</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r h="530352">
                <a:tc>
                  <a:txBody>
                    <a:bodyPr/>
                    <a:lstStyle/>
                    <a:p>
                      <a:pPr indent="0" marL="0">
                        <a:buNone/>
                      </a:pPr>
                      <a:r>
                        <a:rPr lang="en-US" sz="1300" b="1" dirty="0">
                          <a:solidFill>
                            <a:srgbClr val="1A2238"/>
                          </a:solidFill>
                        </a:rPr>
                        <a:t>Forecast-Dojo 2026</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LLM agents with an evidence ledger</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1A2238"/>
                          </a:solidFill>
                        </a:rPr>
                        <a:t>Event questions, not CPI; no bounded rule</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1A2238"/>
                          </a:solidFill>
                        </a:rPr>
                        <a:t>Modugno 2013 / Thorsrud 2016</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News-driven nowcast updating</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indent="0" marL="0">
                        <a:buNone/>
                      </a:pPr>
                      <a:r>
                        <a:rPr lang="en-US" sz="1300" dirty="0">
                          <a:solidFill>
                            <a:srgbClr val="1A2238"/>
                          </a:solidFill>
                        </a:rPr>
                        <a:t>Numeric or topic level; not claim level</a:t>
                      </a:r>
                      <a:endParaRPr lang="en-US" sz="13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bl>
          </a:graphicData>
        </a:graphic>
      </p:graphicFrame>
      <p:sp>
        <p:nvSpPr>
          <p:cNvPr id="4" name="take6"/>
          <p:cNvSpPr/>
          <p:nvPr/>
        </p:nvSpPr>
        <p:spPr>
          <a:xfrm>
            <a:off x="548640" y="5257800"/>
            <a:ext cx="11064240" cy="868680"/>
          </a:xfrm>
          <a:prstGeom prst="roundRect">
            <a:avLst>
              <a:gd name="adj" fmla="val 8421"/>
            </a:avLst>
          </a:prstGeom>
          <a:solidFill>
            <a:srgbClr val="FBEBDD"/>
          </a:solidFill>
          <a:ln/>
        </p:spPr>
      </p:sp>
      <p:sp>
        <p:nvSpPr>
          <p:cNvPr id="5" name="Text 2"/>
          <p:cNvSpPr txBox="1"/>
          <p:nvPr/>
        </p:nvSpPr>
        <p:spPr>
          <a:xfrm>
            <a:off x="822960" y="5349240"/>
            <a:ext cx="10515600" cy="685800"/>
          </a:xfrm>
          <a:prstGeom prst="rect">
            <a:avLst/>
          </a:prstGeom>
          <a:noFill/>
          <a:ln/>
        </p:spPr>
        <p:txBody>
          <a:bodyPr wrap="square" lIns="0" tIns="0" rIns="0" bIns="0" rtlCol="0" anchor="ctr"/>
          <a:lstStyle/>
          <a:p>
            <a:pPr indent="0" marL="0">
              <a:buNone/>
            </a:pPr>
            <a:r>
              <a:rPr lang="en-US" sz="1500" b="1" dirty="0">
                <a:solidFill>
                  <a:schemeClr val="accent2"/>
                </a:solidFill>
              </a:rPr>
              <a:t>Takeaway: </a:t>
            </a:r>
            <a:pPr indent="0" marL="0">
              <a:buNone/>
            </a:pPr>
            <a:r>
              <a:rPr lang="en-US" sz="1500" dirty="0">
                <a:solidFill>
                  <a:schemeClr val="tx2"/>
                </a:solidFill>
              </a:rPr>
              <a:t>text can help, but results are mixed, and no reviewed work limits how much news may move the forecast.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Comparative Analysis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834640"/>
                <a:gridCol w="1463040"/>
                <a:gridCol w="1463040"/>
                <a:gridCol w="1920240"/>
                <a:gridCol w="1645920"/>
                <a:gridCol w="1737360"/>
              </a:tblGrid>
              <a:tr h="475488">
                <a:tc>
                  <a:txBody>
                    <a:bodyPr/>
                    <a:lstStyle/>
                    <a:p>
                      <a:pPr indent="0" marL="0">
                        <a:buNone/>
                      </a:pPr>
                      <a:r>
                        <a:rPr lang="en-US" sz="1400" b="1" dirty="0">
                          <a:solidFill>
                            <a:srgbClr val="FFFFFF"/>
                          </a:solidFill>
                        </a:rPr>
                        <a:t>Work</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algn="ctr" indent="0" marL="0">
                        <a:buNone/>
                      </a:pPr>
                      <a:r>
                        <a:rPr lang="en-US" sz="1400" b="1" dirty="0">
                          <a:solidFill>
                            <a:srgbClr val="FFFFFF"/>
                          </a:solidFill>
                        </a:rPr>
                        <a:t>Indian CPI</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algn="ctr" indent="0" marL="0">
                        <a:buNone/>
                      </a:pPr>
                      <a:r>
                        <a:rPr lang="en-US" sz="1400" b="1" dirty="0">
                          <a:solidFill>
                            <a:srgbClr val="FFFFFF"/>
                          </a:solidFill>
                        </a:rPr>
                        <a:t>Uses text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algn="ctr" indent="0" marL="0">
                        <a:buNone/>
                      </a:pPr>
                      <a:r>
                        <a:rPr lang="en-US" sz="1400" b="1" dirty="0">
                          <a:solidFill>
                            <a:srgbClr val="FFFFFF"/>
                          </a:solidFill>
                        </a:rPr>
                        <a:t>Claim-level, source-linked</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algn="ctr" indent="0" marL="0">
                        <a:buNone/>
                      </a:pPr>
                      <a:r>
                        <a:rPr lang="en-US" sz="1400" b="1" dirty="0">
                          <a:solidFill>
                            <a:srgbClr val="FFFFFF"/>
                          </a:solidFill>
                        </a:rPr>
                        <a:t>Fixed bounded rule</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c>
                  <a:txBody>
                    <a:bodyPr/>
                    <a:lstStyle/>
                    <a:p>
                      <a:pPr algn="ctr" indent="0" marL="0">
                        <a:buNone/>
                      </a:pPr>
                      <a:r>
                        <a:rPr lang="en-US" sz="1400" b="1" dirty="0">
                          <a:solidFill>
                            <a:srgbClr val="FFFFFF"/>
                          </a:solidFill>
                        </a:rPr>
                        <a:t>Compares update policies</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A2238"/>
                    </a:solidFill>
                  </a:tcPr>
                </a:tc>
              </a:tr>
              <a:tr h="475488">
                <a:tc>
                  <a:txBody>
                    <a:bodyPr/>
                    <a:lstStyle/>
                    <a:p>
                      <a:pPr algn="l" indent="0" marL="0">
                        <a:buNone/>
                      </a:pPr>
                      <a:r>
                        <a:rPr lang="en-US" sz="1400" b="1" dirty="0">
                          <a:solidFill>
                            <a:srgbClr val="1A2238"/>
                          </a:solidFill>
                        </a:rPr>
                        <a:t>Mohan et al. 2025</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1A2238"/>
                          </a:solidFill>
                        </a:rPr>
                        <a:t>Pratap et al. 2021</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E07A2F"/>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r h="475488">
                <a:tc>
                  <a:txBody>
                    <a:bodyPr/>
                    <a:lstStyle/>
                    <a:p>
                      <a:pPr algn="l" indent="0" marL="0">
                        <a:buNone/>
                      </a:pPr>
                      <a:r>
                        <a:rPr lang="en-US" sz="1400" b="1" dirty="0">
                          <a:solidFill>
                            <a:srgbClr val="1A2238"/>
                          </a:solidFill>
                        </a:rPr>
                        <a:t>Das &amp; Das 2024</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1A2238"/>
                          </a:solidFill>
                        </a:rPr>
                        <a:t>Fan et al. 2025</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r h="475488">
                <a:tc>
                  <a:txBody>
                    <a:bodyPr/>
                    <a:lstStyle/>
                    <a:p>
                      <a:pPr algn="l" indent="0" marL="0">
                        <a:buNone/>
                      </a:pPr>
                      <a:r>
                        <a:rPr lang="en-US" sz="1400" b="1" dirty="0">
                          <a:solidFill>
                            <a:srgbClr val="1A2238"/>
                          </a:solidFill>
                        </a:rPr>
                        <a:t>LiveMacroEval 2026</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1A2238"/>
                          </a:solidFill>
                        </a:rPr>
                        <a:t>Forecast-Dojo 2026</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E07A2F"/>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7"/>
                    </a:solidFill>
                  </a:tcPr>
                </a:tc>
              </a:tr>
              <a:tr h="475488">
                <a:tc>
                  <a:txBody>
                    <a:bodyPr/>
                    <a:lstStyle/>
                    <a:p>
                      <a:pPr algn="l" indent="0" marL="0">
                        <a:buNone/>
                      </a:pPr>
                      <a:r>
                        <a:rPr lang="en-US" sz="1400" b="1" dirty="0">
                          <a:solidFill>
                            <a:srgbClr val="1A2238"/>
                          </a:solidFill>
                        </a:rPr>
                        <a:t>Modugno / Thorsrud</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E07A2F"/>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E07A2F"/>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B33A3A"/>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1A2238"/>
                          </a:solidFill>
                        </a:rPr>
                        <a:t>Reflica India (proposed)</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2EE"/>
                    </a:solidFill>
                  </a:tcPr>
                </a:tc>
                <a:tc>
                  <a:txBody>
                    <a:bodyPr/>
                    <a:lstStyle/>
                    <a:p>
                      <a:pPr algn="ctr" indent="0" marL="0">
                        <a:buNone/>
                      </a:pPr>
                      <a:r>
                        <a:rPr lang="en-US" sz="1400" b="1"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2EE"/>
                    </a:solidFill>
                  </a:tcPr>
                </a:tc>
                <a:tc>
                  <a:txBody>
                    <a:bodyPr/>
                    <a:lstStyle/>
                    <a:p>
                      <a:pPr algn="ctr" indent="0" marL="0">
                        <a:buNone/>
                      </a:pPr>
                      <a:r>
                        <a:rPr lang="en-US" sz="1400" b="1"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2EE"/>
                    </a:solidFill>
                  </a:tcPr>
                </a:tc>
                <a:tc>
                  <a:txBody>
                    <a:bodyPr/>
                    <a:lstStyle/>
                    <a:p>
                      <a:pPr algn="ctr" indent="0" marL="0">
                        <a:buNone/>
                      </a:pPr>
                      <a:r>
                        <a:rPr lang="en-US" sz="1400" b="1"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2EE"/>
                    </a:solidFill>
                  </a:tcPr>
                </a:tc>
                <a:tc>
                  <a:txBody>
                    <a:bodyPr/>
                    <a:lstStyle/>
                    <a:p>
                      <a:pPr algn="ctr" indent="0" marL="0">
                        <a:buNone/>
                      </a:pPr>
                      <a:r>
                        <a:rPr lang="en-US" sz="1400" b="1"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2EE"/>
                    </a:solidFill>
                  </a:tcPr>
                </a:tc>
                <a:tc>
                  <a:txBody>
                    <a:bodyPr/>
                    <a:lstStyle/>
                    <a:p>
                      <a:pPr algn="ctr" indent="0" marL="0">
                        <a:buNone/>
                      </a:pPr>
                      <a:r>
                        <a:rPr lang="en-US" sz="1400" b="1" dirty="0">
                          <a:solidFill>
                            <a:srgbClr val="138A72"/>
                          </a:solidFill>
                        </a:rPr>
                        <a:t>✓</a:t>
                      </a:r>
                      <a:endParaRPr lang="en-US" sz="14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2EE"/>
                    </a:solidFill>
                  </a:tcPr>
                </a:tc>
              </a:tr>
            </a:tbl>
          </a:graphicData>
        </a:graphic>
      </p:graphicFrame>
      <p:sp>
        <p:nvSpPr>
          <p:cNvPr id="4" name="Text 1"/>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200" dirty="0">
                <a:solidFill>
                  <a:schemeClr val="accent4"/>
                </a:solidFill>
              </a:rPr>
              <a:t>✓ yes   ~ partly (food inflation only / evidence ledger / news-driven updates)   ✗ no   ·   Based on our reading of each paper. "Proposed" = planned, not yet tested.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Research Gap</a:t>
            </a:r>
            <a:endParaRPr lang="en-US" sz="3200" dirty="0"/>
          </a:p>
        </p:txBody>
      </p:sp>
      <p:sp>
        <p:nvSpPr>
          <p:cNvPr id="3" name="gap"/>
          <p:cNvSpPr/>
          <p:nvPr/>
        </p:nvSpPr>
        <p:spPr>
          <a:xfrm>
            <a:off x="548640" y="1325880"/>
            <a:ext cx="11064240" cy="1737360"/>
          </a:xfrm>
          <a:prstGeom prst="roundRect">
            <a:avLst>
              <a:gd name="adj" fmla="val 4211"/>
            </a:avLst>
          </a:prstGeom>
          <a:solidFill>
            <a:schemeClr val="tx1"/>
          </a:solidFill>
          <a:ln/>
        </p:spPr>
      </p:sp>
      <p:sp>
        <p:nvSpPr>
          <p:cNvPr id="4" name="Text 2"/>
          <p:cNvSpPr txBox="1"/>
          <p:nvPr/>
        </p:nvSpPr>
        <p:spPr>
          <a:xfrm>
            <a:off x="868680" y="1463040"/>
            <a:ext cx="10424160" cy="1463040"/>
          </a:xfrm>
          <a:prstGeom prst="rect">
            <a:avLst/>
          </a:prstGeom>
          <a:noFill/>
          <a:ln/>
        </p:spPr>
        <p:txBody>
          <a:bodyPr wrap="square" lIns="0" tIns="0" rIns="0" bIns="0" rtlCol="0" anchor="ctr"/>
          <a:lstStyle/>
          <a:p>
            <a:pPr indent="0" marL="0">
              <a:buNone/>
            </a:pPr>
            <a:r>
              <a:rPr lang="en-US" sz="1500" b="1" dirty="0">
                <a:solidFill>
                  <a:schemeClr val="accent2"/>
                </a:solidFill>
                <a:latin typeface="Cambria" pitchFamily="34" charset="0"/>
                <a:ea typeface="Cambria" pitchFamily="34" charset="-122"/>
                <a:cs typeface="Cambria" pitchFamily="34" charset="-120"/>
              </a:rPr>
              <a:t>Main gap (G2, medium confidence)
</a:t>
            </a:r>
            <a:pPr indent="0" marL="0">
              <a:buNone/>
            </a:pPr>
            <a:r>
              <a:rPr lang="en-US" sz="1700" dirty="0">
                <a:solidFill>
                  <a:schemeClr val="bg1"/>
                </a:solidFill>
                <a:latin typeface="Cambria" pitchFamily="34" charset="0"/>
                <a:ea typeface="Cambria" pitchFamily="34" charset="-122"/>
                <a:cs typeface="Cambria" pitchFamily="34" charset="-120"/>
              </a:rPr>
              <a:t>Among the works reviewed, none tests claim-level, source-linked evidence with a fixed bounded revision rule on Indian headline CPI, compared with never-update and always-update policies, under strict point-in-time testing.</a:t>
            </a:r>
            <a:endParaRPr lang="en-US" sz="1400" dirty="0"/>
          </a:p>
        </p:txBody>
      </p:sp>
      <p:sp>
        <p:nvSpPr>
          <p:cNvPr id="5" name="g0"/>
          <p:cNvSpPr/>
          <p:nvPr/>
        </p:nvSpPr>
        <p:spPr>
          <a:xfrm>
            <a:off x="548640" y="3383280"/>
            <a:ext cx="3566160" cy="2331720"/>
          </a:xfrm>
          <a:prstGeom prst="roundRect">
            <a:avLst>
              <a:gd name="adj" fmla="val 3137"/>
            </a:avLst>
          </a:prstGeom>
          <a:solidFill>
            <a:schemeClr val="bg2"/>
          </a:solidFill>
          <a:ln/>
        </p:spPr>
      </p:sp>
      <p:sp>
        <p:nvSpPr>
          <p:cNvPr id="6" name="Shape 4"/>
          <p:cNvSpPr/>
          <p:nvPr/>
        </p:nvSpPr>
        <p:spPr>
          <a:xfrm>
            <a:off x="822960" y="3611880"/>
            <a:ext cx="640080" cy="640080"/>
          </a:xfrm>
          <a:prstGeom prst="ellipse">
            <a:avLst/>
          </a:prstGeom>
          <a:solidFill>
            <a:schemeClr val="accent4"/>
          </a:solidFill>
          <a:ln/>
        </p:spPr>
      </p:sp>
      <p:sp>
        <p:nvSpPr>
          <p:cNvPr id="7" name="Text 5"/>
          <p:cNvSpPr txBox="1"/>
          <p:nvPr/>
        </p:nvSpPr>
        <p:spPr>
          <a:xfrm>
            <a:off x="822960" y="36118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G1</a:t>
            </a:r>
            <a:endParaRPr lang="en-US" sz="1600" dirty="0"/>
          </a:p>
        </p:txBody>
      </p:sp>
      <p:sp>
        <p:nvSpPr>
          <p:cNvPr id="8" name="Text 6"/>
          <p:cNvSpPr txBox="1"/>
          <p:nvPr/>
        </p:nvSpPr>
        <p:spPr>
          <a:xfrm>
            <a:off x="1645920" y="3703320"/>
            <a:ext cx="2286000" cy="457200"/>
          </a:xfrm>
          <a:prstGeom prst="rect">
            <a:avLst/>
          </a:prstGeom>
          <a:noFill/>
          <a:ln/>
        </p:spPr>
        <p:txBody>
          <a:bodyPr wrap="square" lIns="0" tIns="0" rIns="0" bIns="0" rtlCol="0" anchor="ctr"/>
          <a:lstStyle/>
          <a:p>
            <a:pPr indent="0" marL="0">
              <a:buNone/>
            </a:pPr>
            <a:r>
              <a:rPr lang="en-US" sz="1300" b="1" dirty="0">
                <a:solidFill>
                  <a:schemeClr val="accent4"/>
                </a:solidFill>
              </a:rPr>
              <a:t>Confidence: Low–medium</a:t>
            </a:r>
            <a:endParaRPr lang="en-US" sz="1300" dirty="0"/>
          </a:p>
        </p:txBody>
      </p:sp>
      <p:sp>
        <p:nvSpPr>
          <p:cNvPr id="9" name="Text 7"/>
          <p:cNvSpPr txBox="1"/>
          <p:nvPr/>
        </p:nvSpPr>
        <p:spPr>
          <a:xfrm>
            <a:off x="822960" y="4434840"/>
            <a:ext cx="3017520" cy="1188720"/>
          </a:xfrm>
          <a:prstGeom prst="rect">
            <a:avLst/>
          </a:prstGeom>
          <a:noFill/>
          <a:ln/>
        </p:spPr>
        <p:txBody>
          <a:bodyPr wrap="square" lIns="0" tIns="0" rIns="0" bIns="0" rtlCol="0" anchor="t"/>
          <a:lstStyle/>
          <a:p>
            <a:pPr indent="0" marL="0">
              <a:buNone/>
            </a:pPr>
            <a:r>
              <a:rPr lang="en-US" sz="1500" dirty="0">
                <a:solidFill>
                  <a:schemeClr val="tx1"/>
                </a:solidFill>
              </a:rPr>
              <a:t>No India-specific prospective LLM forecasting benchmark found</a:t>
            </a:r>
            <a:endParaRPr lang="en-US" sz="1500" dirty="0"/>
          </a:p>
        </p:txBody>
      </p:sp>
      <p:sp>
        <p:nvSpPr>
          <p:cNvPr id="10" name="g1"/>
          <p:cNvSpPr/>
          <p:nvPr/>
        </p:nvSpPr>
        <p:spPr>
          <a:xfrm>
            <a:off x="4297680" y="3383280"/>
            <a:ext cx="3566160" cy="2331720"/>
          </a:xfrm>
          <a:prstGeom prst="roundRect">
            <a:avLst>
              <a:gd name="adj" fmla="val 3137"/>
            </a:avLst>
          </a:prstGeom>
          <a:solidFill>
            <a:schemeClr val="bg2"/>
          </a:solidFill>
          <a:ln/>
        </p:spPr>
      </p:sp>
      <p:sp>
        <p:nvSpPr>
          <p:cNvPr id="11" name="Shape 9"/>
          <p:cNvSpPr/>
          <p:nvPr/>
        </p:nvSpPr>
        <p:spPr>
          <a:xfrm>
            <a:off x="4572000" y="3611880"/>
            <a:ext cx="640080" cy="640080"/>
          </a:xfrm>
          <a:prstGeom prst="ellipse">
            <a:avLst/>
          </a:prstGeom>
          <a:solidFill>
            <a:schemeClr val="accent2"/>
          </a:solidFill>
          <a:ln/>
        </p:spPr>
      </p:sp>
      <p:sp>
        <p:nvSpPr>
          <p:cNvPr id="12" name="Text 10"/>
          <p:cNvSpPr txBox="1"/>
          <p:nvPr/>
        </p:nvSpPr>
        <p:spPr>
          <a:xfrm>
            <a:off x="4572000" y="36118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G2</a:t>
            </a:r>
            <a:endParaRPr lang="en-US" sz="1600" dirty="0"/>
          </a:p>
        </p:txBody>
      </p:sp>
      <p:sp>
        <p:nvSpPr>
          <p:cNvPr id="13" name="Text 11"/>
          <p:cNvSpPr txBox="1"/>
          <p:nvPr/>
        </p:nvSpPr>
        <p:spPr>
          <a:xfrm>
            <a:off x="5394960" y="3703320"/>
            <a:ext cx="2286000" cy="457200"/>
          </a:xfrm>
          <a:prstGeom prst="rect">
            <a:avLst/>
          </a:prstGeom>
          <a:noFill/>
          <a:ln/>
        </p:spPr>
        <p:txBody>
          <a:bodyPr wrap="square" lIns="0" tIns="0" rIns="0" bIns="0" rtlCol="0" anchor="ctr"/>
          <a:lstStyle/>
          <a:p>
            <a:pPr indent="0" marL="0">
              <a:buNone/>
            </a:pPr>
            <a:r>
              <a:rPr lang="en-US" sz="1300" b="1" dirty="0">
                <a:solidFill>
                  <a:schemeClr val="accent2"/>
                </a:solidFill>
              </a:rPr>
              <a:t>Confidence: Medium</a:t>
            </a:r>
            <a:endParaRPr lang="en-US" sz="1300" dirty="0"/>
          </a:p>
        </p:txBody>
      </p:sp>
      <p:sp>
        <p:nvSpPr>
          <p:cNvPr id="14" name="Text 12"/>
          <p:cNvSpPr txBox="1"/>
          <p:nvPr/>
        </p:nvSpPr>
        <p:spPr>
          <a:xfrm>
            <a:off x="4572000" y="4434840"/>
            <a:ext cx="3017520" cy="1188720"/>
          </a:xfrm>
          <a:prstGeom prst="rect">
            <a:avLst/>
          </a:prstGeom>
          <a:noFill/>
          <a:ln/>
        </p:spPr>
        <p:txBody>
          <a:bodyPr wrap="square" lIns="0" tIns="0" rIns="0" bIns="0" rtlCol="0" anchor="t"/>
          <a:lstStyle/>
          <a:p>
            <a:pPr indent="0" marL="0">
              <a:buNone/>
            </a:pPr>
            <a:r>
              <a:rPr lang="en-US" sz="1500" dirty="0">
                <a:solidFill>
                  <a:schemeClr val="tx1"/>
                </a:solidFill>
              </a:rPr>
              <a:t>Claim-level evidence + bounded revision rule for Indian CPI</a:t>
            </a:r>
            <a:endParaRPr lang="en-US" sz="1500" dirty="0"/>
          </a:p>
        </p:txBody>
      </p:sp>
      <p:sp>
        <p:nvSpPr>
          <p:cNvPr id="15" name="g2"/>
          <p:cNvSpPr/>
          <p:nvPr/>
        </p:nvSpPr>
        <p:spPr>
          <a:xfrm>
            <a:off x="8046720" y="3383280"/>
            <a:ext cx="3566160" cy="2331720"/>
          </a:xfrm>
          <a:prstGeom prst="roundRect">
            <a:avLst>
              <a:gd name="adj" fmla="val 3137"/>
            </a:avLst>
          </a:prstGeom>
          <a:solidFill>
            <a:schemeClr val="bg2"/>
          </a:solidFill>
          <a:ln/>
        </p:spPr>
      </p:sp>
      <p:sp>
        <p:nvSpPr>
          <p:cNvPr id="16" name="Shape 14"/>
          <p:cNvSpPr/>
          <p:nvPr/>
        </p:nvSpPr>
        <p:spPr>
          <a:xfrm>
            <a:off x="8321040" y="3611880"/>
            <a:ext cx="640080" cy="640080"/>
          </a:xfrm>
          <a:prstGeom prst="ellipse">
            <a:avLst/>
          </a:prstGeom>
          <a:solidFill>
            <a:schemeClr val="accent3"/>
          </a:solidFill>
          <a:ln/>
        </p:spPr>
      </p:sp>
      <p:sp>
        <p:nvSpPr>
          <p:cNvPr id="17" name="Text 15"/>
          <p:cNvSpPr txBox="1"/>
          <p:nvPr/>
        </p:nvSpPr>
        <p:spPr>
          <a:xfrm>
            <a:off x="8321040" y="36118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G3</a:t>
            </a:r>
            <a:endParaRPr lang="en-US" sz="1600" dirty="0"/>
          </a:p>
        </p:txBody>
      </p:sp>
      <p:sp>
        <p:nvSpPr>
          <p:cNvPr id="18" name="Text 16"/>
          <p:cNvSpPr txBox="1"/>
          <p:nvPr/>
        </p:nvSpPr>
        <p:spPr>
          <a:xfrm>
            <a:off x="9144000" y="3703320"/>
            <a:ext cx="2286000" cy="457200"/>
          </a:xfrm>
          <a:prstGeom prst="rect">
            <a:avLst/>
          </a:prstGeom>
          <a:noFill/>
          <a:ln/>
        </p:spPr>
        <p:txBody>
          <a:bodyPr wrap="square" lIns="0" tIns="0" rIns="0" bIns="0" rtlCol="0" anchor="ctr"/>
          <a:lstStyle/>
          <a:p>
            <a:pPr indent="0" marL="0">
              <a:buNone/>
            </a:pPr>
            <a:r>
              <a:rPr lang="en-US" sz="1300" b="1" dirty="0">
                <a:solidFill>
                  <a:schemeClr val="accent3"/>
                </a:solidFill>
              </a:rPr>
              <a:t>Confidence: Medium–high</a:t>
            </a:r>
            <a:endParaRPr lang="en-US" sz="1300" dirty="0"/>
          </a:p>
        </p:txBody>
      </p:sp>
      <p:sp>
        <p:nvSpPr>
          <p:cNvPr id="19" name="Text 17"/>
          <p:cNvSpPr txBox="1"/>
          <p:nvPr/>
        </p:nvSpPr>
        <p:spPr>
          <a:xfrm>
            <a:off x="8321040" y="4434840"/>
            <a:ext cx="3017520" cy="1188720"/>
          </a:xfrm>
          <a:prstGeom prst="rect">
            <a:avLst/>
          </a:prstGeom>
          <a:noFill/>
          <a:ln/>
        </p:spPr>
        <p:txBody>
          <a:bodyPr wrap="square" lIns="0" tIns="0" rIns="0" bIns="0" rtlCol="0" anchor="t"/>
          <a:lstStyle/>
          <a:p>
            <a:pPr indent="0" marL="0">
              <a:buNone/>
            </a:pPr>
            <a:r>
              <a:rPr lang="en-US" sz="1500" dirty="0">
                <a:solidFill>
                  <a:schemeClr val="tx1"/>
                </a:solidFill>
              </a:rPr>
              <a:t>Whether text helps Indian CPI is still an open question</a:t>
            </a:r>
            <a:endParaRPr lang="en-US" sz="1500" dirty="0"/>
          </a:p>
        </p:txBody>
      </p:sp>
      <p:sp>
        <p:nvSpPr>
          <p:cNvPr id="20" name="Text 18"/>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200" i="1" dirty="0">
                <a:solidFill>
                  <a:schemeClr val="accent4"/>
                </a:solidFill>
              </a:rPr>
              <a:t>We claim no novelty. The gap is stated only for the works reviewed (about 59 papers).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Objectives and Research Questions</a:t>
            </a:r>
            <a:endParaRPr lang="en-US" sz="3200" dirty="0"/>
          </a:p>
        </p:txBody>
      </p:sp>
      <p:sp>
        <p:nvSpPr>
          <p:cNvPr id="3" name="Text 1"/>
          <p:cNvSpPr txBox="1"/>
          <p:nvPr/>
        </p:nvSpPr>
        <p:spPr>
          <a:xfrm>
            <a:off x="548640" y="1325880"/>
            <a:ext cx="5669280" cy="411480"/>
          </a:xfrm>
          <a:prstGeom prst="rect">
            <a:avLst/>
          </a:prstGeom>
          <a:noFill/>
          <a:ln/>
        </p:spPr>
        <p:txBody>
          <a:bodyPr wrap="square" lIns="0" tIns="0" rIns="0" bIns="0" rtlCol="0" anchor="t"/>
          <a:lstStyle/>
          <a:p>
            <a:pPr indent="0" marL="0">
              <a:buNone/>
            </a:pPr>
            <a:r>
              <a:rPr lang="en-US" sz="2000" b="1" dirty="0">
                <a:solidFill>
                  <a:schemeClr val="tx1"/>
                </a:solidFill>
              </a:rPr>
              <a:t>Objectives</a:t>
            </a:r>
            <a:endParaRPr lang="en-US" sz="2000" dirty="0"/>
          </a:p>
        </p:txBody>
      </p:sp>
      <p:sp>
        <p:nvSpPr>
          <p:cNvPr id="4" name="Shape 2"/>
          <p:cNvSpPr/>
          <p:nvPr/>
        </p:nvSpPr>
        <p:spPr>
          <a:xfrm>
            <a:off x="548640" y="1874520"/>
            <a:ext cx="457200" cy="457200"/>
          </a:xfrm>
          <a:prstGeom prst="ellipse">
            <a:avLst/>
          </a:prstGeom>
          <a:solidFill>
            <a:schemeClr val="accent1"/>
          </a:solidFill>
          <a:ln/>
        </p:spPr>
      </p:sp>
      <p:sp>
        <p:nvSpPr>
          <p:cNvPr id="5" name="Text 3"/>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88720" y="1828800"/>
            <a:ext cx="4937760" cy="731520"/>
          </a:xfrm>
          <a:prstGeom prst="rect">
            <a:avLst/>
          </a:prstGeom>
          <a:noFill/>
          <a:ln/>
        </p:spPr>
        <p:txBody>
          <a:bodyPr wrap="square" lIns="0" tIns="0" rIns="0" bIns="0" rtlCol="0" anchor="ctr"/>
          <a:lstStyle/>
          <a:p>
            <a:pPr indent="0" marL="0">
              <a:buNone/>
            </a:pPr>
            <a:r>
              <a:rPr lang="en-US" sz="1400" dirty="0">
                <a:solidFill>
                  <a:schemeClr val="tx2"/>
                </a:solidFill>
              </a:rPr>
              <a:t>Build a point-in-time dataset of CPI first releases and dated official documents</a:t>
            </a:r>
            <a:endParaRPr lang="en-US" sz="1400" dirty="0"/>
          </a:p>
        </p:txBody>
      </p:sp>
      <p:sp>
        <p:nvSpPr>
          <p:cNvPr id="7" name="Shape 5"/>
          <p:cNvSpPr/>
          <p:nvPr/>
        </p:nvSpPr>
        <p:spPr>
          <a:xfrm>
            <a:off x="548640" y="2697480"/>
            <a:ext cx="457200" cy="457200"/>
          </a:xfrm>
          <a:prstGeom prst="ellipse">
            <a:avLst/>
          </a:prstGeom>
          <a:solidFill>
            <a:schemeClr val="accent1"/>
          </a:solidFill>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88720" y="2651760"/>
            <a:ext cx="4937760" cy="731520"/>
          </a:xfrm>
          <a:prstGeom prst="rect">
            <a:avLst/>
          </a:prstGeom>
          <a:noFill/>
          <a:ln/>
        </p:spPr>
        <p:txBody>
          <a:bodyPr wrap="square" lIns="0" tIns="0" rIns="0" bIns="0" rtlCol="0" anchor="ctr"/>
          <a:lstStyle/>
          <a:p>
            <a:pPr indent="0" marL="0">
              <a:buNone/>
            </a:pPr>
            <a:r>
              <a:rPr lang="en-US" sz="1400" dirty="0">
                <a:solidFill>
                  <a:schemeClr val="tx2"/>
                </a:solidFill>
              </a:rPr>
              <a:t>Build numerical baselines: naive, SARIMA, XGBoost</a:t>
            </a:r>
            <a:endParaRPr lang="en-US" sz="1400" dirty="0"/>
          </a:p>
        </p:txBody>
      </p:sp>
      <p:sp>
        <p:nvSpPr>
          <p:cNvPr id="10" name="Shape 8"/>
          <p:cNvSpPr/>
          <p:nvPr/>
        </p:nvSpPr>
        <p:spPr>
          <a:xfrm>
            <a:off x="548640" y="3520440"/>
            <a:ext cx="457200" cy="457200"/>
          </a:xfrm>
          <a:prstGeom prst="ellipse">
            <a:avLst/>
          </a:prstGeom>
          <a:solidFill>
            <a:schemeClr val="accent1"/>
          </a:solidFill>
          <a:ln/>
        </p:spPr>
      </p:sp>
      <p:sp>
        <p:nvSpPr>
          <p:cNvPr id="11" name="Text 9"/>
          <p:cNvSpPr txBox="1"/>
          <p:nvPr/>
        </p:nvSpPr>
        <p:spPr>
          <a:xfrm>
            <a:off x="54864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188720" y="3474720"/>
            <a:ext cx="4937760" cy="731520"/>
          </a:xfrm>
          <a:prstGeom prst="rect">
            <a:avLst/>
          </a:prstGeom>
          <a:noFill/>
          <a:ln/>
        </p:spPr>
        <p:txBody>
          <a:bodyPr wrap="square" lIns="0" tIns="0" rIns="0" bIns="0" rtlCol="0" anchor="ctr"/>
          <a:lstStyle/>
          <a:p>
            <a:pPr indent="0" marL="0">
              <a:buNone/>
            </a:pPr>
            <a:r>
              <a:rPr lang="en-US" sz="1400" dirty="0">
                <a:solidFill>
                  <a:schemeClr val="tx2"/>
                </a:solidFill>
              </a:rPr>
              <a:t>Extract dated, source-linked claims from RBI and PIB documents</a:t>
            </a:r>
            <a:endParaRPr lang="en-US" sz="1400" dirty="0"/>
          </a:p>
        </p:txBody>
      </p:sp>
      <p:sp>
        <p:nvSpPr>
          <p:cNvPr id="13" name="Shape 11"/>
          <p:cNvSpPr/>
          <p:nvPr/>
        </p:nvSpPr>
        <p:spPr>
          <a:xfrm>
            <a:off x="548640" y="4343400"/>
            <a:ext cx="457200" cy="457200"/>
          </a:xfrm>
          <a:prstGeom prst="ellipse">
            <a:avLst/>
          </a:prstGeom>
          <a:solidFill>
            <a:schemeClr val="accent1"/>
          </a:solidFill>
          <a:ln/>
        </p:spPr>
      </p:sp>
      <p:sp>
        <p:nvSpPr>
          <p:cNvPr id="14" name="Text 12"/>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1188720" y="4297680"/>
            <a:ext cx="4937760" cy="731520"/>
          </a:xfrm>
          <a:prstGeom prst="rect">
            <a:avLst/>
          </a:prstGeom>
          <a:noFill/>
          <a:ln/>
        </p:spPr>
        <p:txBody>
          <a:bodyPr wrap="square" lIns="0" tIns="0" rIns="0" bIns="0" rtlCol="0" anchor="ctr"/>
          <a:lstStyle/>
          <a:p>
            <a:pPr indent="0" marL="0">
              <a:buNone/>
            </a:pPr>
            <a:r>
              <a:rPr lang="en-US" sz="1400" dirty="0">
                <a:solidFill>
                  <a:schemeClr val="tx2"/>
                </a:solidFill>
              </a:rPr>
              <a:t>Design a bounded revision rule and compare it with other update policies</a:t>
            </a:r>
            <a:endParaRPr lang="en-US" sz="1400" dirty="0"/>
          </a:p>
        </p:txBody>
      </p:sp>
      <p:sp>
        <p:nvSpPr>
          <p:cNvPr id="16" name="Shape 14"/>
          <p:cNvSpPr/>
          <p:nvPr/>
        </p:nvSpPr>
        <p:spPr>
          <a:xfrm>
            <a:off x="548640" y="5166360"/>
            <a:ext cx="457200" cy="457200"/>
          </a:xfrm>
          <a:prstGeom prst="ellipse">
            <a:avLst/>
          </a:prstGeom>
          <a:solidFill>
            <a:schemeClr val="accent1"/>
          </a:solidFill>
          <a:ln/>
        </p:spPr>
      </p:sp>
      <p:sp>
        <p:nvSpPr>
          <p:cNvPr id="17" name="Text 15"/>
          <p:cNvSpPr txBox="1"/>
          <p:nvPr/>
        </p:nvSpPr>
        <p:spPr>
          <a:xfrm>
            <a:off x="548640" y="5166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1188720" y="5120640"/>
            <a:ext cx="4937760" cy="731520"/>
          </a:xfrm>
          <a:prstGeom prst="rect">
            <a:avLst/>
          </a:prstGeom>
          <a:noFill/>
          <a:ln/>
        </p:spPr>
        <p:txBody>
          <a:bodyPr wrap="square" lIns="0" tIns="0" rIns="0" bIns="0" rtlCol="0" anchor="ctr"/>
          <a:lstStyle/>
          <a:p>
            <a:pPr indent="0" marL="0">
              <a:buNone/>
            </a:pPr>
            <a:r>
              <a:rPr lang="en-US" sz="1400" dirty="0">
                <a:solidFill>
                  <a:schemeClr val="tx2"/>
                </a:solidFill>
              </a:rPr>
              <a:t>Evaluate fairly with a walk-forward test; benchmark LLMs on Indian yes/no events (Part A)</a:t>
            </a:r>
            <a:endParaRPr lang="en-US" sz="1400" dirty="0"/>
          </a:p>
        </p:txBody>
      </p:sp>
      <p:sp>
        <p:nvSpPr>
          <p:cNvPr id="19" name="Text 17"/>
          <p:cNvSpPr txBox="1"/>
          <p:nvPr/>
        </p:nvSpPr>
        <p:spPr>
          <a:xfrm>
            <a:off x="6583680" y="1325880"/>
            <a:ext cx="5029200" cy="411480"/>
          </a:xfrm>
          <a:prstGeom prst="rect">
            <a:avLst/>
          </a:prstGeom>
          <a:noFill/>
          <a:ln/>
        </p:spPr>
        <p:txBody>
          <a:bodyPr wrap="square" lIns="0" tIns="0" rIns="0" bIns="0" rtlCol="0" anchor="t"/>
          <a:lstStyle/>
          <a:p>
            <a:pPr indent="0" marL="0">
              <a:buNone/>
            </a:pPr>
            <a:r>
              <a:rPr lang="en-US" sz="2000" b="1" dirty="0">
                <a:solidFill>
                  <a:schemeClr val="tx1"/>
                </a:solidFill>
              </a:rPr>
              <a:t>Research questions (Part B)</a:t>
            </a:r>
            <a:endParaRPr lang="en-US" sz="2000" dirty="0"/>
          </a:p>
        </p:txBody>
      </p:sp>
      <p:sp>
        <p:nvSpPr>
          <p:cNvPr id="20" name="rq0"/>
          <p:cNvSpPr/>
          <p:nvPr/>
        </p:nvSpPr>
        <p:spPr>
          <a:xfrm>
            <a:off x="6583680" y="1874520"/>
            <a:ext cx="5029200" cy="1188720"/>
          </a:xfrm>
          <a:prstGeom prst="roundRect">
            <a:avLst>
              <a:gd name="adj" fmla="val 6154"/>
            </a:avLst>
          </a:prstGeom>
          <a:solidFill>
            <a:srgbClr val="FBEBDD"/>
          </a:solidFill>
          <a:ln/>
        </p:spPr>
      </p:sp>
      <p:sp>
        <p:nvSpPr>
          <p:cNvPr id="21" name="Text 19"/>
          <p:cNvSpPr txBox="1"/>
          <p:nvPr/>
        </p:nvSpPr>
        <p:spPr>
          <a:xfrm>
            <a:off x="6766560" y="2011680"/>
            <a:ext cx="822960" cy="914400"/>
          </a:xfrm>
          <a:prstGeom prst="rect">
            <a:avLst/>
          </a:prstGeom>
          <a:noFill/>
          <a:ln/>
        </p:spPr>
        <p:txBody>
          <a:bodyPr wrap="square" lIns="0" tIns="0" rIns="0" bIns="0" rtlCol="0" anchor="ctr"/>
          <a:lstStyle/>
          <a:p>
            <a:pPr indent="0" marL="0">
              <a:buNone/>
            </a:pPr>
            <a:r>
              <a:rPr lang="en-US" sz="1800" b="1" dirty="0">
                <a:solidFill>
                  <a:schemeClr val="accent2"/>
                </a:solidFill>
              </a:rPr>
              <a:t>RQ1</a:t>
            </a:r>
            <a:endParaRPr lang="en-US" sz="1800" dirty="0"/>
          </a:p>
        </p:txBody>
      </p:sp>
      <p:sp>
        <p:nvSpPr>
          <p:cNvPr id="22" name="Text 20"/>
          <p:cNvSpPr txBox="1"/>
          <p:nvPr/>
        </p:nvSpPr>
        <p:spPr>
          <a:xfrm>
            <a:off x="7589520" y="1965960"/>
            <a:ext cx="3886200" cy="1005840"/>
          </a:xfrm>
          <a:prstGeom prst="rect">
            <a:avLst/>
          </a:prstGeom>
          <a:noFill/>
          <a:ln/>
        </p:spPr>
        <p:txBody>
          <a:bodyPr wrap="square" lIns="0" tIns="0" rIns="0" bIns="0" rtlCol="0" anchor="ctr"/>
          <a:lstStyle/>
          <a:p>
            <a:pPr indent="0" marL="0">
              <a:buNone/>
            </a:pPr>
            <a:r>
              <a:rPr lang="en-US" sz="1400" dirty="0">
                <a:solidFill>
                  <a:schemeClr val="tx2"/>
                </a:solidFill>
              </a:rPr>
              <a:t>Does evidence-aware bounded revision reduce error (MAE, RMSE) compared with never-update and always-update?</a:t>
            </a:r>
            <a:endParaRPr lang="en-US" sz="1400" dirty="0"/>
          </a:p>
        </p:txBody>
      </p:sp>
      <p:sp>
        <p:nvSpPr>
          <p:cNvPr id="23" name="rq1"/>
          <p:cNvSpPr/>
          <p:nvPr/>
        </p:nvSpPr>
        <p:spPr>
          <a:xfrm>
            <a:off x="6583680" y="3246120"/>
            <a:ext cx="5029200" cy="1188720"/>
          </a:xfrm>
          <a:prstGeom prst="roundRect">
            <a:avLst>
              <a:gd name="adj" fmla="val 6154"/>
            </a:avLst>
          </a:prstGeom>
          <a:solidFill>
            <a:schemeClr val="bg2"/>
          </a:solidFill>
          <a:ln/>
        </p:spPr>
      </p:sp>
      <p:sp>
        <p:nvSpPr>
          <p:cNvPr id="24" name="Text 22"/>
          <p:cNvSpPr txBox="1"/>
          <p:nvPr/>
        </p:nvSpPr>
        <p:spPr>
          <a:xfrm>
            <a:off x="6766560" y="3383280"/>
            <a:ext cx="822960" cy="914400"/>
          </a:xfrm>
          <a:prstGeom prst="rect">
            <a:avLst/>
          </a:prstGeom>
          <a:noFill/>
          <a:ln/>
        </p:spPr>
        <p:txBody>
          <a:bodyPr wrap="square" lIns="0" tIns="0" rIns="0" bIns="0" rtlCol="0" anchor="ctr"/>
          <a:lstStyle/>
          <a:p>
            <a:pPr indent="0" marL="0">
              <a:buNone/>
            </a:pPr>
            <a:r>
              <a:rPr lang="en-US" sz="1800" b="1" dirty="0">
                <a:solidFill>
                  <a:schemeClr val="accent2"/>
                </a:solidFill>
              </a:rPr>
              <a:t>RQ2</a:t>
            </a:r>
            <a:endParaRPr lang="en-US" sz="1800" dirty="0"/>
          </a:p>
        </p:txBody>
      </p:sp>
      <p:sp>
        <p:nvSpPr>
          <p:cNvPr id="25" name="Text 23"/>
          <p:cNvSpPr txBox="1"/>
          <p:nvPr/>
        </p:nvSpPr>
        <p:spPr>
          <a:xfrm>
            <a:off x="7589520" y="3337560"/>
            <a:ext cx="3886200" cy="1005840"/>
          </a:xfrm>
          <a:prstGeom prst="rect">
            <a:avLst/>
          </a:prstGeom>
          <a:noFill/>
          <a:ln/>
        </p:spPr>
        <p:txBody>
          <a:bodyPr wrap="square" lIns="0" tIns="0" rIns="0" bIns="0" rtlCol="0" anchor="ctr"/>
          <a:lstStyle/>
          <a:p>
            <a:pPr indent="0" marL="0">
              <a:buNone/>
            </a:pPr>
            <a:r>
              <a:rPr lang="en-US" sz="1400" dirty="0">
                <a:solidFill>
                  <a:schemeClr val="tx2"/>
                </a:solidFill>
              </a:rPr>
              <a:t>Does it reduce harmful revisions while keeping interval coverage near its target?</a:t>
            </a:r>
            <a:endParaRPr lang="en-US" sz="1400" dirty="0"/>
          </a:p>
        </p:txBody>
      </p:sp>
      <p:sp>
        <p:nvSpPr>
          <p:cNvPr id="26" name="rq2"/>
          <p:cNvSpPr/>
          <p:nvPr/>
        </p:nvSpPr>
        <p:spPr>
          <a:xfrm>
            <a:off x="6583680" y="4617720"/>
            <a:ext cx="5029200" cy="1188720"/>
          </a:xfrm>
          <a:prstGeom prst="roundRect">
            <a:avLst>
              <a:gd name="adj" fmla="val 6154"/>
            </a:avLst>
          </a:prstGeom>
          <a:solidFill>
            <a:schemeClr val="bg2"/>
          </a:solidFill>
          <a:ln/>
        </p:spPr>
      </p:sp>
      <p:sp>
        <p:nvSpPr>
          <p:cNvPr id="27" name="Text 25"/>
          <p:cNvSpPr txBox="1"/>
          <p:nvPr/>
        </p:nvSpPr>
        <p:spPr>
          <a:xfrm>
            <a:off x="6766560" y="4754880"/>
            <a:ext cx="822960" cy="914400"/>
          </a:xfrm>
          <a:prstGeom prst="rect">
            <a:avLst/>
          </a:prstGeom>
          <a:noFill/>
          <a:ln/>
        </p:spPr>
        <p:txBody>
          <a:bodyPr wrap="square" lIns="0" tIns="0" rIns="0" bIns="0" rtlCol="0" anchor="ctr"/>
          <a:lstStyle/>
          <a:p>
            <a:pPr indent="0" marL="0">
              <a:buNone/>
            </a:pPr>
            <a:r>
              <a:rPr lang="en-US" sz="1800" b="1" dirty="0">
                <a:solidFill>
                  <a:schemeClr val="accent2"/>
                </a:solidFill>
              </a:rPr>
              <a:t>RQ3</a:t>
            </a:r>
            <a:endParaRPr lang="en-US" sz="1800" dirty="0"/>
          </a:p>
        </p:txBody>
      </p:sp>
      <p:sp>
        <p:nvSpPr>
          <p:cNvPr id="28" name="Text 26"/>
          <p:cNvSpPr txBox="1"/>
          <p:nvPr/>
        </p:nvSpPr>
        <p:spPr>
          <a:xfrm>
            <a:off x="7589520" y="4709160"/>
            <a:ext cx="3886200" cy="1005840"/>
          </a:xfrm>
          <a:prstGeom prst="rect">
            <a:avLst/>
          </a:prstGeom>
          <a:noFill/>
          <a:ln/>
        </p:spPr>
        <p:txBody>
          <a:bodyPr wrap="square" lIns="0" tIns="0" rIns="0" bIns="0" rtlCol="0" anchor="ctr"/>
          <a:lstStyle/>
          <a:p>
            <a:pPr indent="0" marL="0">
              <a:buNone/>
            </a:pPr>
            <a:r>
              <a:rPr lang="en-US" sz="1400" dirty="0">
                <a:solidFill>
                  <a:schemeClr val="tx2"/>
                </a:solidFill>
              </a:rPr>
              <a:t>Which evidence properties (novelty, reliability, relevance, strength) matter most?</a:t>
            </a:r>
            <a:endParaRPr lang="en-US" sz="1400" dirty="0"/>
          </a:p>
        </p:txBody>
      </p:sp>
      <p:sp>
        <p:nvSpPr>
          <p:cNvPr id="29" name="Text 27"/>
          <p:cNvSpPr txBox="1"/>
          <p:nvPr/>
        </p:nvSpPr>
        <p:spPr>
          <a:xfrm>
            <a:off x="6583680" y="6035040"/>
            <a:ext cx="5029200" cy="274320"/>
          </a:xfrm>
          <a:prstGeom prst="rect">
            <a:avLst/>
          </a:prstGeom>
          <a:noFill/>
          <a:ln/>
        </p:spPr>
        <p:txBody>
          <a:bodyPr wrap="square" lIns="0" tIns="0" rIns="0" bIns="0" rtlCol="0" anchor="t"/>
          <a:lstStyle/>
          <a:p>
            <a:pPr indent="0" marL="0">
              <a:buNone/>
            </a:pPr>
            <a:r>
              <a:rPr lang="en-US" sz="1100" i="1" dirty="0">
                <a:solidFill>
                  <a:schemeClr val="accent4"/>
                </a:solidFill>
              </a:rPr>
              <a:t>Scope: All-India headline CPI-C, year-on-year · official sources (MoSPI, RBI, PIB, MoF) · 2013–2026</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Proposed System Architecture</a:t>
            </a:r>
            <a:endParaRPr lang="en-US" sz="3200" dirty="0"/>
          </a:p>
        </p:txBody>
      </p:sp>
      <p:sp>
        <p:nvSpPr>
          <p:cNvPr id="3" name="src"/>
          <p:cNvSpPr/>
          <p:nvPr/>
        </p:nvSpPr>
        <p:spPr>
          <a:xfrm>
            <a:off x="548640" y="1325880"/>
            <a:ext cx="2103120" cy="960120"/>
          </a:xfrm>
          <a:prstGeom prst="roundRect">
            <a:avLst>
              <a:gd name="adj" fmla="val 7619"/>
            </a:avLst>
          </a:prstGeom>
          <a:solidFill>
            <a:schemeClr val="accent4"/>
          </a:solidFill>
          <a:ln/>
        </p:spPr>
      </p:sp>
      <p:sp>
        <p:nvSpPr>
          <p:cNvPr id="4" name="Text 2"/>
          <p:cNvSpPr txBox="1"/>
          <p:nvPr/>
        </p:nvSpPr>
        <p:spPr>
          <a:xfrm>
            <a:off x="658368" y="1325880"/>
            <a:ext cx="1883664" cy="960120"/>
          </a:xfrm>
          <a:prstGeom prst="rect">
            <a:avLst/>
          </a:prstGeom>
          <a:noFill/>
          <a:ln/>
        </p:spPr>
        <p:txBody>
          <a:bodyPr wrap="square" lIns="0" tIns="0" rIns="0" bIns="0" rtlCol="0" anchor="ctr"/>
          <a:lstStyle/>
          <a:p>
            <a:pPr algn="ctr" indent="0" marL="0">
              <a:buNone/>
            </a:pPr>
            <a:r>
              <a:rPr lang="en-US" sz="1400" b="1" dirty="0">
                <a:solidFill>
                  <a:srgbClr val="FFFFFF"/>
                </a:solidFill>
              </a:rPr>
              <a:t>Official sources</a:t>
            </a:r>
            <a:endParaRPr lang="en-US" sz="1400" dirty="0"/>
          </a:p>
          <a:p>
            <a:pPr algn="ctr" indent="0" marL="0">
              <a:buNone/>
            </a:pPr>
            <a:r>
              <a:rPr lang="en-US" sz="1100" dirty="0">
                <a:solidFill>
                  <a:srgbClr val="FFFFFF"/>
                </a:solidFill>
              </a:rPr>
              <a:t>MoSPI CPI · RBI · PIB · MoF</a:t>
            </a:r>
            <a:endParaRPr lang="en-US" sz="1400" dirty="0"/>
          </a:p>
        </p:txBody>
      </p:sp>
      <p:sp>
        <p:nvSpPr>
          <p:cNvPr id="5" name="store"/>
          <p:cNvSpPr/>
          <p:nvPr/>
        </p:nvSpPr>
        <p:spPr>
          <a:xfrm>
            <a:off x="3108960" y="1325880"/>
            <a:ext cx="2377440" cy="960120"/>
          </a:xfrm>
          <a:prstGeom prst="roundRect">
            <a:avLst>
              <a:gd name="adj" fmla="val 7619"/>
            </a:avLst>
          </a:prstGeom>
          <a:solidFill>
            <a:schemeClr val="accent1"/>
          </a:solidFill>
          <a:ln/>
        </p:spPr>
      </p:sp>
      <p:sp>
        <p:nvSpPr>
          <p:cNvPr id="6" name="Text 4"/>
          <p:cNvSpPr txBox="1"/>
          <p:nvPr/>
        </p:nvSpPr>
        <p:spPr>
          <a:xfrm>
            <a:off x="3218688" y="1325880"/>
            <a:ext cx="2157984" cy="960120"/>
          </a:xfrm>
          <a:prstGeom prst="rect">
            <a:avLst/>
          </a:prstGeom>
          <a:noFill/>
          <a:ln/>
        </p:spPr>
        <p:txBody>
          <a:bodyPr wrap="square" lIns="0" tIns="0" rIns="0" bIns="0" rtlCol="0" anchor="ctr"/>
          <a:lstStyle/>
          <a:p>
            <a:pPr algn="ctr" indent="0" marL="0">
              <a:buNone/>
            </a:pPr>
            <a:r>
              <a:rPr lang="en-US" sz="1400" b="1" dirty="0">
                <a:solidFill>
                  <a:srgbClr val="FFFFFF"/>
                </a:solidFill>
              </a:rPr>
              <a:t>Timestamped store</a:t>
            </a:r>
            <a:endParaRPr lang="en-US" sz="1400" dirty="0"/>
          </a:p>
          <a:p>
            <a:pPr algn="ctr" indent="0" marL="0">
              <a:buNone/>
            </a:pPr>
            <a:r>
              <a:rPr lang="en-US" sz="1100" dirty="0">
                <a:solidFill>
                  <a:srgbClr val="FFFFFF"/>
                </a:solidFill>
              </a:rPr>
              <a:t>every item keeps its publication time</a:t>
            </a:r>
            <a:endParaRPr lang="en-US" sz="1400" dirty="0"/>
          </a:p>
        </p:txBody>
      </p:sp>
      <p:sp>
        <p:nvSpPr>
          <p:cNvPr id="7" name="Shape 5"/>
          <p:cNvSpPr/>
          <p:nvPr/>
        </p:nvSpPr>
        <p:spPr>
          <a:xfrm>
            <a:off x="2651760" y="1801368"/>
            <a:ext cx="457200" cy="914"/>
          </a:xfrm>
          <a:prstGeom prst="line">
            <a:avLst/>
          </a:prstGeom>
          <a:noFill/>
          <a:ln w="22225">
            <a:solidFill>
              <a:srgbClr val="5B6B8C"/>
            </a:solidFill>
            <a:prstDash val="solid"/>
            <a:tailEnd type="triangle"/>
          </a:ln>
        </p:spPr>
      </p:sp>
      <p:sp>
        <p:nvSpPr>
          <p:cNvPr id="8" name="num"/>
          <p:cNvSpPr/>
          <p:nvPr/>
        </p:nvSpPr>
        <p:spPr>
          <a:xfrm>
            <a:off x="6035040" y="1325880"/>
            <a:ext cx="2560320" cy="960120"/>
          </a:xfrm>
          <a:prstGeom prst="roundRect">
            <a:avLst>
              <a:gd name="adj" fmla="val 7619"/>
            </a:avLst>
          </a:prstGeom>
          <a:solidFill>
            <a:schemeClr val="accent3"/>
          </a:solidFill>
          <a:ln/>
        </p:spPr>
      </p:sp>
      <p:sp>
        <p:nvSpPr>
          <p:cNvPr id="9" name="Text 7"/>
          <p:cNvSpPr txBox="1"/>
          <p:nvPr/>
        </p:nvSpPr>
        <p:spPr>
          <a:xfrm>
            <a:off x="6144768" y="1325880"/>
            <a:ext cx="2340864" cy="960120"/>
          </a:xfrm>
          <a:prstGeom prst="rect">
            <a:avLst/>
          </a:prstGeom>
          <a:noFill/>
          <a:ln/>
        </p:spPr>
        <p:txBody>
          <a:bodyPr wrap="square" lIns="0" tIns="0" rIns="0" bIns="0" rtlCol="0" anchor="ctr"/>
          <a:lstStyle/>
          <a:p>
            <a:pPr algn="ctr" indent="0" marL="0">
              <a:buNone/>
            </a:pPr>
            <a:r>
              <a:rPr lang="en-US" sz="1400" b="1" dirty="0">
                <a:solidFill>
                  <a:srgbClr val="FFFFFF"/>
                </a:solidFill>
              </a:rPr>
              <a:t>Numerical engine</a:t>
            </a:r>
            <a:endParaRPr lang="en-US" sz="1400" dirty="0"/>
          </a:p>
          <a:p>
            <a:pPr algn="ctr" indent="0" marL="0">
              <a:buNone/>
            </a:pPr>
            <a:r>
              <a:rPr lang="en-US" sz="1100" dirty="0">
                <a:solidFill>
                  <a:srgbClr val="FFFFFF"/>
                </a:solidFill>
              </a:rPr>
              <a:t>naive · SARIMA · XGBoost → base forecast + interval</a:t>
            </a:r>
            <a:endParaRPr lang="en-US" sz="1400" dirty="0"/>
          </a:p>
        </p:txBody>
      </p:sp>
      <p:sp>
        <p:nvSpPr>
          <p:cNvPr id="10" name="claims"/>
          <p:cNvSpPr/>
          <p:nvPr/>
        </p:nvSpPr>
        <p:spPr>
          <a:xfrm>
            <a:off x="6035040" y="2834640"/>
            <a:ext cx="2560320" cy="960120"/>
          </a:xfrm>
          <a:prstGeom prst="roundRect">
            <a:avLst>
              <a:gd name="adj" fmla="val 7619"/>
            </a:avLst>
          </a:prstGeom>
          <a:solidFill>
            <a:schemeClr val="accent2"/>
          </a:solidFill>
          <a:ln/>
        </p:spPr>
      </p:sp>
      <p:sp>
        <p:nvSpPr>
          <p:cNvPr id="11" name="Text 9"/>
          <p:cNvSpPr txBox="1"/>
          <p:nvPr/>
        </p:nvSpPr>
        <p:spPr>
          <a:xfrm>
            <a:off x="6144768" y="2834640"/>
            <a:ext cx="2340864" cy="960120"/>
          </a:xfrm>
          <a:prstGeom prst="rect">
            <a:avLst/>
          </a:prstGeom>
          <a:noFill/>
          <a:ln/>
        </p:spPr>
        <p:txBody>
          <a:bodyPr wrap="square" lIns="0" tIns="0" rIns="0" bIns="0" rtlCol="0" anchor="ctr"/>
          <a:lstStyle/>
          <a:p>
            <a:pPr algn="ctr" indent="0" marL="0">
              <a:buNone/>
            </a:pPr>
            <a:r>
              <a:rPr lang="en-US" sz="1400" b="1" dirty="0">
                <a:solidFill>
                  <a:srgbClr val="FFFFFF"/>
                </a:solidFill>
              </a:rPr>
              <a:t>Claim extraction (LLM)</a:t>
            </a:r>
            <a:endParaRPr lang="en-US" sz="1400" dirty="0"/>
          </a:p>
          <a:p>
            <a:pPr algn="ctr" indent="0" marL="0">
              <a:buNone/>
            </a:pPr>
            <a:r>
              <a:rPr lang="en-US" sz="1100" dirty="0">
                <a:solidFill>
                  <a:srgbClr val="FFFFFF"/>
                </a:solidFill>
              </a:rPr>
              <a:t>quote · topic · direction · date · source</a:t>
            </a:r>
            <a:endParaRPr lang="en-US" sz="1400" dirty="0"/>
          </a:p>
        </p:txBody>
      </p:sp>
      <p:sp>
        <p:nvSpPr>
          <p:cNvPr id="12" name="Shape 10"/>
          <p:cNvSpPr/>
          <p:nvPr/>
        </p:nvSpPr>
        <p:spPr>
          <a:xfrm>
            <a:off x="5486400" y="1801368"/>
            <a:ext cx="548640" cy="914"/>
          </a:xfrm>
          <a:prstGeom prst="line">
            <a:avLst/>
          </a:prstGeom>
          <a:noFill/>
          <a:ln w="22225">
            <a:solidFill>
              <a:srgbClr val="5B6B8C"/>
            </a:solidFill>
            <a:prstDash val="solid"/>
            <a:tailEnd type="triangle"/>
          </a:ln>
        </p:spPr>
      </p:sp>
      <p:sp>
        <p:nvSpPr>
          <p:cNvPr id="13" name="Shape 11"/>
          <p:cNvSpPr/>
          <p:nvPr/>
        </p:nvSpPr>
        <p:spPr>
          <a:xfrm>
            <a:off x="5486400" y="2011680"/>
            <a:ext cx="548640" cy="1188720"/>
          </a:xfrm>
          <a:prstGeom prst="line">
            <a:avLst/>
          </a:prstGeom>
          <a:noFill/>
          <a:ln w="22225">
            <a:solidFill>
              <a:srgbClr val="5B6B8C"/>
            </a:solidFill>
            <a:prstDash val="solid"/>
            <a:tailEnd type="triangle"/>
          </a:ln>
        </p:spPr>
      </p:sp>
      <p:sp>
        <p:nvSpPr>
          <p:cNvPr id="14" name="rule"/>
          <p:cNvSpPr/>
          <p:nvPr/>
        </p:nvSpPr>
        <p:spPr>
          <a:xfrm>
            <a:off x="9144000" y="2011680"/>
            <a:ext cx="2468880" cy="1188720"/>
          </a:xfrm>
          <a:prstGeom prst="roundRect">
            <a:avLst>
              <a:gd name="adj" fmla="val 6154"/>
            </a:avLst>
          </a:prstGeom>
          <a:solidFill>
            <a:schemeClr val="tx1"/>
          </a:solidFill>
          <a:ln/>
        </p:spPr>
      </p:sp>
      <p:sp>
        <p:nvSpPr>
          <p:cNvPr id="15" name="Text 13"/>
          <p:cNvSpPr txBox="1"/>
          <p:nvPr/>
        </p:nvSpPr>
        <p:spPr>
          <a:xfrm>
            <a:off x="9253728" y="2011680"/>
            <a:ext cx="2249424" cy="1188720"/>
          </a:xfrm>
          <a:prstGeom prst="rect">
            <a:avLst/>
          </a:prstGeom>
          <a:noFill/>
          <a:ln/>
        </p:spPr>
        <p:txBody>
          <a:bodyPr wrap="square" lIns="0" tIns="0" rIns="0" bIns="0" rtlCol="0" anchor="ctr"/>
          <a:lstStyle/>
          <a:p>
            <a:pPr algn="ctr" indent="0" marL="0">
              <a:buNone/>
            </a:pPr>
            <a:r>
              <a:rPr lang="en-US" sz="1400" b="1" dirty="0">
                <a:solidFill>
                  <a:srgbClr val="FFFFFF"/>
                </a:solidFill>
              </a:rPr>
              <a:t>Bounded revision rule</a:t>
            </a:r>
            <a:endParaRPr lang="en-US" sz="1400" dirty="0"/>
          </a:p>
          <a:p>
            <a:pPr algn="ctr" indent="0" marL="0">
              <a:buNone/>
            </a:pPr>
            <a:r>
              <a:rPr lang="en-US" sz="1100" dirty="0">
                <a:solidFill>
                  <a:srgbClr val="FFFFFF"/>
                </a:solidFill>
              </a:rPr>
              <a:t>keep, or adjust within ±limit, with a logged reason</a:t>
            </a:r>
            <a:endParaRPr lang="en-US" sz="1400" dirty="0"/>
          </a:p>
        </p:txBody>
      </p:sp>
      <p:sp>
        <p:nvSpPr>
          <p:cNvPr id="16" name="Shape 14"/>
          <p:cNvSpPr/>
          <p:nvPr/>
        </p:nvSpPr>
        <p:spPr>
          <a:xfrm>
            <a:off x="8595360" y="1801368"/>
            <a:ext cx="548640" cy="576072"/>
          </a:xfrm>
          <a:prstGeom prst="line">
            <a:avLst/>
          </a:prstGeom>
          <a:noFill/>
          <a:ln w="22225">
            <a:solidFill>
              <a:srgbClr val="5B6B8C"/>
            </a:solidFill>
            <a:prstDash val="solid"/>
            <a:tailEnd type="triangle"/>
          </a:ln>
        </p:spPr>
      </p:sp>
      <p:sp>
        <p:nvSpPr>
          <p:cNvPr id="17" name="Shape 15"/>
          <p:cNvSpPr/>
          <p:nvPr/>
        </p:nvSpPr>
        <p:spPr>
          <a:xfrm flipV="1">
            <a:off x="8595360" y="2834640"/>
            <a:ext cx="548640" cy="457200"/>
          </a:xfrm>
          <a:prstGeom prst="line">
            <a:avLst/>
          </a:prstGeom>
          <a:noFill/>
          <a:ln w="22225">
            <a:solidFill>
              <a:srgbClr val="5B6B8C"/>
            </a:solidFill>
            <a:prstDash val="solid"/>
            <a:tailEnd type="triangle"/>
          </a:ln>
        </p:spPr>
      </p:sp>
      <p:sp>
        <p:nvSpPr>
          <p:cNvPr id="18" name="log"/>
          <p:cNvSpPr/>
          <p:nvPr/>
        </p:nvSpPr>
        <p:spPr>
          <a:xfrm>
            <a:off x="9144000" y="4023360"/>
            <a:ext cx="2468880" cy="914400"/>
          </a:xfrm>
          <a:prstGeom prst="roundRect">
            <a:avLst>
              <a:gd name="adj" fmla="val 8000"/>
            </a:avLst>
          </a:prstGeom>
          <a:solidFill>
            <a:schemeClr val="accent4"/>
          </a:solidFill>
          <a:ln/>
        </p:spPr>
      </p:sp>
      <p:sp>
        <p:nvSpPr>
          <p:cNvPr id="19" name="Text 17"/>
          <p:cNvSpPr txBox="1"/>
          <p:nvPr/>
        </p:nvSpPr>
        <p:spPr>
          <a:xfrm>
            <a:off x="9253728" y="4023360"/>
            <a:ext cx="2249424" cy="914400"/>
          </a:xfrm>
          <a:prstGeom prst="rect">
            <a:avLst/>
          </a:prstGeom>
          <a:noFill/>
          <a:ln/>
        </p:spPr>
        <p:txBody>
          <a:bodyPr wrap="square" lIns="0" tIns="0" rIns="0" bIns="0" rtlCol="0" anchor="ctr"/>
          <a:lstStyle/>
          <a:p>
            <a:pPr algn="ctr" indent="0" marL="0">
              <a:buNone/>
            </a:pPr>
            <a:r>
              <a:rPr lang="en-US" sz="1400" b="1" dirty="0">
                <a:solidFill>
                  <a:srgbClr val="FFFFFF"/>
                </a:solidFill>
              </a:rPr>
              <a:t>Forecast log</a:t>
            </a:r>
            <a:endParaRPr lang="en-US" sz="1400" dirty="0"/>
          </a:p>
          <a:p>
            <a:pPr algn="ctr" indent="0" marL="0">
              <a:buNone/>
            </a:pPr>
            <a:r>
              <a:rPr lang="en-US" sz="1100" dirty="0">
                <a:solidFill>
                  <a:srgbClr val="FFFFFF"/>
                </a:solidFill>
              </a:rPr>
              <a:t>forecast · change · evidence IDs</a:t>
            </a:r>
            <a:endParaRPr lang="en-US" sz="1400" dirty="0"/>
          </a:p>
        </p:txBody>
      </p:sp>
      <p:sp>
        <p:nvSpPr>
          <p:cNvPr id="20" name="Shape 18"/>
          <p:cNvSpPr/>
          <p:nvPr/>
        </p:nvSpPr>
        <p:spPr>
          <a:xfrm>
            <a:off x="10378440" y="3200400"/>
            <a:ext cx="914" cy="822960"/>
          </a:xfrm>
          <a:prstGeom prst="line">
            <a:avLst/>
          </a:prstGeom>
          <a:noFill/>
          <a:ln w="22225">
            <a:solidFill>
              <a:srgbClr val="5B6B8C"/>
            </a:solidFill>
            <a:prstDash val="solid"/>
            <a:tailEnd type="triangle"/>
          </a:ln>
        </p:spPr>
      </p:sp>
      <p:sp>
        <p:nvSpPr>
          <p:cNvPr id="21" name="eval"/>
          <p:cNvSpPr/>
          <p:nvPr/>
        </p:nvSpPr>
        <p:spPr>
          <a:xfrm>
            <a:off x="6035040" y="4023360"/>
            <a:ext cx="2560320" cy="914400"/>
          </a:xfrm>
          <a:prstGeom prst="roundRect">
            <a:avLst>
              <a:gd name="adj" fmla="val 8000"/>
            </a:avLst>
          </a:prstGeom>
          <a:solidFill>
            <a:schemeClr val="accent3"/>
          </a:solidFill>
          <a:ln/>
        </p:spPr>
      </p:sp>
      <p:sp>
        <p:nvSpPr>
          <p:cNvPr id="22" name="Text 20"/>
          <p:cNvSpPr txBox="1"/>
          <p:nvPr/>
        </p:nvSpPr>
        <p:spPr>
          <a:xfrm>
            <a:off x="6144768" y="4023360"/>
            <a:ext cx="2340864" cy="914400"/>
          </a:xfrm>
          <a:prstGeom prst="rect">
            <a:avLst/>
          </a:prstGeom>
          <a:noFill/>
          <a:ln/>
        </p:spPr>
        <p:txBody>
          <a:bodyPr wrap="square" lIns="0" tIns="0" rIns="0" bIns="0" rtlCol="0" anchor="ctr"/>
          <a:lstStyle/>
          <a:p>
            <a:pPr algn="ctr" indent="0" marL="0">
              <a:buNone/>
            </a:pPr>
            <a:r>
              <a:rPr lang="en-US" sz="1400" b="1" dirty="0">
                <a:solidFill>
                  <a:srgbClr val="FFFFFF"/>
                </a:solidFill>
              </a:rPr>
              <a:t>Walk-forward evaluation</a:t>
            </a:r>
            <a:endParaRPr lang="en-US" sz="1400" dirty="0"/>
          </a:p>
          <a:p>
            <a:pPr algn="ctr" indent="0" marL="0">
              <a:buNone/>
            </a:pPr>
            <a:r>
              <a:rPr lang="en-US" sz="1100" dirty="0">
                <a:solidFill>
                  <a:srgbClr val="FFFFFF"/>
                </a:solidFill>
              </a:rPr>
              <a:t>MAE · RMSE · DM test · coverage</a:t>
            </a:r>
            <a:endParaRPr lang="en-US" sz="1400" dirty="0"/>
          </a:p>
        </p:txBody>
      </p:sp>
      <p:sp>
        <p:nvSpPr>
          <p:cNvPr id="23" name="Shape 21"/>
          <p:cNvSpPr/>
          <p:nvPr/>
        </p:nvSpPr>
        <p:spPr>
          <a:xfrm>
            <a:off x="8595360" y="4480560"/>
            <a:ext cx="548640" cy="914"/>
          </a:xfrm>
          <a:prstGeom prst="line">
            <a:avLst/>
          </a:prstGeom>
          <a:noFill/>
          <a:ln w="22225">
            <a:solidFill>
              <a:srgbClr val="5B6B8C"/>
            </a:solidFill>
            <a:prstDash val="solid"/>
            <a:tailEnd type="triangle"/>
          </a:ln>
        </p:spPr>
      </p:sp>
      <p:sp>
        <p:nvSpPr>
          <p:cNvPr id="24" name="dash"/>
          <p:cNvSpPr/>
          <p:nvPr/>
        </p:nvSpPr>
        <p:spPr>
          <a:xfrm>
            <a:off x="3108960" y="4023360"/>
            <a:ext cx="2377440" cy="914400"/>
          </a:xfrm>
          <a:prstGeom prst="roundRect">
            <a:avLst>
              <a:gd name="adj" fmla="val 8000"/>
            </a:avLst>
          </a:prstGeom>
          <a:solidFill>
            <a:schemeClr val="accent1"/>
          </a:solidFill>
          <a:ln/>
        </p:spPr>
      </p:sp>
      <p:sp>
        <p:nvSpPr>
          <p:cNvPr id="25" name="Text 23"/>
          <p:cNvSpPr txBox="1"/>
          <p:nvPr/>
        </p:nvSpPr>
        <p:spPr>
          <a:xfrm>
            <a:off x="3218688" y="4023360"/>
            <a:ext cx="2157984" cy="914400"/>
          </a:xfrm>
          <a:prstGeom prst="rect">
            <a:avLst/>
          </a:prstGeom>
          <a:noFill/>
          <a:ln/>
        </p:spPr>
        <p:txBody>
          <a:bodyPr wrap="square" lIns="0" tIns="0" rIns="0" bIns="0" rtlCol="0" anchor="ctr"/>
          <a:lstStyle/>
          <a:p>
            <a:pPr algn="ctr" indent="0" marL="0">
              <a:buNone/>
            </a:pPr>
            <a:r>
              <a:rPr lang="en-US" sz="1400" b="1" dirty="0">
                <a:solidFill>
                  <a:srgbClr val="FFFFFF"/>
                </a:solidFill>
              </a:rPr>
              <a:t>Research dashboard</a:t>
            </a:r>
            <a:endParaRPr lang="en-US" sz="1400" dirty="0"/>
          </a:p>
          <a:p>
            <a:pPr algn="ctr" indent="0" marL="0">
              <a:buNone/>
            </a:pPr>
            <a:r>
              <a:rPr lang="en-US" sz="1100" dirty="0">
                <a:solidFill>
                  <a:srgbClr val="FFFFFF"/>
                </a:solidFill>
              </a:rPr>
              <a:t>Flutter + Firebase</a:t>
            </a:r>
            <a:endParaRPr lang="en-US" sz="1400" dirty="0"/>
          </a:p>
        </p:txBody>
      </p:sp>
      <p:sp>
        <p:nvSpPr>
          <p:cNvPr id="26" name="Shape 24"/>
          <p:cNvSpPr/>
          <p:nvPr/>
        </p:nvSpPr>
        <p:spPr>
          <a:xfrm>
            <a:off x="5486400" y="4480560"/>
            <a:ext cx="548640" cy="914"/>
          </a:xfrm>
          <a:prstGeom prst="line">
            <a:avLst/>
          </a:prstGeom>
          <a:noFill/>
          <a:ln w="22225">
            <a:solidFill>
              <a:srgbClr val="5B6B8C"/>
            </a:solidFill>
            <a:prstDash val="solid"/>
            <a:tailEnd type="triangle"/>
          </a:ln>
        </p:spPr>
      </p:sp>
      <p:sp>
        <p:nvSpPr>
          <p:cNvPr id="27" name="partA"/>
          <p:cNvSpPr/>
          <p:nvPr/>
        </p:nvSpPr>
        <p:spPr>
          <a:xfrm>
            <a:off x="548640" y="5303520"/>
            <a:ext cx="11064240" cy="777240"/>
          </a:xfrm>
          <a:prstGeom prst="roundRect">
            <a:avLst>
              <a:gd name="adj" fmla="val 9412"/>
            </a:avLst>
          </a:prstGeom>
          <a:solidFill>
            <a:srgbClr val="FBEBDD"/>
          </a:solidFill>
          <a:ln/>
        </p:spPr>
      </p:sp>
      <p:sp>
        <p:nvSpPr>
          <p:cNvPr id="28" name="Text 26"/>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400" b="1" dirty="0">
                <a:solidFill>
                  <a:schemeClr val="accent2"/>
                </a:solidFill>
              </a:rPr>
              <a:t>Part A (separate evaluation): </a:t>
            </a:r>
            <a:pPr indent="0" marL="0">
              <a:buNone/>
            </a:pPr>
            <a:r>
              <a:rPr lang="en-US" sz="1400" dirty="0">
                <a:solidFill>
                  <a:schemeClr val="tx2"/>
                </a:solidFill>
              </a:rPr>
              <a:t>Indian yes/no questions → LLM answers a probability before the deadline → resolved from official sources → Brier score and calibration.</a:t>
            </a:r>
            <a:endParaRPr lang="en-US" sz="1400" dirty="0"/>
          </a:p>
        </p:txBody>
      </p:sp>
      <p:sp>
        <p:nvSpPr>
          <p:cNvPr id="29" name="Text 27"/>
          <p:cNvSpPr txBox="1"/>
          <p:nvPr/>
        </p:nvSpPr>
        <p:spPr>
          <a:xfrm>
            <a:off x="548640" y="2514600"/>
            <a:ext cx="4937760" cy="1188720"/>
          </a:xfrm>
          <a:prstGeom prst="rect">
            <a:avLst/>
          </a:prstGeom>
          <a:noFill/>
          <a:ln/>
        </p:spPr>
        <p:txBody>
          <a:bodyPr wrap="square" lIns="0" tIns="0" rIns="0" bIns="0" rtlCol="0" anchor="t"/>
          <a:lstStyle/>
          <a:p>
            <a:pPr indent="0" marL="0">
              <a:buNone/>
            </a:pPr>
            <a:r>
              <a:rPr lang="en-US" sz="1300" b="1" dirty="0">
                <a:solidFill>
                  <a:schemeClr val="tx1"/>
                </a:solidFill>
              </a:rPr>
              <a:t>Key rule: </a:t>
            </a:r>
            <a:pPr indent="0" marL="0">
              <a:buNone/>
            </a:pPr>
            <a:r>
              <a:rPr lang="en-US" sz="1300" dirty="0">
                <a:solidFill>
                  <a:schemeClr val="tx2"/>
                </a:solidFill>
              </a:rPr>
              <a:t>the LLM never forecasts CPI. It only turns documents into structured claims; the numbers come from the numerical engine.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Methodology</a:t>
            </a:r>
            <a:endParaRPr lang="en-US" sz="3200" dirty="0"/>
          </a:p>
        </p:txBody>
      </p:sp>
      <p:sp>
        <p:nvSpPr>
          <p:cNvPr id="3" name="step0"/>
          <p:cNvSpPr/>
          <p:nvPr/>
        </p:nvSpPr>
        <p:spPr>
          <a:xfrm>
            <a:off x="548640" y="1371600"/>
            <a:ext cx="1481328" cy="2103120"/>
          </a:xfrm>
          <a:prstGeom prst="roundRect">
            <a:avLst>
              <a:gd name="adj" fmla="val 4938"/>
            </a:avLst>
          </a:prstGeom>
          <a:solidFill>
            <a:srgbClr val="E3F2EE"/>
          </a:solidFill>
          <a:ln/>
        </p:spPr>
      </p:sp>
      <p:sp>
        <p:nvSpPr>
          <p:cNvPr id="4" name="Shape 2"/>
          <p:cNvSpPr/>
          <p:nvPr/>
        </p:nvSpPr>
        <p:spPr>
          <a:xfrm>
            <a:off x="1037844" y="1508760"/>
            <a:ext cx="502920" cy="502920"/>
          </a:xfrm>
          <a:prstGeom prst="ellipse">
            <a:avLst/>
          </a:prstGeom>
          <a:solidFill>
            <a:schemeClr val="accent3"/>
          </a:solidFill>
          <a:ln/>
        </p:spPr>
      </p:sp>
      <p:sp>
        <p:nvSpPr>
          <p:cNvPr id="5" name="Text 3"/>
          <p:cNvSpPr txBox="1"/>
          <p:nvPr/>
        </p:nvSpPr>
        <p:spPr>
          <a:xfrm>
            <a:off x="1037844"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640080" y="2103120"/>
            <a:ext cx="1298448" cy="457200"/>
          </a:xfrm>
          <a:prstGeom prst="rect">
            <a:avLst/>
          </a:prstGeom>
          <a:noFill/>
          <a:ln/>
        </p:spPr>
        <p:txBody>
          <a:bodyPr wrap="square" lIns="0" tIns="0" rIns="0" bIns="0" rtlCol="0" anchor="t"/>
          <a:lstStyle/>
          <a:p>
            <a:pPr algn="ctr" indent="0" marL="0">
              <a:buNone/>
            </a:pPr>
            <a:r>
              <a:rPr lang="en-US" sz="1400" b="1" dirty="0">
                <a:solidFill>
                  <a:schemeClr val="tx1"/>
                </a:solidFill>
              </a:rPr>
              <a:t>Collect</a:t>
            </a:r>
            <a:endParaRPr lang="en-US" sz="1400" dirty="0"/>
          </a:p>
        </p:txBody>
      </p:sp>
      <p:sp>
        <p:nvSpPr>
          <p:cNvPr id="7" name="Text 5"/>
          <p:cNvSpPr txBox="1"/>
          <p:nvPr/>
        </p:nvSpPr>
        <p:spPr>
          <a:xfrm>
            <a:off x="640080" y="2560320"/>
            <a:ext cx="1298448" cy="868680"/>
          </a:xfrm>
          <a:prstGeom prst="rect">
            <a:avLst/>
          </a:prstGeom>
          <a:noFill/>
          <a:ln/>
        </p:spPr>
        <p:txBody>
          <a:bodyPr wrap="square" lIns="0" tIns="0" rIns="0" bIns="0" rtlCol="0" anchor="t"/>
          <a:lstStyle/>
          <a:p>
            <a:pPr algn="ctr" indent="0" marL="0">
              <a:buNone/>
            </a:pPr>
            <a:r>
              <a:rPr lang="en-US" sz="1200" dirty="0">
                <a:solidFill>
                  <a:schemeClr val="tx2"/>
                </a:solidFill>
              </a:rPr>
              <a:t>Official data with exact publication time</a:t>
            </a:r>
            <a:endParaRPr lang="en-US" sz="1200" dirty="0"/>
          </a:p>
        </p:txBody>
      </p:sp>
      <p:sp>
        <p:nvSpPr>
          <p:cNvPr id="8" name="step1"/>
          <p:cNvSpPr/>
          <p:nvPr/>
        </p:nvSpPr>
        <p:spPr>
          <a:xfrm>
            <a:off x="2139696" y="1371600"/>
            <a:ext cx="1481328" cy="2103120"/>
          </a:xfrm>
          <a:prstGeom prst="roundRect">
            <a:avLst>
              <a:gd name="adj" fmla="val 4938"/>
            </a:avLst>
          </a:prstGeom>
          <a:solidFill>
            <a:schemeClr val="bg2"/>
          </a:solidFill>
          <a:ln/>
        </p:spPr>
      </p:sp>
      <p:sp>
        <p:nvSpPr>
          <p:cNvPr id="9" name="Shape 7"/>
          <p:cNvSpPr/>
          <p:nvPr/>
        </p:nvSpPr>
        <p:spPr>
          <a:xfrm>
            <a:off x="2628900" y="1508760"/>
            <a:ext cx="502920" cy="502920"/>
          </a:xfrm>
          <a:prstGeom prst="ellipse">
            <a:avLst/>
          </a:prstGeom>
          <a:solidFill>
            <a:schemeClr val="accent1"/>
          </a:solidFill>
          <a:ln/>
        </p:spPr>
      </p:sp>
      <p:sp>
        <p:nvSpPr>
          <p:cNvPr id="10" name="Text 8"/>
          <p:cNvSpPr txBox="1"/>
          <p:nvPr/>
        </p:nvSpPr>
        <p:spPr>
          <a:xfrm>
            <a:off x="262890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2231136" y="2103120"/>
            <a:ext cx="1298448" cy="457200"/>
          </a:xfrm>
          <a:prstGeom prst="rect">
            <a:avLst/>
          </a:prstGeom>
          <a:noFill/>
          <a:ln/>
        </p:spPr>
        <p:txBody>
          <a:bodyPr wrap="square" lIns="0" tIns="0" rIns="0" bIns="0" rtlCol="0" anchor="t"/>
          <a:lstStyle/>
          <a:p>
            <a:pPr algn="ctr" indent="0" marL="0">
              <a:buNone/>
            </a:pPr>
            <a:r>
              <a:rPr lang="en-US" sz="1400" b="1" dirty="0">
                <a:solidFill>
                  <a:schemeClr val="tx1"/>
                </a:solidFill>
              </a:rPr>
              <a:t>Build CPI series</a:t>
            </a:r>
            <a:endParaRPr lang="en-US" sz="1400" dirty="0"/>
          </a:p>
        </p:txBody>
      </p:sp>
      <p:sp>
        <p:nvSpPr>
          <p:cNvPr id="12" name="Text 10"/>
          <p:cNvSpPr txBox="1"/>
          <p:nvPr/>
        </p:nvSpPr>
        <p:spPr>
          <a:xfrm>
            <a:off x="2231136" y="2560320"/>
            <a:ext cx="1298448" cy="868680"/>
          </a:xfrm>
          <a:prstGeom prst="rect">
            <a:avLst/>
          </a:prstGeom>
          <a:noFill/>
          <a:ln/>
        </p:spPr>
        <p:txBody>
          <a:bodyPr wrap="square" lIns="0" tIns="0" rIns="0" bIns="0" rtlCol="0" anchor="t"/>
          <a:lstStyle/>
          <a:p>
            <a:pPr algn="ctr" indent="0" marL="0">
              <a:buNone/>
            </a:pPr>
            <a:r>
              <a:rPr lang="en-US" sz="1200" dirty="0">
                <a:solidFill>
                  <a:schemeClr val="tx2"/>
                </a:solidFill>
              </a:rPr>
              <a:t>Revised values to train; first releases to test</a:t>
            </a:r>
            <a:endParaRPr lang="en-US" sz="1200" dirty="0"/>
          </a:p>
        </p:txBody>
      </p:sp>
      <p:sp>
        <p:nvSpPr>
          <p:cNvPr id="13" name="step2"/>
          <p:cNvSpPr/>
          <p:nvPr/>
        </p:nvSpPr>
        <p:spPr>
          <a:xfrm>
            <a:off x="3730752" y="1371600"/>
            <a:ext cx="1481328" cy="2103120"/>
          </a:xfrm>
          <a:prstGeom prst="roundRect">
            <a:avLst>
              <a:gd name="adj" fmla="val 4938"/>
            </a:avLst>
          </a:prstGeom>
          <a:solidFill>
            <a:schemeClr val="bg2"/>
          </a:solidFill>
          <a:ln/>
        </p:spPr>
      </p:sp>
      <p:sp>
        <p:nvSpPr>
          <p:cNvPr id="14" name="Shape 12"/>
          <p:cNvSpPr/>
          <p:nvPr/>
        </p:nvSpPr>
        <p:spPr>
          <a:xfrm>
            <a:off x="4219956" y="1508760"/>
            <a:ext cx="502920" cy="502920"/>
          </a:xfrm>
          <a:prstGeom prst="ellipse">
            <a:avLst/>
          </a:prstGeom>
          <a:solidFill>
            <a:schemeClr val="accent1"/>
          </a:solidFill>
          <a:ln/>
        </p:spPr>
      </p:sp>
      <p:sp>
        <p:nvSpPr>
          <p:cNvPr id="15" name="Text 13"/>
          <p:cNvSpPr txBox="1"/>
          <p:nvPr/>
        </p:nvSpPr>
        <p:spPr>
          <a:xfrm>
            <a:off x="4219956"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3822192" y="2103120"/>
            <a:ext cx="1298448" cy="457200"/>
          </a:xfrm>
          <a:prstGeom prst="rect">
            <a:avLst/>
          </a:prstGeom>
          <a:noFill/>
          <a:ln/>
        </p:spPr>
        <p:txBody>
          <a:bodyPr wrap="square" lIns="0" tIns="0" rIns="0" bIns="0" rtlCol="0" anchor="t"/>
          <a:lstStyle/>
          <a:p>
            <a:pPr algn="ctr" indent="0" marL="0">
              <a:buNone/>
            </a:pPr>
            <a:r>
              <a:rPr lang="en-US" sz="1400" b="1" dirty="0">
                <a:solidFill>
                  <a:schemeClr val="tx1"/>
                </a:solidFill>
              </a:rPr>
              <a:t>Baselines</a:t>
            </a:r>
            <a:endParaRPr lang="en-US" sz="1400" dirty="0"/>
          </a:p>
        </p:txBody>
      </p:sp>
      <p:sp>
        <p:nvSpPr>
          <p:cNvPr id="17" name="Text 15"/>
          <p:cNvSpPr txBox="1"/>
          <p:nvPr/>
        </p:nvSpPr>
        <p:spPr>
          <a:xfrm>
            <a:off x="3822192" y="2560320"/>
            <a:ext cx="1298448" cy="868680"/>
          </a:xfrm>
          <a:prstGeom prst="rect">
            <a:avLst/>
          </a:prstGeom>
          <a:noFill/>
          <a:ln/>
        </p:spPr>
        <p:txBody>
          <a:bodyPr wrap="square" lIns="0" tIns="0" rIns="0" bIns="0" rtlCol="0" anchor="t"/>
          <a:lstStyle/>
          <a:p>
            <a:pPr algn="ctr" indent="0" marL="0">
              <a:buNone/>
            </a:pPr>
            <a:r>
              <a:rPr lang="en-US" sz="1200" dirty="0">
                <a:solidFill>
                  <a:schemeClr val="tx2"/>
                </a:solidFill>
              </a:rPr>
              <a:t>Naive, SARIMA, XGBoost; text indices</a:t>
            </a:r>
            <a:endParaRPr lang="en-US" sz="1200" dirty="0"/>
          </a:p>
        </p:txBody>
      </p:sp>
      <p:sp>
        <p:nvSpPr>
          <p:cNvPr id="18" name="step3"/>
          <p:cNvSpPr/>
          <p:nvPr/>
        </p:nvSpPr>
        <p:spPr>
          <a:xfrm>
            <a:off x="5321808" y="1371600"/>
            <a:ext cx="1481328" cy="2103120"/>
          </a:xfrm>
          <a:prstGeom prst="roundRect">
            <a:avLst>
              <a:gd name="adj" fmla="val 4938"/>
            </a:avLst>
          </a:prstGeom>
          <a:solidFill>
            <a:schemeClr val="bg2"/>
          </a:solidFill>
          <a:ln/>
        </p:spPr>
      </p:sp>
      <p:sp>
        <p:nvSpPr>
          <p:cNvPr id="19" name="Shape 17"/>
          <p:cNvSpPr/>
          <p:nvPr/>
        </p:nvSpPr>
        <p:spPr>
          <a:xfrm>
            <a:off x="5811012" y="1508760"/>
            <a:ext cx="502920" cy="502920"/>
          </a:xfrm>
          <a:prstGeom prst="ellipse">
            <a:avLst/>
          </a:prstGeom>
          <a:solidFill>
            <a:schemeClr val="accent1"/>
          </a:solidFill>
          <a:ln/>
        </p:spPr>
      </p:sp>
      <p:sp>
        <p:nvSpPr>
          <p:cNvPr id="20" name="Text 18"/>
          <p:cNvSpPr txBox="1"/>
          <p:nvPr/>
        </p:nvSpPr>
        <p:spPr>
          <a:xfrm>
            <a:off x="5811012"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5413248" y="2103120"/>
            <a:ext cx="1298448" cy="457200"/>
          </a:xfrm>
          <a:prstGeom prst="rect">
            <a:avLst/>
          </a:prstGeom>
          <a:noFill/>
          <a:ln/>
        </p:spPr>
        <p:txBody>
          <a:bodyPr wrap="square" lIns="0" tIns="0" rIns="0" bIns="0" rtlCol="0" anchor="t"/>
          <a:lstStyle/>
          <a:p>
            <a:pPr algn="ctr" indent="0" marL="0">
              <a:buNone/>
            </a:pPr>
            <a:r>
              <a:rPr lang="en-US" sz="1400" b="1" dirty="0">
                <a:solidFill>
                  <a:schemeClr val="tx1"/>
                </a:solidFill>
              </a:rPr>
              <a:t>Extract claims</a:t>
            </a:r>
            <a:endParaRPr lang="en-US" sz="1400" dirty="0"/>
          </a:p>
        </p:txBody>
      </p:sp>
      <p:sp>
        <p:nvSpPr>
          <p:cNvPr id="22" name="Text 20"/>
          <p:cNvSpPr txBox="1"/>
          <p:nvPr/>
        </p:nvSpPr>
        <p:spPr>
          <a:xfrm>
            <a:off x="5413248" y="2560320"/>
            <a:ext cx="1298448" cy="868680"/>
          </a:xfrm>
          <a:prstGeom prst="rect">
            <a:avLst/>
          </a:prstGeom>
          <a:noFill/>
          <a:ln/>
        </p:spPr>
        <p:txBody>
          <a:bodyPr wrap="square" lIns="0" tIns="0" rIns="0" bIns="0" rtlCol="0" anchor="t"/>
          <a:lstStyle/>
          <a:p>
            <a:pPr algn="ctr" indent="0" marL="0">
              <a:buNone/>
            </a:pPr>
            <a:r>
              <a:rPr lang="en-US" sz="1200" dirty="0">
                <a:solidFill>
                  <a:schemeClr val="tx2"/>
                </a:solidFill>
              </a:rPr>
              <a:t>LLM + quote check against the source</a:t>
            </a:r>
            <a:endParaRPr lang="en-US" sz="1200" dirty="0"/>
          </a:p>
        </p:txBody>
      </p:sp>
      <p:sp>
        <p:nvSpPr>
          <p:cNvPr id="23" name="step4"/>
          <p:cNvSpPr/>
          <p:nvPr/>
        </p:nvSpPr>
        <p:spPr>
          <a:xfrm>
            <a:off x="6912864" y="1371600"/>
            <a:ext cx="1481328" cy="2103120"/>
          </a:xfrm>
          <a:prstGeom prst="roundRect">
            <a:avLst>
              <a:gd name="adj" fmla="val 4938"/>
            </a:avLst>
          </a:prstGeom>
          <a:solidFill>
            <a:schemeClr val="bg2"/>
          </a:solidFill>
          <a:ln/>
        </p:spPr>
      </p:sp>
      <p:sp>
        <p:nvSpPr>
          <p:cNvPr id="24" name="Shape 22"/>
          <p:cNvSpPr/>
          <p:nvPr/>
        </p:nvSpPr>
        <p:spPr>
          <a:xfrm>
            <a:off x="7402068" y="1508760"/>
            <a:ext cx="502920" cy="502920"/>
          </a:xfrm>
          <a:prstGeom prst="ellipse">
            <a:avLst/>
          </a:prstGeom>
          <a:solidFill>
            <a:schemeClr val="accent1"/>
          </a:solidFill>
          <a:ln/>
        </p:spPr>
      </p:sp>
      <p:sp>
        <p:nvSpPr>
          <p:cNvPr id="25" name="Text 23"/>
          <p:cNvSpPr txBox="1"/>
          <p:nvPr/>
        </p:nvSpPr>
        <p:spPr>
          <a:xfrm>
            <a:off x="7402068"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7004304" y="2103120"/>
            <a:ext cx="1298448" cy="457200"/>
          </a:xfrm>
          <a:prstGeom prst="rect">
            <a:avLst/>
          </a:prstGeom>
          <a:noFill/>
          <a:ln/>
        </p:spPr>
        <p:txBody>
          <a:bodyPr wrap="square" lIns="0" tIns="0" rIns="0" bIns="0" rtlCol="0" anchor="t"/>
          <a:lstStyle/>
          <a:p>
            <a:pPr algn="ctr" indent="0" marL="0">
              <a:buNone/>
            </a:pPr>
            <a:r>
              <a:rPr lang="en-US" sz="1400" b="1" dirty="0">
                <a:solidFill>
                  <a:schemeClr val="tx1"/>
                </a:solidFill>
              </a:rPr>
              <a:t>Revise</a:t>
            </a:r>
            <a:endParaRPr lang="en-US" sz="1400" dirty="0"/>
          </a:p>
        </p:txBody>
      </p:sp>
      <p:sp>
        <p:nvSpPr>
          <p:cNvPr id="27" name="Text 25"/>
          <p:cNvSpPr txBox="1"/>
          <p:nvPr/>
        </p:nvSpPr>
        <p:spPr>
          <a:xfrm>
            <a:off x="7004304" y="2560320"/>
            <a:ext cx="1298448" cy="868680"/>
          </a:xfrm>
          <a:prstGeom prst="rect">
            <a:avLst/>
          </a:prstGeom>
          <a:noFill/>
          <a:ln/>
        </p:spPr>
        <p:txBody>
          <a:bodyPr wrap="square" lIns="0" tIns="0" rIns="0" bIns="0" rtlCol="0" anchor="t"/>
          <a:lstStyle/>
          <a:p>
            <a:pPr algn="ctr" indent="0" marL="0">
              <a:buNone/>
            </a:pPr>
            <a:r>
              <a:rPr lang="en-US" sz="1200" dirty="0">
                <a:solidFill>
                  <a:schemeClr val="tx2"/>
                </a:solidFill>
              </a:rPr>
              <a:t>Bounded rule; limits tuned on validation only</a:t>
            </a:r>
            <a:endParaRPr lang="en-US" sz="1200" dirty="0"/>
          </a:p>
        </p:txBody>
      </p:sp>
      <p:sp>
        <p:nvSpPr>
          <p:cNvPr id="28" name="step5"/>
          <p:cNvSpPr/>
          <p:nvPr/>
        </p:nvSpPr>
        <p:spPr>
          <a:xfrm>
            <a:off x="8503920" y="1371600"/>
            <a:ext cx="1481328" cy="2103120"/>
          </a:xfrm>
          <a:prstGeom prst="roundRect">
            <a:avLst>
              <a:gd name="adj" fmla="val 4938"/>
            </a:avLst>
          </a:prstGeom>
          <a:solidFill>
            <a:schemeClr val="bg2"/>
          </a:solidFill>
          <a:ln/>
        </p:spPr>
      </p:sp>
      <p:sp>
        <p:nvSpPr>
          <p:cNvPr id="29" name="Shape 27"/>
          <p:cNvSpPr/>
          <p:nvPr/>
        </p:nvSpPr>
        <p:spPr>
          <a:xfrm>
            <a:off x="8993124" y="1508760"/>
            <a:ext cx="502920" cy="502920"/>
          </a:xfrm>
          <a:prstGeom prst="ellipse">
            <a:avLst/>
          </a:prstGeom>
          <a:solidFill>
            <a:schemeClr val="accent1"/>
          </a:solidFill>
          <a:ln/>
        </p:spPr>
      </p:sp>
      <p:sp>
        <p:nvSpPr>
          <p:cNvPr id="30" name="Text 28"/>
          <p:cNvSpPr txBox="1"/>
          <p:nvPr/>
        </p:nvSpPr>
        <p:spPr>
          <a:xfrm>
            <a:off x="8993124"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8595360" y="2103120"/>
            <a:ext cx="1298448" cy="457200"/>
          </a:xfrm>
          <a:prstGeom prst="rect">
            <a:avLst/>
          </a:prstGeom>
          <a:noFill/>
          <a:ln/>
        </p:spPr>
        <p:txBody>
          <a:bodyPr wrap="square" lIns="0" tIns="0" rIns="0" bIns="0" rtlCol="0" anchor="t"/>
          <a:lstStyle/>
          <a:p>
            <a:pPr algn="ctr" indent="0" marL="0">
              <a:buNone/>
            </a:pPr>
            <a:r>
              <a:rPr lang="en-US" sz="1400" b="1" dirty="0">
                <a:solidFill>
                  <a:schemeClr val="tx1"/>
                </a:solidFill>
              </a:rPr>
              <a:t>Walk-forward test</a:t>
            </a:r>
            <a:endParaRPr lang="en-US" sz="1400" dirty="0"/>
          </a:p>
        </p:txBody>
      </p:sp>
      <p:sp>
        <p:nvSpPr>
          <p:cNvPr id="32" name="Text 30"/>
          <p:cNvSpPr txBox="1"/>
          <p:nvPr/>
        </p:nvSpPr>
        <p:spPr>
          <a:xfrm>
            <a:off x="8595360" y="2560320"/>
            <a:ext cx="1298448" cy="868680"/>
          </a:xfrm>
          <a:prstGeom prst="rect">
            <a:avLst/>
          </a:prstGeom>
          <a:noFill/>
          <a:ln/>
        </p:spPr>
        <p:txBody>
          <a:bodyPr wrap="square" lIns="0" tIns="0" rIns="0" bIns="0" rtlCol="0" anchor="t"/>
          <a:lstStyle/>
          <a:p>
            <a:pPr algn="ctr" indent="0" marL="0">
              <a:buNone/>
            </a:pPr>
            <a:r>
              <a:rPr lang="en-US" sz="1200" dirty="0">
                <a:solidFill>
                  <a:schemeClr val="tx2"/>
                </a:solidFill>
              </a:rPr>
              <a:t>Only data available before each forecast</a:t>
            </a:r>
            <a:endParaRPr lang="en-US" sz="1200" dirty="0"/>
          </a:p>
        </p:txBody>
      </p:sp>
      <p:sp>
        <p:nvSpPr>
          <p:cNvPr id="33" name="step6"/>
          <p:cNvSpPr/>
          <p:nvPr/>
        </p:nvSpPr>
        <p:spPr>
          <a:xfrm>
            <a:off x="10094976" y="1371600"/>
            <a:ext cx="1481328" cy="2103120"/>
          </a:xfrm>
          <a:prstGeom prst="roundRect">
            <a:avLst>
              <a:gd name="adj" fmla="val 4938"/>
            </a:avLst>
          </a:prstGeom>
          <a:solidFill>
            <a:schemeClr val="bg2"/>
          </a:solidFill>
          <a:ln/>
        </p:spPr>
      </p:sp>
      <p:sp>
        <p:nvSpPr>
          <p:cNvPr id="34" name="Shape 32"/>
          <p:cNvSpPr/>
          <p:nvPr/>
        </p:nvSpPr>
        <p:spPr>
          <a:xfrm>
            <a:off x="10584180" y="1508760"/>
            <a:ext cx="502920" cy="502920"/>
          </a:xfrm>
          <a:prstGeom prst="ellipse">
            <a:avLst/>
          </a:prstGeom>
          <a:solidFill>
            <a:schemeClr val="accent1"/>
          </a:solidFill>
          <a:ln/>
        </p:spPr>
      </p:sp>
      <p:sp>
        <p:nvSpPr>
          <p:cNvPr id="35" name="Text 33"/>
          <p:cNvSpPr txBox="1"/>
          <p:nvPr/>
        </p:nvSpPr>
        <p:spPr>
          <a:xfrm>
            <a:off x="10584180" y="1508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6" name="Text 34"/>
          <p:cNvSpPr txBox="1"/>
          <p:nvPr/>
        </p:nvSpPr>
        <p:spPr>
          <a:xfrm>
            <a:off x="10186416" y="2103120"/>
            <a:ext cx="1298448" cy="457200"/>
          </a:xfrm>
          <a:prstGeom prst="rect">
            <a:avLst/>
          </a:prstGeom>
          <a:noFill/>
          <a:ln/>
        </p:spPr>
        <p:txBody>
          <a:bodyPr wrap="square" lIns="0" tIns="0" rIns="0" bIns="0" rtlCol="0" anchor="t"/>
          <a:lstStyle/>
          <a:p>
            <a:pPr algn="ctr" indent="0" marL="0">
              <a:buNone/>
            </a:pPr>
            <a:r>
              <a:rPr lang="en-US" sz="1400" b="1" dirty="0">
                <a:solidFill>
                  <a:schemeClr val="tx1"/>
                </a:solidFill>
              </a:rPr>
              <a:t>Compare</a:t>
            </a:r>
            <a:endParaRPr lang="en-US" sz="1400" dirty="0"/>
          </a:p>
        </p:txBody>
      </p:sp>
      <p:sp>
        <p:nvSpPr>
          <p:cNvPr id="37" name="Text 35"/>
          <p:cNvSpPr txBox="1"/>
          <p:nvPr/>
        </p:nvSpPr>
        <p:spPr>
          <a:xfrm>
            <a:off x="10186416" y="2560320"/>
            <a:ext cx="1298448" cy="868680"/>
          </a:xfrm>
          <a:prstGeom prst="rect">
            <a:avLst/>
          </a:prstGeom>
          <a:noFill/>
          <a:ln/>
        </p:spPr>
        <p:txBody>
          <a:bodyPr wrap="square" lIns="0" tIns="0" rIns="0" bIns="0" rtlCol="0" anchor="t"/>
          <a:lstStyle/>
          <a:p>
            <a:pPr algn="ctr" indent="0" marL="0">
              <a:buNone/>
            </a:pPr>
            <a:r>
              <a:rPr lang="en-US" sz="1200" dirty="0">
                <a:solidFill>
                  <a:schemeClr val="tx2"/>
                </a:solidFill>
              </a:rPr>
              <a:t>Never · always · small-step · text-always · ours</a:t>
            </a:r>
            <a:endParaRPr lang="en-US" sz="1200" dirty="0"/>
          </a:p>
        </p:txBody>
      </p:sp>
      <p:sp>
        <p:nvSpPr>
          <p:cNvPr id="38" name="rulebox"/>
          <p:cNvSpPr/>
          <p:nvPr/>
        </p:nvSpPr>
        <p:spPr>
          <a:xfrm>
            <a:off x="548640" y="3794760"/>
            <a:ext cx="6309360" cy="2286000"/>
          </a:xfrm>
          <a:prstGeom prst="roundRect">
            <a:avLst>
              <a:gd name="adj" fmla="val 3200"/>
            </a:avLst>
          </a:prstGeom>
          <a:solidFill>
            <a:schemeClr val="tx1"/>
          </a:solidFill>
          <a:ln/>
        </p:spPr>
      </p:sp>
      <p:sp>
        <p:nvSpPr>
          <p:cNvPr id="39" name="Text 37"/>
          <p:cNvSpPr txBox="1"/>
          <p:nvPr/>
        </p:nvSpPr>
        <p:spPr>
          <a:xfrm>
            <a:off x="822960" y="3931920"/>
            <a:ext cx="5760720" cy="201168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rPr>
              <a:t>Bounded revision rule (idea)</a:t>
            </a:r>
            <a:endParaRPr lang="en-US" sz="1400" dirty="0"/>
          </a:p>
          <a:p>
            <a:pPr indent="0" marL="0">
              <a:spcAft>
                <a:spcPts val="800"/>
              </a:spcAft>
              <a:buNone/>
            </a:pPr>
            <a:r>
              <a:rPr lang="en-US" sz="1300" dirty="0">
                <a:solidFill>
                  <a:schemeClr val="bg1"/>
                </a:solidFill>
                <a:latin typeface="Courier New" pitchFamily="34" charset="0"/>
                <a:ea typeface="Courier New" pitchFamily="34" charset="-122"/>
                <a:cs typeface="Courier New" pitchFamily="34" charset="-120"/>
              </a:rPr>
              <a:t>revised = base + clip( k × evidence score, −B, +B )</a:t>
            </a:r>
            <a:endParaRPr lang="en-US" sz="1400" dirty="0"/>
          </a:p>
          <a:p>
            <a:pPr indent="0" marL="0">
              <a:spcAft>
                <a:spcPts val="800"/>
              </a:spcAft>
              <a:buNone/>
            </a:pPr>
            <a:r>
              <a:rPr lang="en-US" sz="1300" dirty="0">
                <a:solidFill>
                  <a:schemeClr val="accent5"/>
                </a:solidFill>
              </a:rPr>
              <a:t>evidence score = combined direction and strength of new claims since the last forecast. k (step size) and B (limit) are fixed on validation data before testing; exact form frozen in the protocol.</a:t>
            </a:r>
            <a:endParaRPr lang="en-US" sz="1400" dirty="0"/>
          </a:p>
        </p:txBody>
      </p:sp>
      <p:sp>
        <p:nvSpPr>
          <p:cNvPr id="40" name="metrics"/>
          <p:cNvSpPr/>
          <p:nvPr/>
        </p:nvSpPr>
        <p:spPr>
          <a:xfrm>
            <a:off x="7132320" y="3794760"/>
            <a:ext cx="4480560" cy="2286000"/>
          </a:xfrm>
          <a:prstGeom prst="roundRect">
            <a:avLst>
              <a:gd name="adj" fmla="val 3200"/>
            </a:avLst>
          </a:prstGeom>
          <a:solidFill>
            <a:schemeClr val="bg2"/>
          </a:solidFill>
          <a:ln/>
        </p:spPr>
      </p:sp>
      <p:sp>
        <p:nvSpPr>
          <p:cNvPr id="41" name="Text 39"/>
          <p:cNvSpPr txBox="1"/>
          <p:nvPr/>
        </p:nvSpPr>
        <p:spPr>
          <a:xfrm>
            <a:off x="7406640" y="3931920"/>
            <a:ext cx="4023360" cy="201168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How we measure</a:t>
            </a:r>
            <a:endParaRPr lang="en-US" sz="1400" dirty="0"/>
          </a:p>
          <a:p>
            <a:pPr marL="342900" indent="-342900">
              <a:spcAft>
                <a:spcPts val="400"/>
              </a:spcAft>
              <a:buSzPct val="100000"/>
              <a:buChar char="•"/>
            </a:pPr>
            <a:r>
              <a:rPr lang="en-US" sz="1400" dirty="0">
                <a:solidFill>
                  <a:schemeClr val="tx2"/>
                </a:solidFill>
              </a:rPr>
              <a:t>MAE, RMSE: size of the error</a:t>
            </a:r>
            <a:endParaRPr lang="en-US" sz="1400" dirty="0"/>
          </a:p>
          <a:p>
            <a:pPr marL="342900" indent="-342900">
              <a:spcAft>
                <a:spcPts val="400"/>
              </a:spcAft>
              <a:buSzPct val="100000"/>
              <a:buChar char="•"/>
            </a:pPr>
            <a:r>
              <a:rPr lang="en-US" sz="1400" dirty="0">
                <a:solidFill>
                  <a:schemeClr val="tx2"/>
                </a:solidFill>
              </a:rPr>
              <a:t>Diebold–Mariano (HLN) test: is the gain real?</a:t>
            </a:r>
            <a:endParaRPr lang="en-US" sz="1400" dirty="0"/>
          </a:p>
          <a:p>
            <a:pPr marL="342900" indent="-342900">
              <a:spcAft>
                <a:spcPts val="400"/>
              </a:spcAft>
              <a:buSzPct val="100000"/>
              <a:buChar char="•"/>
            </a:pPr>
            <a:r>
              <a:rPr lang="en-US" sz="1400" dirty="0">
                <a:solidFill>
                  <a:schemeClr val="tx2"/>
                </a:solidFill>
              </a:rPr>
              <a:t>Interval coverage; helpful vs harmful revisions</a:t>
            </a:r>
            <a:endParaRPr lang="en-US" sz="1400" dirty="0"/>
          </a:p>
          <a:p>
            <a:pPr marL="342900" indent="-342900">
              <a:spcAft>
                <a:spcPts val="400"/>
              </a:spcAft>
              <a:buSzPct val="100000"/>
              <a:buChar char="•"/>
            </a:pPr>
            <a:r>
              <a:rPr lang="en-US" sz="1400" dirty="0">
                <a:solidFill>
                  <a:schemeClr val="tx2"/>
                </a:solidFill>
              </a:rPr>
              <a:t>Part A: Brier score, calibration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Dataset Collected</a:t>
            </a:r>
            <a:endParaRPr lang="en-US" sz="3200" dirty="0"/>
          </a:p>
        </p:txBody>
      </p:sp>
      <p:graphicFrame>
        <p:nvGraphicFramePr>
          <p:cNvPr id="3" name="Chart 0" descr=""/>
          <p:cNvGraphicFramePr/>
          <p:nvPr/>
        </p:nvGraphicFramePr>
        <p:xfrm>
          <a:off x="548640" y="128016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303520"/>
            <a:ext cx="6766560" cy="457200"/>
          </a:xfrm>
          <a:prstGeom prst="rect">
            <a:avLst/>
          </a:prstGeom>
          <a:noFill/>
          <a:ln/>
        </p:spPr>
        <p:txBody>
          <a:bodyPr wrap="square" lIns="0" tIns="0" rIns="0" bIns="0" rtlCol="0" anchor="t"/>
          <a:lstStyle/>
          <a:p>
            <a:pPr indent="0" marL="0">
              <a:buNone/>
            </a:pPr>
            <a:r>
              <a:rPr lang="en-US" sz="1100" dirty="0">
                <a:solidFill>
                  <a:schemeClr val="accent4"/>
                </a:solidFill>
              </a:rPr>
              <a:t>Source: MoSPI CPI press releases, Jan 2024 – Aug 2026 (32 months). Base 2012=100 until Dec 2025; 2024=100 from Jan 2026.</a:t>
            </a:r>
            <a:endParaRPr lang="en-US" sz="1100" dirty="0"/>
          </a:p>
        </p:txBody>
      </p:sp>
      <p:sp>
        <p:nvSpPr>
          <p:cNvPr id="5" name="ds0"/>
          <p:cNvSpPr/>
          <p:nvPr/>
        </p:nvSpPr>
        <p:spPr>
          <a:xfrm>
            <a:off x="7680960" y="1280160"/>
            <a:ext cx="1874520" cy="1417320"/>
          </a:xfrm>
          <a:prstGeom prst="roundRect">
            <a:avLst>
              <a:gd name="adj" fmla="val 5161"/>
            </a:avLst>
          </a:prstGeom>
          <a:solidFill>
            <a:srgbClr val="FBEBDD"/>
          </a:solidFill>
          <a:ln/>
        </p:spPr>
      </p:sp>
      <p:sp>
        <p:nvSpPr>
          <p:cNvPr id="6" name="Text 3"/>
          <p:cNvSpPr txBox="1"/>
          <p:nvPr/>
        </p:nvSpPr>
        <p:spPr>
          <a:xfrm>
            <a:off x="7818120" y="1371600"/>
            <a:ext cx="164592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613</a:t>
            </a:r>
            <a:endParaRPr lang="en-US" sz="3200" dirty="0"/>
          </a:p>
        </p:txBody>
      </p:sp>
      <p:sp>
        <p:nvSpPr>
          <p:cNvPr id="7" name="Text 4"/>
          <p:cNvSpPr txBox="1"/>
          <p:nvPr/>
        </p:nvSpPr>
        <p:spPr>
          <a:xfrm>
            <a:off x="7818120" y="2057400"/>
            <a:ext cx="1691640" cy="594360"/>
          </a:xfrm>
          <a:prstGeom prst="rect">
            <a:avLst/>
          </a:prstGeom>
          <a:noFill/>
          <a:ln/>
        </p:spPr>
        <p:txBody>
          <a:bodyPr wrap="square" lIns="0" tIns="0" rIns="0" bIns="0" rtlCol="0" anchor="t"/>
          <a:lstStyle/>
          <a:p>
            <a:pPr indent="0" marL="0">
              <a:buNone/>
            </a:pPr>
            <a:r>
              <a:rPr lang="en-US" sz="1100" dirty="0">
                <a:solidFill>
                  <a:schemeClr val="tx2"/>
                </a:solidFill>
              </a:rPr>
              <a:t>rows of revised CPI</a:t>
            </a:r>
            <a:endParaRPr lang="en-US" sz="1100" dirty="0"/>
          </a:p>
          <a:p>
            <a:pPr indent="0" marL="0">
              <a:buNone/>
            </a:pPr>
            <a:r>
              <a:rPr lang="en-US" sz="1100" dirty="0">
                <a:solidFill>
                  <a:schemeClr val="tx2"/>
                </a:solidFill>
              </a:rPr>
              <a:t>2013 – Sep 2026</a:t>
            </a:r>
            <a:endParaRPr lang="en-US" sz="1100" dirty="0"/>
          </a:p>
        </p:txBody>
      </p:sp>
      <p:sp>
        <p:nvSpPr>
          <p:cNvPr id="8" name="ds1"/>
          <p:cNvSpPr/>
          <p:nvPr/>
        </p:nvSpPr>
        <p:spPr>
          <a:xfrm>
            <a:off x="9692640" y="1280160"/>
            <a:ext cx="1874520" cy="1417320"/>
          </a:xfrm>
          <a:prstGeom prst="roundRect">
            <a:avLst>
              <a:gd name="adj" fmla="val 5161"/>
            </a:avLst>
          </a:prstGeom>
          <a:solidFill>
            <a:srgbClr val="E3F2EE"/>
          </a:solidFill>
          <a:ln/>
        </p:spPr>
      </p:sp>
      <p:sp>
        <p:nvSpPr>
          <p:cNvPr id="9" name="Text 6"/>
          <p:cNvSpPr txBox="1"/>
          <p:nvPr/>
        </p:nvSpPr>
        <p:spPr>
          <a:xfrm>
            <a:off x="9829800" y="1371600"/>
            <a:ext cx="1645920" cy="68580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33</a:t>
            </a:r>
            <a:endParaRPr lang="en-US" sz="3200" dirty="0"/>
          </a:p>
        </p:txBody>
      </p:sp>
      <p:sp>
        <p:nvSpPr>
          <p:cNvPr id="10" name="Text 7"/>
          <p:cNvSpPr txBox="1"/>
          <p:nvPr/>
        </p:nvSpPr>
        <p:spPr>
          <a:xfrm>
            <a:off x="9829800" y="2057400"/>
            <a:ext cx="1691640" cy="594360"/>
          </a:xfrm>
          <a:prstGeom prst="rect">
            <a:avLst/>
          </a:prstGeom>
          <a:noFill/>
          <a:ln/>
        </p:spPr>
        <p:txBody>
          <a:bodyPr wrap="square" lIns="0" tIns="0" rIns="0" bIns="0" rtlCol="0" anchor="t"/>
          <a:lstStyle/>
          <a:p>
            <a:pPr indent="0" marL="0">
              <a:buNone/>
            </a:pPr>
            <a:r>
              <a:rPr lang="en-US" sz="1100" dirty="0">
                <a:solidFill>
                  <a:schemeClr val="tx2"/>
                </a:solidFill>
              </a:rPr>
              <a:t>first releases with exact</a:t>
            </a:r>
            <a:endParaRPr lang="en-US" sz="1100" dirty="0"/>
          </a:p>
          <a:p>
            <a:pPr indent="0" marL="0">
              <a:buNone/>
            </a:pPr>
            <a:r>
              <a:rPr lang="en-US" sz="1100" dirty="0">
                <a:solidFill>
                  <a:schemeClr val="tx2"/>
                </a:solidFill>
              </a:rPr>
              <a:t>date, time and link</a:t>
            </a:r>
            <a:endParaRPr lang="en-US" sz="1100" dirty="0"/>
          </a:p>
        </p:txBody>
      </p:sp>
      <p:sp>
        <p:nvSpPr>
          <p:cNvPr id="11" name="ds2"/>
          <p:cNvSpPr/>
          <p:nvPr/>
        </p:nvSpPr>
        <p:spPr>
          <a:xfrm>
            <a:off x="7680960" y="2880360"/>
            <a:ext cx="1874520" cy="1417320"/>
          </a:xfrm>
          <a:prstGeom prst="roundRect">
            <a:avLst>
              <a:gd name="adj" fmla="val 5161"/>
            </a:avLst>
          </a:prstGeom>
          <a:solidFill>
            <a:srgbClr val="E3F2EE"/>
          </a:solidFill>
          <a:ln/>
        </p:spPr>
      </p:sp>
      <p:sp>
        <p:nvSpPr>
          <p:cNvPr id="12" name="Text 9"/>
          <p:cNvSpPr txBox="1"/>
          <p:nvPr/>
        </p:nvSpPr>
        <p:spPr>
          <a:xfrm>
            <a:off x="7818120" y="2971800"/>
            <a:ext cx="1645920" cy="685800"/>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81</a:t>
            </a:r>
            <a:endParaRPr lang="en-US" sz="3200" dirty="0"/>
          </a:p>
        </p:txBody>
      </p:sp>
      <p:sp>
        <p:nvSpPr>
          <p:cNvPr id="13" name="Text 10"/>
          <p:cNvSpPr txBox="1"/>
          <p:nvPr/>
        </p:nvSpPr>
        <p:spPr>
          <a:xfrm>
            <a:off x="7818120" y="3657600"/>
            <a:ext cx="1691640" cy="594360"/>
          </a:xfrm>
          <a:prstGeom prst="rect">
            <a:avLst/>
          </a:prstGeom>
          <a:noFill/>
          <a:ln/>
        </p:spPr>
        <p:txBody>
          <a:bodyPr wrap="square" lIns="0" tIns="0" rIns="0" bIns="0" rtlCol="0" anchor="t"/>
          <a:lstStyle/>
          <a:p>
            <a:pPr indent="0" marL="0">
              <a:buNone/>
            </a:pPr>
            <a:r>
              <a:rPr lang="en-US" sz="1100" dirty="0">
                <a:solidFill>
                  <a:schemeClr val="tx2"/>
                </a:solidFill>
              </a:rPr>
              <a:t>registered official</a:t>
            </a:r>
            <a:endParaRPr lang="en-US" sz="1100" dirty="0"/>
          </a:p>
          <a:p>
            <a:pPr indent="0" marL="0">
              <a:buNone/>
            </a:pPr>
            <a:r>
              <a:rPr lang="en-US" sz="1100" dirty="0">
                <a:solidFill>
                  <a:schemeClr val="tx2"/>
                </a:solidFill>
              </a:rPr>
              <a:t>documents</a:t>
            </a:r>
            <a:endParaRPr lang="en-US" sz="1100" dirty="0"/>
          </a:p>
        </p:txBody>
      </p:sp>
      <p:sp>
        <p:nvSpPr>
          <p:cNvPr id="14" name="ds3"/>
          <p:cNvSpPr/>
          <p:nvPr/>
        </p:nvSpPr>
        <p:spPr>
          <a:xfrm>
            <a:off x="9692640" y="2880360"/>
            <a:ext cx="1874520" cy="1417320"/>
          </a:xfrm>
          <a:prstGeom prst="roundRect">
            <a:avLst>
              <a:gd name="adj" fmla="val 5161"/>
            </a:avLst>
          </a:prstGeom>
          <a:solidFill>
            <a:srgbClr val="FBEBDD"/>
          </a:solidFill>
          <a:ln/>
        </p:spPr>
      </p:sp>
      <p:sp>
        <p:nvSpPr>
          <p:cNvPr id="15" name="Text 12"/>
          <p:cNvSpPr txBox="1"/>
          <p:nvPr/>
        </p:nvSpPr>
        <p:spPr>
          <a:xfrm>
            <a:off x="9829800" y="2971800"/>
            <a:ext cx="1645920"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22</a:t>
            </a:r>
            <a:endParaRPr lang="en-US" sz="3200" dirty="0"/>
          </a:p>
        </p:txBody>
      </p:sp>
      <p:sp>
        <p:nvSpPr>
          <p:cNvPr id="16" name="Text 13"/>
          <p:cNvSpPr txBox="1"/>
          <p:nvPr/>
        </p:nvSpPr>
        <p:spPr>
          <a:xfrm>
            <a:off x="9829800" y="3657600"/>
            <a:ext cx="1691640" cy="594360"/>
          </a:xfrm>
          <a:prstGeom prst="rect">
            <a:avLst/>
          </a:prstGeom>
          <a:noFill/>
          <a:ln/>
        </p:spPr>
        <p:txBody>
          <a:bodyPr wrap="square" lIns="0" tIns="0" rIns="0" bIns="0" rtlCol="0" anchor="t"/>
          <a:lstStyle/>
          <a:p>
            <a:pPr indent="0" marL="0">
              <a:buNone/>
            </a:pPr>
            <a:r>
              <a:rPr lang="en-US" sz="1100" dirty="0">
                <a:solidFill>
                  <a:schemeClr val="tx2"/>
                </a:solidFill>
              </a:rPr>
              <a:t>RBI MPC resolutions</a:t>
            </a:r>
            <a:endParaRPr lang="en-US" sz="1100" dirty="0"/>
          </a:p>
          <a:p>
            <a:pPr indent="0" marL="0">
              <a:buNone/>
            </a:pPr>
            <a:r>
              <a:rPr lang="en-US" sz="1100" dirty="0">
                <a:solidFill>
                  <a:schemeClr val="tx2"/>
                </a:solidFill>
              </a:rPr>
              <a:t>Apr 2023 – Oct 2026</a:t>
            </a:r>
            <a:endParaRPr lang="en-US" sz="1100" dirty="0"/>
          </a:p>
        </p:txBody>
      </p:sp>
      <p:sp>
        <p:nvSpPr>
          <p:cNvPr id="17" name="Text 14"/>
          <p:cNvSpPr txBox="1"/>
          <p:nvPr/>
        </p:nvSpPr>
        <p:spPr>
          <a:xfrm>
            <a:off x="7680960" y="4526280"/>
            <a:ext cx="3931920" cy="1463040"/>
          </a:xfrm>
          <a:prstGeom prst="rect">
            <a:avLst/>
          </a:prstGeom>
          <a:noFill/>
          <a:ln/>
        </p:spPr>
        <p:txBody>
          <a:bodyPr wrap="square" lIns="0" tIns="0" rIns="0" bIns="0" rtlCol="0" anchor="t"/>
          <a:lstStyle/>
          <a:p>
            <a:pPr indent="0" marL="0">
              <a:buNone/>
            </a:pPr>
            <a:r>
              <a:rPr lang="en-US" sz="1200" b="1" dirty="0">
                <a:solidFill>
                  <a:schemeClr val="tx1"/>
                </a:solidFill>
              </a:rPr>
              <a:t>Documents: </a:t>
            </a:r>
            <a:pPr indent="0" marL="0">
              <a:buNone/>
            </a:pPr>
            <a:r>
              <a:rPr lang="en-US" sz="1200" dirty="0">
                <a:solidFill>
                  <a:schemeClr val="tx2"/>
                </a:solidFill>
              </a:rPr>
              <a:t>8 Monetary Policy Reports, 2 MPC minutes, 2 transcripts, 14 PIB price releases (stock limits, export rules), Economic Survey 2025-26.</a:t>
            </a:r>
            <a:endParaRPr lang="en-US" sz="1200" dirty="0"/>
          </a:p>
          <a:p>
            <a:pPr indent="0" marL="0">
              <a:buNone/>
            </a:pPr>
            <a:r>
              <a:rPr lang="en-US" sz="1200" b="1" dirty="0">
                <a:solidFill>
                  <a:schemeClr val="tx1"/>
                </a:solidFill>
              </a:rPr>
              <a:t>Every row: </a:t>
            </a:r>
            <a:pPr indent="0" marL="0">
              <a:buNone/>
            </a:pPr>
            <a:r>
              <a:rPr lang="en-US" sz="1200" dirty="0">
                <a:solidFill>
                  <a:schemeClr val="tx2"/>
                </a:solidFill>
              </a:rPr>
              <a:t>ID, source, publication time, link, confidence.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Tools and Timeline</a:t>
            </a:r>
            <a:endParaRPr lang="en-US" sz="3200" dirty="0"/>
          </a:p>
        </p:txBody>
      </p:sp>
      <p:sp>
        <p:nvSpPr>
          <p:cNvPr id="3" name="tool0"/>
          <p:cNvSpPr/>
          <p:nvPr/>
        </p:nvSpPr>
        <p:spPr>
          <a:xfrm>
            <a:off x="548640" y="1325880"/>
            <a:ext cx="4480560" cy="658368"/>
          </a:xfrm>
          <a:prstGeom prst="roundRect">
            <a:avLst>
              <a:gd name="adj" fmla="val 11111"/>
            </a:avLst>
          </a:prstGeom>
          <a:solidFill>
            <a:schemeClr val="bg2"/>
          </a:solidFill>
          <a:ln/>
        </p:spPr>
      </p:sp>
      <p:sp>
        <p:nvSpPr>
          <p:cNvPr id="4" name="Text 2"/>
          <p:cNvSpPr txBox="1"/>
          <p:nvPr/>
        </p:nvSpPr>
        <p:spPr>
          <a:xfrm>
            <a:off x="731520" y="1325880"/>
            <a:ext cx="4206240" cy="658368"/>
          </a:xfrm>
          <a:prstGeom prst="rect">
            <a:avLst/>
          </a:prstGeom>
          <a:noFill/>
          <a:ln/>
        </p:spPr>
        <p:txBody>
          <a:bodyPr wrap="square" lIns="0" tIns="0" rIns="0" bIns="0" rtlCol="0" anchor="ctr"/>
          <a:lstStyle/>
          <a:p>
            <a:pPr indent="0" marL="0">
              <a:buNone/>
            </a:pPr>
            <a:r>
              <a:rPr lang="en-US" sz="1300" b="1" dirty="0">
                <a:solidFill>
                  <a:schemeClr val="tx1"/>
                </a:solidFill>
              </a:rPr>
              <a:t>Research engine  </a:t>
            </a:r>
            <a:pPr indent="0" marL="0">
              <a:buNone/>
            </a:pPr>
            <a:r>
              <a:rPr lang="en-US" sz="1300" dirty="0">
                <a:solidFill>
                  <a:schemeClr val="tx2"/>
                </a:solidFill>
              </a:rPr>
              <a:t>Python: pandas, statsmodels, scikit-learn, XGBoost</a:t>
            </a:r>
            <a:endParaRPr lang="en-US" sz="1300" dirty="0"/>
          </a:p>
        </p:txBody>
      </p:sp>
      <p:sp>
        <p:nvSpPr>
          <p:cNvPr id="5" name="tool1"/>
          <p:cNvSpPr/>
          <p:nvPr/>
        </p:nvSpPr>
        <p:spPr>
          <a:xfrm>
            <a:off x="548640" y="2103120"/>
            <a:ext cx="4480560" cy="658368"/>
          </a:xfrm>
          <a:prstGeom prst="roundRect">
            <a:avLst>
              <a:gd name="adj" fmla="val 11111"/>
            </a:avLst>
          </a:prstGeom>
          <a:solidFill>
            <a:schemeClr val="bg2"/>
          </a:solidFill>
          <a:ln/>
        </p:spPr>
      </p:sp>
      <p:sp>
        <p:nvSpPr>
          <p:cNvPr id="6" name="Text 4"/>
          <p:cNvSpPr txBox="1"/>
          <p:nvPr/>
        </p:nvSpPr>
        <p:spPr>
          <a:xfrm>
            <a:off x="731520" y="2103120"/>
            <a:ext cx="4206240" cy="658368"/>
          </a:xfrm>
          <a:prstGeom prst="rect">
            <a:avLst/>
          </a:prstGeom>
          <a:noFill/>
          <a:ln/>
        </p:spPr>
        <p:txBody>
          <a:bodyPr wrap="square" lIns="0" tIns="0" rIns="0" bIns="0" rtlCol="0" anchor="ctr"/>
          <a:lstStyle/>
          <a:p>
            <a:pPr indent="0" marL="0">
              <a:buNone/>
            </a:pPr>
            <a:r>
              <a:rPr lang="en-US" sz="1300" b="1" dirty="0">
                <a:solidFill>
                  <a:schemeClr val="tx1"/>
                </a:solidFill>
              </a:rPr>
              <a:t>Claim extraction  </a:t>
            </a:r>
            <a:pPr indent="0" marL="0">
              <a:buNone/>
            </a:pPr>
            <a:r>
              <a:rPr lang="en-US" sz="1300" dirty="0">
                <a:solidFill>
                  <a:schemeClr val="tx2"/>
                </a:solidFill>
              </a:rPr>
              <a:t>LLM API, with quote check against the source</a:t>
            </a:r>
            <a:endParaRPr lang="en-US" sz="1300" dirty="0"/>
          </a:p>
        </p:txBody>
      </p:sp>
      <p:sp>
        <p:nvSpPr>
          <p:cNvPr id="7" name="tool2"/>
          <p:cNvSpPr/>
          <p:nvPr/>
        </p:nvSpPr>
        <p:spPr>
          <a:xfrm>
            <a:off x="548640" y="2880360"/>
            <a:ext cx="4480560" cy="658368"/>
          </a:xfrm>
          <a:prstGeom prst="roundRect">
            <a:avLst>
              <a:gd name="adj" fmla="val 11111"/>
            </a:avLst>
          </a:prstGeom>
          <a:solidFill>
            <a:schemeClr val="bg2"/>
          </a:solidFill>
          <a:ln/>
        </p:spPr>
      </p:sp>
      <p:sp>
        <p:nvSpPr>
          <p:cNvPr id="8" name="Text 6"/>
          <p:cNvSpPr txBox="1"/>
          <p:nvPr/>
        </p:nvSpPr>
        <p:spPr>
          <a:xfrm>
            <a:off x="731520" y="2880360"/>
            <a:ext cx="4206240" cy="658368"/>
          </a:xfrm>
          <a:prstGeom prst="rect">
            <a:avLst/>
          </a:prstGeom>
          <a:noFill/>
          <a:ln/>
        </p:spPr>
        <p:txBody>
          <a:bodyPr wrap="square" lIns="0" tIns="0" rIns="0" bIns="0" rtlCol="0" anchor="ctr"/>
          <a:lstStyle/>
          <a:p>
            <a:pPr indent="0" marL="0">
              <a:buNone/>
            </a:pPr>
            <a:r>
              <a:rPr lang="en-US" sz="1300" b="1" dirty="0">
                <a:solidFill>
                  <a:schemeClr val="tx1"/>
                </a:solidFill>
              </a:rPr>
              <a:t>Data  </a:t>
            </a:r>
            <a:pPr indent="0" marL="0">
              <a:buNone/>
            </a:pPr>
            <a:r>
              <a:rPr lang="en-US" sz="1300" dirty="0">
                <a:solidFill>
                  <a:schemeClr val="tx2"/>
                </a:solidFill>
              </a:rPr>
              <a:t>CSV / JSON with provenance; MoSPI e-Sankhyiki API</a:t>
            </a:r>
            <a:endParaRPr lang="en-US" sz="1300" dirty="0"/>
          </a:p>
        </p:txBody>
      </p:sp>
      <p:sp>
        <p:nvSpPr>
          <p:cNvPr id="9" name="tool3"/>
          <p:cNvSpPr/>
          <p:nvPr/>
        </p:nvSpPr>
        <p:spPr>
          <a:xfrm>
            <a:off x="548640" y="3657600"/>
            <a:ext cx="4480560" cy="658368"/>
          </a:xfrm>
          <a:prstGeom prst="roundRect">
            <a:avLst>
              <a:gd name="adj" fmla="val 11111"/>
            </a:avLst>
          </a:prstGeom>
          <a:solidFill>
            <a:schemeClr val="bg2"/>
          </a:solidFill>
          <a:ln/>
        </p:spPr>
      </p:sp>
      <p:sp>
        <p:nvSpPr>
          <p:cNvPr id="10" name="Text 8"/>
          <p:cNvSpPr txBox="1"/>
          <p:nvPr/>
        </p:nvSpPr>
        <p:spPr>
          <a:xfrm>
            <a:off x="731520" y="3657600"/>
            <a:ext cx="4206240" cy="658368"/>
          </a:xfrm>
          <a:prstGeom prst="rect">
            <a:avLst/>
          </a:prstGeom>
          <a:noFill/>
          <a:ln/>
        </p:spPr>
        <p:txBody>
          <a:bodyPr wrap="square" lIns="0" tIns="0" rIns="0" bIns="0" rtlCol="0" anchor="ctr"/>
          <a:lstStyle/>
          <a:p>
            <a:pPr indent="0" marL="0">
              <a:buNone/>
            </a:pPr>
            <a:r>
              <a:rPr lang="en-US" sz="1300" b="1" dirty="0">
                <a:solidFill>
                  <a:schemeClr val="tx1"/>
                </a:solidFill>
              </a:rPr>
              <a:t>App and dashboard  </a:t>
            </a:r>
            <a:pPr indent="0" marL="0">
              <a:buNone/>
            </a:pPr>
            <a:r>
              <a:rPr lang="en-US" sz="1300" dirty="0">
                <a:solidFill>
                  <a:schemeClr val="tx2"/>
                </a:solidFill>
              </a:rPr>
              <a:t>Flutter (web, Android)</a:t>
            </a:r>
            <a:endParaRPr lang="en-US" sz="1300" dirty="0"/>
          </a:p>
        </p:txBody>
      </p:sp>
      <p:sp>
        <p:nvSpPr>
          <p:cNvPr id="11" name="tool4"/>
          <p:cNvSpPr/>
          <p:nvPr/>
        </p:nvSpPr>
        <p:spPr>
          <a:xfrm>
            <a:off x="548640" y="4434840"/>
            <a:ext cx="4480560" cy="658368"/>
          </a:xfrm>
          <a:prstGeom prst="roundRect">
            <a:avLst>
              <a:gd name="adj" fmla="val 11111"/>
            </a:avLst>
          </a:prstGeom>
          <a:solidFill>
            <a:schemeClr val="bg2"/>
          </a:solidFill>
          <a:ln/>
        </p:spPr>
      </p:sp>
      <p:sp>
        <p:nvSpPr>
          <p:cNvPr id="12" name="Text 10"/>
          <p:cNvSpPr txBox="1"/>
          <p:nvPr/>
        </p:nvSpPr>
        <p:spPr>
          <a:xfrm>
            <a:off x="731520" y="4434840"/>
            <a:ext cx="4206240" cy="658368"/>
          </a:xfrm>
          <a:prstGeom prst="rect">
            <a:avLst/>
          </a:prstGeom>
          <a:noFill/>
          <a:ln/>
        </p:spPr>
        <p:txBody>
          <a:bodyPr wrap="square" lIns="0" tIns="0" rIns="0" bIns="0" rtlCol="0" anchor="ctr"/>
          <a:lstStyle/>
          <a:p>
            <a:pPr indent="0" marL="0">
              <a:buNone/>
            </a:pPr>
            <a:r>
              <a:rPr lang="en-US" sz="1300" b="1" dirty="0">
                <a:solidFill>
                  <a:schemeClr val="tx1"/>
                </a:solidFill>
              </a:rPr>
              <a:t>Backend  </a:t>
            </a:r>
            <a:pPr indent="0" marL="0">
              <a:buNone/>
            </a:pPr>
            <a:r>
              <a:rPr lang="en-US" sz="1300" dirty="0">
                <a:solidFill>
                  <a:schemeClr val="tx2"/>
                </a:solidFill>
              </a:rPr>
              <a:t>Firebase Auth + Firestore (free Spark plan)</a:t>
            </a:r>
            <a:endParaRPr lang="en-US" sz="1300" dirty="0"/>
          </a:p>
        </p:txBody>
      </p:sp>
      <p:sp>
        <p:nvSpPr>
          <p:cNvPr id="13" name="tool5"/>
          <p:cNvSpPr/>
          <p:nvPr/>
        </p:nvSpPr>
        <p:spPr>
          <a:xfrm>
            <a:off x="548640" y="5212080"/>
            <a:ext cx="4480560" cy="658368"/>
          </a:xfrm>
          <a:prstGeom prst="roundRect">
            <a:avLst>
              <a:gd name="adj" fmla="val 11111"/>
            </a:avLst>
          </a:prstGeom>
          <a:solidFill>
            <a:schemeClr val="bg2"/>
          </a:solidFill>
          <a:ln/>
        </p:spPr>
      </p:sp>
      <p:sp>
        <p:nvSpPr>
          <p:cNvPr id="14" name="Text 12"/>
          <p:cNvSpPr txBox="1"/>
          <p:nvPr/>
        </p:nvSpPr>
        <p:spPr>
          <a:xfrm>
            <a:off x="731520" y="5212080"/>
            <a:ext cx="4206240" cy="658368"/>
          </a:xfrm>
          <a:prstGeom prst="rect">
            <a:avLst/>
          </a:prstGeom>
          <a:noFill/>
          <a:ln/>
        </p:spPr>
        <p:txBody>
          <a:bodyPr wrap="square" lIns="0" tIns="0" rIns="0" bIns="0" rtlCol="0" anchor="ctr"/>
          <a:lstStyle/>
          <a:p>
            <a:pPr indent="0" marL="0">
              <a:buNone/>
            </a:pPr>
            <a:r>
              <a:rPr lang="en-US" sz="1300" b="1" dirty="0">
                <a:solidFill>
                  <a:schemeClr val="tx1"/>
                </a:solidFill>
              </a:rPr>
              <a:t>Version control  </a:t>
            </a:r>
            <a:pPr indent="0" marL="0">
              <a:buNone/>
            </a:pPr>
            <a:r>
              <a:rPr lang="en-US" sz="1300" dirty="0">
                <a:solidFill>
                  <a:schemeClr val="tx2"/>
                </a:solidFill>
              </a:rPr>
              <a:t>Git / GitHub</a:t>
            </a:r>
            <a:endParaRPr lang="en-US" sz="1300" dirty="0"/>
          </a:p>
        </p:txBody>
      </p:sp>
      <p:sp>
        <p:nvSpPr>
          <p:cNvPr id="15" name="Shape 13"/>
          <p:cNvSpPr/>
          <p:nvPr/>
        </p:nvSpPr>
        <p:spPr>
          <a:xfrm>
            <a:off x="5806440" y="1554480"/>
            <a:ext cx="914" cy="4434840"/>
          </a:xfrm>
          <a:prstGeom prst="line">
            <a:avLst/>
          </a:prstGeom>
          <a:noFill/>
          <a:ln w="25400">
            <a:solidFill>
              <a:srgbClr val="D5DCE6"/>
            </a:solidFill>
            <a:prstDash val="solid"/>
          </a:ln>
        </p:spPr>
      </p:sp>
      <p:sp>
        <p:nvSpPr>
          <p:cNvPr id="16" name="Shape 14"/>
          <p:cNvSpPr/>
          <p:nvPr/>
        </p:nvSpPr>
        <p:spPr>
          <a:xfrm>
            <a:off x="5669280" y="1508760"/>
            <a:ext cx="274320" cy="274320"/>
          </a:xfrm>
          <a:prstGeom prst="ellipse">
            <a:avLst/>
          </a:prstGeom>
          <a:solidFill>
            <a:schemeClr val="accent3"/>
          </a:solidFill>
          <a:ln w="19050">
            <a:solidFill>
              <a:srgbClr val="138A72"/>
            </a:solidFill>
            <a:prstDash val="solid"/>
          </a:ln>
        </p:spPr>
      </p:sp>
      <p:sp>
        <p:nvSpPr>
          <p:cNvPr id="17" name="Text 15"/>
          <p:cNvSpPr txBox="1"/>
          <p:nvPr/>
        </p:nvSpPr>
        <p:spPr>
          <a:xfrm>
            <a:off x="6217920" y="1371600"/>
            <a:ext cx="1737360" cy="548640"/>
          </a:xfrm>
          <a:prstGeom prst="rect">
            <a:avLst/>
          </a:prstGeom>
          <a:noFill/>
          <a:ln/>
        </p:spPr>
        <p:txBody>
          <a:bodyPr wrap="square" lIns="0" tIns="0" rIns="0" bIns="0" rtlCol="0" anchor="ctr"/>
          <a:lstStyle/>
          <a:p>
            <a:pPr indent="0" marL="0">
              <a:buNone/>
            </a:pPr>
            <a:r>
              <a:rPr lang="en-US" sz="1400" b="1" dirty="0">
                <a:solidFill>
                  <a:schemeClr val="accent3"/>
                </a:solidFill>
              </a:rPr>
              <a:t>Oct 2026</a:t>
            </a:r>
            <a:endParaRPr lang="en-US" sz="1400" dirty="0"/>
          </a:p>
        </p:txBody>
      </p:sp>
      <p:sp>
        <p:nvSpPr>
          <p:cNvPr id="18" name="Text 16"/>
          <p:cNvSpPr txBox="1"/>
          <p:nvPr/>
        </p:nvSpPr>
        <p:spPr>
          <a:xfrm>
            <a:off x="7955280" y="1371600"/>
            <a:ext cx="3657600" cy="548640"/>
          </a:xfrm>
          <a:prstGeom prst="rect">
            <a:avLst/>
          </a:prstGeom>
          <a:noFill/>
          <a:ln/>
        </p:spPr>
        <p:txBody>
          <a:bodyPr wrap="square" lIns="0" tIns="0" rIns="0" bIns="0" rtlCol="0" anchor="ctr"/>
          <a:lstStyle/>
          <a:p>
            <a:pPr indent="0" marL="0">
              <a:buNone/>
            </a:pPr>
            <a:r>
              <a:rPr lang="en-US" sz="1300" dirty="0">
                <a:solidFill>
                  <a:schemeClr val="tx2"/>
                </a:solidFill>
              </a:rPr>
              <a:t>Literature, gap, proposal, data collection  ✓ done</a:t>
            </a:r>
            <a:endParaRPr lang="en-US" sz="1300" dirty="0"/>
          </a:p>
        </p:txBody>
      </p:sp>
      <p:sp>
        <p:nvSpPr>
          <p:cNvPr id="19" name="Shape 17"/>
          <p:cNvSpPr/>
          <p:nvPr/>
        </p:nvSpPr>
        <p:spPr>
          <a:xfrm>
            <a:off x="5669280" y="2286000"/>
            <a:ext cx="274320" cy="274320"/>
          </a:xfrm>
          <a:prstGeom prst="ellipse">
            <a:avLst/>
          </a:prstGeom>
          <a:solidFill>
            <a:schemeClr val="bg1"/>
          </a:solidFill>
          <a:ln w="19050">
            <a:solidFill>
              <a:srgbClr val="5B6B8C"/>
            </a:solidFill>
            <a:prstDash val="solid"/>
          </a:ln>
        </p:spPr>
      </p:sp>
      <p:sp>
        <p:nvSpPr>
          <p:cNvPr id="20" name="Text 18"/>
          <p:cNvSpPr txBox="1"/>
          <p:nvPr/>
        </p:nvSpPr>
        <p:spPr>
          <a:xfrm>
            <a:off x="6217920" y="2148840"/>
            <a:ext cx="1737360" cy="548640"/>
          </a:xfrm>
          <a:prstGeom prst="rect">
            <a:avLst/>
          </a:prstGeom>
          <a:noFill/>
          <a:ln/>
        </p:spPr>
        <p:txBody>
          <a:bodyPr wrap="square" lIns="0" tIns="0" rIns="0" bIns="0" rtlCol="0" anchor="ctr"/>
          <a:lstStyle/>
          <a:p>
            <a:pPr indent="0" marL="0">
              <a:buNone/>
            </a:pPr>
            <a:r>
              <a:rPr lang="en-US" sz="1400" b="1" dirty="0">
                <a:solidFill>
                  <a:schemeClr val="tx1"/>
                </a:solidFill>
              </a:rPr>
              <a:t>Nov 2026</a:t>
            </a:r>
            <a:endParaRPr lang="en-US" sz="1400" dirty="0"/>
          </a:p>
        </p:txBody>
      </p:sp>
      <p:sp>
        <p:nvSpPr>
          <p:cNvPr id="21" name="Text 19"/>
          <p:cNvSpPr txBox="1"/>
          <p:nvPr/>
        </p:nvSpPr>
        <p:spPr>
          <a:xfrm>
            <a:off x="7955280" y="2148840"/>
            <a:ext cx="3657600" cy="548640"/>
          </a:xfrm>
          <a:prstGeom prst="rect">
            <a:avLst/>
          </a:prstGeom>
          <a:noFill/>
          <a:ln/>
        </p:spPr>
        <p:txBody>
          <a:bodyPr wrap="square" lIns="0" tIns="0" rIns="0" bIns="0" rtlCol="0" anchor="ctr"/>
          <a:lstStyle/>
          <a:p>
            <a:pPr indent="0" marL="0">
              <a:buNone/>
            </a:pPr>
            <a:r>
              <a:rPr lang="en-US" sz="1300" dirty="0">
                <a:solidFill>
                  <a:schemeClr val="tx2"/>
                </a:solidFill>
              </a:rPr>
              <a:t>Claim extraction; freeze protocol; guide approval</a:t>
            </a:r>
            <a:endParaRPr lang="en-US" sz="1300" dirty="0"/>
          </a:p>
        </p:txBody>
      </p:sp>
      <p:sp>
        <p:nvSpPr>
          <p:cNvPr id="22" name="Shape 20"/>
          <p:cNvSpPr/>
          <p:nvPr/>
        </p:nvSpPr>
        <p:spPr>
          <a:xfrm>
            <a:off x="5669280" y="3063240"/>
            <a:ext cx="274320" cy="274320"/>
          </a:xfrm>
          <a:prstGeom prst="ellipse">
            <a:avLst/>
          </a:prstGeom>
          <a:solidFill>
            <a:schemeClr val="bg1"/>
          </a:solidFill>
          <a:ln w="19050">
            <a:solidFill>
              <a:srgbClr val="5B6B8C"/>
            </a:solidFill>
            <a:prstDash val="solid"/>
          </a:ln>
        </p:spPr>
      </p:sp>
      <p:sp>
        <p:nvSpPr>
          <p:cNvPr id="23" name="Text 21"/>
          <p:cNvSpPr txBox="1"/>
          <p:nvPr/>
        </p:nvSpPr>
        <p:spPr>
          <a:xfrm>
            <a:off x="6217920" y="2926080"/>
            <a:ext cx="1737360" cy="548640"/>
          </a:xfrm>
          <a:prstGeom prst="rect">
            <a:avLst/>
          </a:prstGeom>
          <a:noFill/>
          <a:ln/>
        </p:spPr>
        <p:txBody>
          <a:bodyPr wrap="square" lIns="0" tIns="0" rIns="0" bIns="0" rtlCol="0" anchor="ctr"/>
          <a:lstStyle/>
          <a:p>
            <a:pPr indent="0" marL="0">
              <a:buNone/>
            </a:pPr>
            <a:r>
              <a:rPr lang="en-US" sz="1400" b="1" dirty="0">
                <a:solidFill>
                  <a:schemeClr val="tx1"/>
                </a:solidFill>
              </a:rPr>
              <a:t>Dec 26 – Jan 27</a:t>
            </a:r>
            <a:endParaRPr lang="en-US" sz="1400" dirty="0"/>
          </a:p>
        </p:txBody>
      </p:sp>
      <p:sp>
        <p:nvSpPr>
          <p:cNvPr id="24" name="Text 22"/>
          <p:cNvSpPr txBox="1"/>
          <p:nvPr/>
        </p:nvSpPr>
        <p:spPr>
          <a:xfrm>
            <a:off x="7955280" y="2926080"/>
            <a:ext cx="3657600" cy="548640"/>
          </a:xfrm>
          <a:prstGeom prst="rect">
            <a:avLst/>
          </a:prstGeom>
          <a:noFill/>
          <a:ln/>
        </p:spPr>
        <p:txBody>
          <a:bodyPr wrap="square" lIns="0" tIns="0" rIns="0" bIns="0" rtlCol="0" anchor="ctr"/>
          <a:lstStyle/>
          <a:p>
            <a:pPr indent="0" marL="0">
              <a:buNone/>
            </a:pPr>
            <a:r>
              <a:rPr lang="en-US" sz="1300" dirty="0">
                <a:solidFill>
                  <a:schemeClr val="tx2"/>
                </a:solidFill>
              </a:rPr>
              <a:t>Baselines; data pipeline; Part A pilot</a:t>
            </a:r>
            <a:endParaRPr lang="en-US" sz="1300" dirty="0"/>
          </a:p>
        </p:txBody>
      </p:sp>
      <p:sp>
        <p:nvSpPr>
          <p:cNvPr id="25" name="Shape 23"/>
          <p:cNvSpPr/>
          <p:nvPr/>
        </p:nvSpPr>
        <p:spPr>
          <a:xfrm>
            <a:off x="5669280" y="3840480"/>
            <a:ext cx="274320" cy="274320"/>
          </a:xfrm>
          <a:prstGeom prst="ellipse">
            <a:avLst/>
          </a:prstGeom>
          <a:solidFill>
            <a:schemeClr val="bg1"/>
          </a:solidFill>
          <a:ln w="19050">
            <a:solidFill>
              <a:srgbClr val="5B6B8C"/>
            </a:solidFill>
            <a:prstDash val="solid"/>
          </a:ln>
        </p:spPr>
      </p:sp>
      <p:sp>
        <p:nvSpPr>
          <p:cNvPr id="26" name="Text 24"/>
          <p:cNvSpPr txBox="1"/>
          <p:nvPr/>
        </p:nvSpPr>
        <p:spPr>
          <a:xfrm>
            <a:off x="6217920" y="3703320"/>
            <a:ext cx="1737360" cy="548640"/>
          </a:xfrm>
          <a:prstGeom prst="rect">
            <a:avLst/>
          </a:prstGeom>
          <a:noFill/>
          <a:ln/>
        </p:spPr>
        <p:txBody>
          <a:bodyPr wrap="square" lIns="0" tIns="0" rIns="0" bIns="0" rtlCol="0" anchor="ctr"/>
          <a:lstStyle/>
          <a:p>
            <a:pPr indent="0" marL="0">
              <a:buNone/>
            </a:pPr>
            <a:r>
              <a:rPr lang="en-US" sz="1400" b="1" dirty="0">
                <a:solidFill>
                  <a:schemeClr val="tx1"/>
                </a:solidFill>
              </a:rPr>
              <a:t>Feb – Mar 2027</a:t>
            </a:r>
            <a:endParaRPr lang="en-US" sz="1400" dirty="0"/>
          </a:p>
        </p:txBody>
      </p:sp>
      <p:sp>
        <p:nvSpPr>
          <p:cNvPr id="27" name="Text 25"/>
          <p:cNvSpPr txBox="1"/>
          <p:nvPr/>
        </p:nvSpPr>
        <p:spPr>
          <a:xfrm>
            <a:off x="7955280" y="3703320"/>
            <a:ext cx="3657600" cy="548640"/>
          </a:xfrm>
          <a:prstGeom prst="rect">
            <a:avLst/>
          </a:prstGeom>
          <a:noFill/>
          <a:ln/>
        </p:spPr>
        <p:txBody>
          <a:bodyPr wrap="square" lIns="0" tIns="0" rIns="0" bIns="0" rtlCol="0" anchor="ctr"/>
          <a:lstStyle/>
          <a:p>
            <a:pPr indent="0" marL="0">
              <a:buNone/>
            </a:pPr>
            <a:r>
              <a:rPr lang="en-US" sz="1300" dirty="0">
                <a:solidFill>
                  <a:schemeClr val="tx2"/>
                </a:solidFill>
              </a:rPr>
              <a:t>Text evidence + bounded revision experiments</a:t>
            </a:r>
            <a:endParaRPr lang="en-US" sz="1300" dirty="0"/>
          </a:p>
        </p:txBody>
      </p:sp>
      <p:sp>
        <p:nvSpPr>
          <p:cNvPr id="28" name="Shape 26"/>
          <p:cNvSpPr/>
          <p:nvPr/>
        </p:nvSpPr>
        <p:spPr>
          <a:xfrm>
            <a:off x="5669280" y="4617720"/>
            <a:ext cx="274320" cy="274320"/>
          </a:xfrm>
          <a:prstGeom prst="ellipse">
            <a:avLst/>
          </a:prstGeom>
          <a:solidFill>
            <a:schemeClr val="bg1"/>
          </a:solidFill>
          <a:ln w="19050">
            <a:solidFill>
              <a:srgbClr val="5B6B8C"/>
            </a:solidFill>
            <a:prstDash val="solid"/>
          </a:ln>
        </p:spPr>
      </p:sp>
      <p:sp>
        <p:nvSpPr>
          <p:cNvPr id="29" name="Text 27"/>
          <p:cNvSpPr txBox="1"/>
          <p:nvPr/>
        </p:nvSpPr>
        <p:spPr>
          <a:xfrm>
            <a:off x="6217920" y="4480560"/>
            <a:ext cx="1737360" cy="548640"/>
          </a:xfrm>
          <a:prstGeom prst="rect">
            <a:avLst/>
          </a:prstGeom>
          <a:noFill/>
          <a:ln/>
        </p:spPr>
        <p:txBody>
          <a:bodyPr wrap="square" lIns="0" tIns="0" rIns="0" bIns="0" rtlCol="0" anchor="ctr"/>
          <a:lstStyle/>
          <a:p>
            <a:pPr indent="0" marL="0">
              <a:buNone/>
            </a:pPr>
            <a:r>
              <a:rPr lang="en-US" sz="1400" b="1" dirty="0">
                <a:solidFill>
                  <a:schemeClr val="tx1"/>
                </a:solidFill>
              </a:rPr>
              <a:t>Apr 2027</a:t>
            </a:r>
            <a:endParaRPr lang="en-US" sz="1400" dirty="0"/>
          </a:p>
        </p:txBody>
      </p:sp>
      <p:sp>
        <p:nvSpPr>
          <p:cNvPr id="30" name="Text 28"/>
          <p:cNvSpPr txBox="1"/>
          <p:nvPr/>
        </p:nvSpPr>
        <p:spPr>
          <a:xfrm>
            <a:off x="7955280" y="4480560"/>
            <a:ext cx="3657600" cy="548640"/>
          </a:xfrm>
          <a:prstGeom prst="rect">
            <a:avLst/>
          </a:prstGeom>
          <a:noFill/>
          <a:ln/>
        </p:spPr>
        <p:txBody>
          <a:bodyPr wrap="square" lIns="0" tIns="0" rIns="0" bIns="0" rtlCol="0" anchor="ctr"/>
          <a:lstStyle/>
          <a:p>
            <a:pPr indent="0" marL="0">
              <a:buNone/>
            </a:pPr>
            <a:r>
              <a:rPr lang="en-US" sz="1300" dirty="0">
                <a:solidFill>
                  <a:schemeClr val="tx2"/>
                </a:solidFill>
              </a:rPr>
              <a:t>Evaluation and robustness checks</a:t>
            </a:r>
            <a:endParaRPr lang="en-US" sz="1300" dirty="0"/>
          </a:p>
        </p:txBody>
      </p:sp>
      <p:sp>
        <p:nvSpPr>
          <p:cNvPr id="31" name="Shape 29"/>
          <p:cNvSpPr/>
          <p:nvPr/>
        </p:nvSpPr>
        <p:spPr>
          <a:xfrm>
            <a:off x="5669280" y="5394960"/>
            <a:ext cx="274320" cy="274320"/>
          </a:xfrm>
          <a:prstGeom prst="ellipse">
            <a:avLst/>
          </a:prstGeom>
          <a:solidFill>
            <a:schemeClr val="bg1"/>
          </a:solidFill>
          <a:ln w="19050">
            <a:solidFill>
              <a:srgbClr val="5B6B8C"/>
            </a:solidFill>
            <a:prstDash val="solid"/>
          </a:ln>
        </p:spPr>
      </p:sp>
      <p:sp>
        <p:nvSpPr>
          <p:cNvPr id="32" name="Text 30"/>
          <p:cNvSpPr txBox="1"/>
          <p:nvPr/>
        </p:nvSpPr>
        <p:spPr>
          <a:xfrm>
            <a:off x="6217920" y="5257800"/>
            <a:ext cx="1737360" cy="548640"/>
          </a:xfrm>
          <a:prstGeom prst="rect">
            <a:avLst/>
          </a:prstGeom>
          <a:noFill/>
          <a:ln/>
        </p:spPr>
        <p:txBody>
          <a:bodyPr wrap="square" lIns="0" tIns="0" rIns="0" bIns="0" rtlCol="0" anchor="ctr"/>
          <a:lstStyle/>
          <a:p>
            <a:pPr indent="0" marL="0">
              <a:buNone/>
            </a:pPr>
            <a:r>
              <a:rPr lang="en-US" sz="1400" b="1" dirty="0">
                <a:solidFill>
                  <a:schemeClr val="tx1"/>
                </a:solidFill>
              </a:rPr>
              <a:t>May 2027</a:t>
            </a:r>
            <a:endParaRPr lang="en-US" sz="1400" dirty="0"/>
          </a:p>
        </p:txBody>
      </p:sp>
      <p:sp>
        <p:nvSpPr>
          <p:cNvPr id="33" name="Text 31"/>
          <p:cNvSpPr txBox="1"/>
          <p:nvPr/>
        </p:nvSpPr>
        <p:spPr>
          <a:xfrm>
            <a:off x="7955280" y="5257800"/>
            <a:ext cx="3657600" cy="548640"/>
          </a:xfrm>
          <a:prstGeom prst="rect">
            <a:avLst/>
          </a:prstGeom>
          <a:noFill/>
          <a:ln/>
        </p:spPr>
        <p:txBody>
          <a:bodyPr wrap="square" lIns="0" tIns="0" rIns="0" bIns="0" rtlCol="0" anchor="ctr"/>
          <a:lstStyle/>
          <a:p>
            <a:pPr indent="0" marL="0">
              <a:buNone/>
            </a:pPr>
            <a:r>
              <a:rPr lang="en-US" sz="1300" dirty="0">
                <a:solidFill>
                  <a:schemeClr val="tx2"/>
                </a:solidFill>
              </a:rPr>
              <a:t>Dashboard, report, final presentation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1"/>
                </a:solidFill>
              </a:rPr>
              <a:t>Expected Outcomes and References</a:t>
            </a:r>
            <a:endParaRPr lang="en-US" sz="3200" dirty="0"/>
          </a:p>
        </p:txBody>
      </p:sp>
      <p:sp>
        <p:nvSpPr>
          <p:cNvPr id="3" name="Text 1"/>
          <p:cNvSpPr txBox="1"/>
          <p:nvPr/>
        </p:nvSpPr>
        <p:spPr>
          <a:xfrm>
            <a:off x="548640" y="1325880"/>
            <a:ext cx="5120640" cy="411480"/>
          </a:xfrm>
          <a:prstGeom prst="rect">
            <a:avLst/>
          </a:prstGeom>
          <a:noFill/>
          <a:ln/>
        </p:spPr>
        <p:txBody>
          <a:bodyPr wrap="square" lIns="0" tIns="0" rIns="0" bIns="0" rtlCol="0" anchor="t"/>
          <a:lstStyle/>
          <a:p>
            <a:pPr indent="0" marL="0">
              <a:buNone/>
            </a:pPr>
            <a:r>
              <a:rPr lang="en-US" sz="2000" b="1" dirty="0">
                <a:solidFill>
                  <a:schemeClr val="tx1"/>
                </a:solidFill>
              </a:rPr>
              <a:t>Expected outcomes</a:t>
            </a:r>
            <a:endParaRPr lang="en-US" sz="2000" dirty="0"/>
          </a:p>
        </p:txBody>
      </p:sp>
      <p:sp>
        <p:nvSpPr>
          <p:cNvPr id="4" name="Text 2"/>
          <p:cNvSpPr txBox="1"/>
          <p:nvPr/>
        </p:nvSpPr>
        <p:spPr>
          <a:xfrm>
            <a:off x="548640" y="1828800"/>
            <a:ext cx="5120640" cy="4114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A public point-in-time dataset: Indian CPI first releases + dated official evidence</a:t>
            </a:r>
            <a:endParaRPr lang="en-US" sz="1400" dirty="0"/>
          </a:p>
          <a:p>
            <a:pPr marL="342900" indent="-342900">
              <a:spcAft>
                <a:spcPts val="600"/>
              </a:spcAft>
              <a:buSzPct val="100000"/>
              <a:buChar char="•"/>
            </a:pPr>
            <a:r>
              <a:rPr lang="en-US" sz="1400" dirty="0">
                <a:solidFill>
                  <a:schemeClr val="tx2"/>
                </a:solidFill>
              </a:rPr>
              <a:t>A fair comparison of revision policies (never, always, small-step, text-always, bounded)</a:t>
            </a:r>
            <a:endParaRPr lang="en-US" sz="1400" dirty="0"/>
          </a:p>
          <a:p>
            <a:pPr marL="342900" indent="-342900">
              <a:spcAft>
                <a:spcPts val="600"/>
              </a:spcAft>
              <a:buSzPct val="100000"/>
              <a:buChar char="•"/>
            </a:pPr>
            <a:r>
              <a:rPr lang="en-US" sz="1400" dirty="0">
                <a:solidFill>
                  <a:schemeClr val="tx2"/>
                </a:solidFill>
              </a:rPr>
              <a:t>Explainable forecasts: every change linked to its source claim</a:t>
            </a:r>
            <a:endParaRPr lang="en-US" sz="1400" dirty="0"/>
          </a:p>
          <a:p>
            <a:pPr marL="342900" indent="-342900">
              <a:spcAft>
                <a:spcPts val="600"/>
              </a:spcAft>
              <a:buSzPct val="100000"/>
              <a:buChar char="•"/>
            </a:pPr>
            <a:r>
              <a:rPr lang="en-US" sz="1400" dirty="0">
                <a:solidFill>
                  <a:schemeClr val="tx2"/>
                </a:solidFill>
              </a:rPr>
              <a:t>An Indian LLM forecasting benchmark (Part A)</a:t>
            </a:r>
            <a:endParaRPr lang="en-US" sz="1400" dirty="0"/>
          </a:p>
          <a:p>
            <a:pPr marL="342900" indent="-342900">
              <a:spcAft>
                <a:spcPts val="600"/>
              </a:spcAft>
              <a:buSzPct val="100000"/>
              <a:buChar char="•"/>
            </a:pPr>
            <a:r>
              <a:rPr lang="en-US" sz="1400" b="1" dirty="0">
                <a:solidFill>
                  <a:schemeClr val="tx2"/>
                </a:solidFill>
              </a:rPr>
              <a:t>An honest result, including if the method does not help</a:t>
            </a:r>
            <a:endParaRPr lang="en-US" sz="1400" dirty="0"/>
          </a:p>
        </p:txBody>
      </p:sp>
      <p:sp>
        <p:nvSpPr>
          <p:cNvPr id="5" name="Text 3"/>
          <p:cNvSpPr txBox="1"/>
          <p:nvPr/>
        </p:nvSpPr>
        <p:spPr>
          <a:xfrm>
            <a:off x="6217920" y="1325880"/>
            <a:ext cx="5394960" cy="411480"/>
          </a:xfrm>
          <a:prstGeom prst="rect">
            <a:avLst/>
          </a:prstGeom>
          <a:noFill/>
          <a:ln/>
        </p:spPr>
        <p:txBody>
          <a:bodyPr wrap="square" lIns="0" tIns="0" rIns="0" bIns="0" rtlCol="0" anchor="t"/>
          <a:lstStyle/>
          <a:p>
            <a:pPr indent="0" marL="0">
              <a:buNone/>
            </a:pPr>
            <a:r>
              <a:rPr lang="en-US" sz="2000" b="1" dirty="0">
                <a:solidFill>
                  <a:schemeClr val="tx1"/>
                </a:solidFill>
              </a:rPr>
              <a:t>Key references</a:t>
            </a:r>
            <a:endParaRPr lang="en-US" sz="2000" dirty="0"/>
          </a:p>
        </p:txBody>
      </p:sp>
      <p:sp>
        <p:nvSpPr>
          <p:cNvPr id="6" name="Text 4"/>
          <p:cNvSpPr txBox="1"/>
          <p:nvPr/>
        </p:nvSpPr>
        <p:spPr>
          <a:xfrm>
            <a:off x="6217920" y="1828800"/>
            <a:ext cx="5394960" cy="4114800"/>
          </a:xfrm>
          <a:prstGeom prst="rect">
            <a:avLst/>
          </a:prstGeom>
          <a:noFill/>
          <a:ln/>
        </p:spPr>
        <p:txBody>
          <a:bodyPr wrap="square" lIns="0" tIns="0" rIns="0" bIns="0" rtlCol="0" anchor="t"/>
          <a:lstStyle/>
          <a:p>
            <a:pPr indent="0" marL="0">
              <a:spcAft>
                <a:spcPts val="500"/>
              </a:spcAft>
              <a:buNone/>
            </a:pPr>
            <a:r>
              <a:rPr lang="en-US" sz="1300" dirty="0">
                <a:solidFill>
                  <a:schemeClr val="tx2"/>
                </a:solidFill>
              </a:rPr>
              <a:t>[1]  Mohan et al. (2025), RBI Bulletin</a:t>
            </a:r>
            <a:endParaRPr lang="en-US" sz="1300" dirty="0"/>
          </a:p>
          <a:p>
            <a:pPr indent="0" marL="0">
              <a:spcAft>
                <a:spcPts val="500"/>
              </a:spcAft>
              <a:buNone/>
            </a:pPr>
            <a:r>
              <a:rPr lang="en-US" sz="1300" dirty="0">
                <a:solidFill>
                  <a:schemeClr val="tx2"/>
                </a:solidFill>
              </a:rPr>
              <a:t>[2]  Pratap, Ranjan, Kishore &amp; Bhoi (2021), RBI Occasional Papers 42(2)</a:t>
            </a:r>
            <a:endParaRPr lang="en-US" sz="1300" dirty="0"/>
          </a:p>
          <a:p>
            <a:pPr indent="0" marL="0">
              <a:spcAft>
                <a:spcPts val="500"/>
              </a:spcAft>
              <a:buNone/>
            </a:pPr>
            <a:r>
              <a:rPr lang="en-US" sz="1300" dirty="0">
                <a:solidFill>
                  <a:schemeClr val="tx2"/>
                </a:solidFill>
              </a:rPr>
              <a:t>[3]  Das &amp; Das (2024), IJEF 16(6)</a:t>
            </a:r>
            <a:endParaRPr lang="en-US" sz="1300" dirty="0"/>
          </a:p>
          <a:p>
            <a:pPr indent="0" marL="0">
              <a:spcAft>
                <a:spcPts val="500"/>
              </a:spcAft>
              <a:buNone/>
            </a:pPr>
            <a:r>
              <a:rPr lang="en-US" sz="1300" dirty="0">
                <a:solidFill>
                  <a:schemeClr val="tx2"/>
                </a:solidFill>
              </a:rPr>
              <a:t>[4]  Fan, Lv, Sun &amp; Wang (2025), arXiv 2506.09516</a:t>
            </a:r>
            <a:endParaRPr lang="en-US" sz="1300" dirty="0"/>
          </a:p>
          <a:p>
            <a:pPr indent="0" marL="0">
              <a:spcAft>
                <a:spcPts val="500"/>
              </a:spcAft>
              <a:buNone/>
            </a:pPr>
            <a:r>
              <a:rPr lang="en-US" sz="1300" dirty="0">
                <a:solidFill>
                  <a:schemeClr val="tx2"/>
                </a:solidFill>
              </a:rPr>
              <a:t>[5]  Zhao et al. (2026), LiveMacroEval, arXiv 2608.30110</a:t>
            </a:r>
            <a:endParaRPr lang="en-US" sz="1300" dirty="0"/>
          </a:p>
          <a:p>
            <a:pPr indent="0" marL="0">
              <a:spcAft>
                <a:spcPts val="500"/>
              </a:spcAft>
              <a:buNone/>
            </a:pPr>
            <a:r>
              <a:rPr lang="en-US" sz="1300" dirty="0">
                <a:solidFill>
                  <a:schemeClr val="tx2"/>
                </a:solidFill>
              </a:rPr>
              <a:t>[6]  Ye et al. (2026), Forecast-Dojo, arXiv 2609.28876</a:t>
            </a:r>
            <a:endParaRPr lang="en-US" sz="1300" dirty="0"/>
          </a:p>
          <a:p>
            <a:pPr indent="0" marL="0">
              <a:spcAft>
                <a:spcPts val="500"/>
              </a:spcAft>
              <a:buNone/>
            </a:pPr>
            <a:r>
              <a:rPr lang="en-US" sz="1300" dirty="0">
                <a:solidFill>
                  <a:schemeClr val="tx2"/>
                </a:solidFill>
              </a:rPr>
              <a:t>[7]  Modugno (2013), IJF 29(4)</a:t>
            </a:r>
            <a:endParaRPr lang="en-US" sz="1300" dirty="0"/>
          </a:p>
          <a:p>
            <a:pPr indent="0" marL="0">
              <a:spcAft>
                <a:spcPts val="500"/>
              </a:spcAft>
              <a:buNone/>
            </a:pPr>
            <a:r>
              <a:rPr lang="en-US" sz="1300" dirty="0">
                <a:solidFill>
                  <a:schemeClr val="tx2"/>
                </a:solidFill>
              </a:rPr>
              <a:t>[8]  Bordalo, Gennaioli, Ma &amp; Shleifer (2020), AER 110(9)</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828800"/>
          </a:xfrm>
          <a:prstGeom prst="rect">
            <a:avLst/>
          </a:prstGeom>
          <a:noFill/>
          <a:ln/>
        </p:spPr>
        <p:txBody>
          <a:bodyPr wrap="square" rtlCol="0" anchor="b"/>
          <a:lstStyle/>
          <a:p>
            <a:pPr indent="0" marL="0">
              <a:buNone/>
            </a:pPr>
            <a:r>
              <a:rPr lang="en-US" sz="4000" b="1" dirty="0">
                <a:solidFill>
                  <a:schemeClr val="bg1"/>
                </a:solidFill>
              </a:rPr>
              <a:t>Thank You</a:t>
            </a:r>
            <a:endParaRPr lang="en-US" sz="4000" dirty="0"/>
          </a:p>
        </p:txBody>
      </p:sp>
      <p:sp>
        <p:nvSpPr>
          <p:cNvPr id="3" name="Text 1"/>
          <p:cNvSpPr txBox="1"/>
          <p:nvPr/>
        </p:nvSpPr>
        <p:spPr>
          <a:xfrm>
            <a:off x="731520" y="3566160"/>
            <a:ext cx="10058400" cy="457200"/>
          </a:xfrm>
          <a:prstGeom prst="rect">
            <a:avLst/>
          </a:prstGeom>
          <a:noFill/>
          <a:ln/>
        </p:spPr>
        <p:txBody>
          <a:bodyPr wrap="square" lIns="0" tIns="0" rIns="0" bIns="0" rtlCol="0" anchor="t"/>
          <a:lstStyle/>
          <a:p>
            <a:pPr indent="0" marL="0">
              <a:buNone/>
            </a:pPr>
            <a:r>
              <a:rPr lang="en-US" sz="2000" dirty="0">
                <a:solidFill>
                  <a:schemeClr val="accent2"/>
                </a:solidFill>
              </a:rPr>
              <a:t>Questions and suggestions are welcome</a:t>
            </a:r>
            <a:endParaRPr lang="en-US" sz="2000" dirty="0"/>
          </a:p>
        </p:txBody>
      </p:sp>
      <p:sp>
        <p:nvSpPr>
          <p:cNvPr id="4" name="Text 2"/>
          <p:cNvSpPr txBox="1"/>
          <p:nvPr/>
        </p:nvSpPr>
        <p:spPr>
          <a:xfrm>
            <a:off x="731520" y="5120640"/>
            <a:ext cx="10058400" cy="365760"/>
          </a:xfrm>
          <a:prstGeom prst="rect">
            <a:avLst/>
          </a:prstGeom>
          <a:noFill/>
          <a:ln/>
        </p:spPr>
        <p:txBody>
          <a:bodyPr wrap="square" lIns="0" tIns="0" rIns="0" bIns="0" rtlCol="0" anchor="t"/>
          <a:lstStyle/>
          <a:p>
            <a:pPr indent="0" marL="0">
              <a:buNone/>
            </a:pPr>
            <a:r>
              <a:rPr lang="en-US" sz="1400" dirty="0">
                <a:solidFill>
                  <a:schemeClr val="accent5"/>
                </a:solidFill>
              </a:rPr>
              <a:t>Sundram Awasthi · M.Tech CSE · GLA University</a:t>
            </a:r>
            <a:endParaRPr lang="en-US" sz="1400" dirty="0"/>
          </a:p>
        </p:txBody>
      </p:sp>
    </p:spTree>
  </p:cSld>
  <p:clrMapOvr>
    <a:masterClrMapping/>
  </p:clrMapOvr>
</p:sld>
</file>

<file path=ppt/theme/theme1.xml><?xml version="1.0" encoding="utf-8"?>
<a:theme xmlns:a="http://schemas.openxmlformats.org/drawingml/2006/main" name="Reflica India">
  <a:themeElements>
    <a:clrScheme name="Reflica India">
      <a:dk1>
        <a:srgbClr val="1A2238"/>
      </a:dk1>
      <a:lt1>
        <a:srgbClr val="FFFFFF"/>
      </a:lt1>
      <a:dk2>
        <a:srgbClr val="3E4A61"/>
      </a:dk2>
      <a:lt2>
        <a:srgbClr val="EEF2F7"/>
      </a:lt2>
      <a:accent1>
        <a:srgbClr val="1A2238"/>
      </a:accent1>
      <a:accent2>
        <a:srgbClr val="E07A2F"/>
      </a:accent2>
      <a:accent3>
        <a:srgbClr val="138A72"/>
      </a:accent3>
      <a:accent4>
        <a:srgbClr val="5B6B8C"/>
      </a:accent4>
      <a:accent5>
        <a:srgbClr val="C9D3E3"/>
      </a:accent5>
      <a:accent6>
        <a:srgbClr val="B33A3A"/>
      </a:accent6>
      <a:hlink>
        <a:srgbClr val="138A72"/>
      </a:hlink>
      <a:folHlink>
        <a:srgbClr val="5B6B8C"/>
      </a:folHlink>
    </a:clrScheme>
    <a:fontScheme name="Reflica Indi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IndiaEconForecast / Reflica India – Proposal Presentation</dc:title>
  <dc:subject>PptxGenJS Presentation</dc:subject>
  <dc:creator>Sundram Awasthi</dc:creator>
  <cp:lastModifiedBy>Sundram Awasthi</cp:lastModifiedBy>
  <cp:revision>1</cp:revision>
  <dcterms:created xsi:type="dcterms:W3CDTF">2026-10-17T16:11:43Z</dcterms:created>
  <dcterms:modified xsi:type="dcterms:W3CDTF">2026-10-17T16:11:43Z</dcterms:modified>
</cp:coreProperties>
</file>